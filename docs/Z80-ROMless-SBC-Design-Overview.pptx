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1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543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arrow is a direct Z80/SRAM path. The Pico/Z80 arrow represents virtual I/O and boot/control, not memory bus mastering. Core 0 generates CLK using PWM through the AHCT244 buffer.
Implementation evidence (repository-relative paths):
src/stage09_flash_storage/main.c
src/stage10_websocket_terminal/CMakeLists.txt
src/common/cpu.c
src/common/clock.c
src/common/sram.c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active packages are Pico 2 W, Z80, AS6C1008 SRAM, HCT32, AHCT244, AHCT245, LVC245 and LVC244. SRAM A16 is LOW. Pico never drives A0-A15 or writes SRAM directly. Drives A:-D: each occupy 320 KiB with 128-byte records. Current prototype is breadboard-first; the older PCB is not the current circuit. No SD card, PSRAM or address expander.
Implementation evidence (repository-relative paths):
src/common/include/z80sbc/pins.h
src/common/include/z80sbc/flash_layout.h
src/common/bus.c
src/common/clock.c
docs/docs/en/system/operation.md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10 compiles the Stage 9 automatic-loader main.c with Z80_STAGE10_NETWORK and Z80_STAGE09_AUTOBOOT enabled. RP2350 system clock is set to 120 MHz. Core 1 owns USB initialization, the default alarm pool, USB IRQ/background work, terminal input/output, ANSI mapping and supervisor framing. It starts before boot loading and registers for flash lockout; runtime workers remain gated until verified CP/M startup. A four-entry command queue requests Z80 actions on core 0. All stdout routes into a 4 KiB diagnostic ring with explicit overflow counts; only core 1 drains it to USB. Core 0 never waits on a USB stdout mutex. Core 1 services disk and extended workers before USB/network service. Wi-Fi uses pico_cyw43_arch_lwip_poll. Console rings are RX 128 B / TX 512 B. Timers and immediate port operations remain on core 0.
Implementation evidence (repository-relative paths):
src/stage09_flash_storage/main.c: core1_main(), start_cpm(), main()
src/stage09_flash_storage/usb_console.c
src/stage10_websocket_terminal/network_runtime.cpp
src/stage10_websocket_terminal/network_services.c
src/stage10_websocket_terminal/web_terminal.cpp
src/common/terminal_queue.c
src/common/io_service.c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1 starts first, initializes USB and participates in SDK flash lockout during journal recovery. Core 0 completes loading and independent read-back before enabling runtime workers. During injection, SRAM read output is inhibited, but the Z80 still generates all addresses and SRAM writes. z80_cpu_release_reset_and_run resets the CPU with six slow clock cycles, enables SRAM reads, releases RESET and starts PWM after the required settling interval. Load/CRC/verify failures hold RESET LOW. USB remains on core 1 throughout loading and while stopped. The normal execution path has both Pico data paths isolated except during trapped I/O.
Implementation evidence (repository-relative paths):
src/common/flash_backend.c: load_boot_image()
src/common/sram.c: load_hl(), z80_sram_write_byte(), z80_sram_read_byte()
src/common/cpu.c: z80_cpu_release_reset_and_run()
src/stage09_flash_storage/main.c: load_image(), start_cpm()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HCT32 produces WAIT# = IORQ# OR IO_RELEASE. Core 0 stops PWM, validates controls and selects the data path. It raises IO_RELEASE only once the byte path is configured, slow-steps until IORQ and strobe release, isolates both paths, lowers IO_RELEASE and resumes PWM. Trapped port adapters do bounded work, not network calls. Console is data/status 00/01h; disk is 10-14h; framed services are 02-04h. Console handover clears queues. Firmware also retains output-ACK and heartbeat handling in web_terminal.cpp. Disk fast reads use flash/cache synchronously; writes and flushes are immutable queue requests serviced by core 1. Programming requires a core-0 bus-grant handshake and SDK flash-safe execution.
Implementation evidence (repository-relative paths):
src/common/io_trap.c
src/common/disk_device.c
src/common/flash_backend.c
src/common/terminal_queue.c
src/common/io_ports.c
src/stage10_websocket_terminal/web_terminal.cpp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deliberately high-level; the detailed architecture SVG remains the engineering companion. Sources are recorded per slide in speaker notes. Stage 10 includes weather and chat clients as independent asynchronous network services, not dependencies of the terminal or Z80 trap. FS_SERVER is stored configuration only, not an implemented remote filesystem. The nominal 20 MHz clock is a firmware configuration, not a claim of combined network hardware qualification.
Implementation evidence (repository-relative paths):
docs/docs/en/images/system-architecture.svg
src/stage10_websocket_terminal/CMakeLists.txt
src/stage09_flash_storage/main.c
src/stage10_websocket_terminal/network_runtime.cpp
src/stage10_websocket_terminal/network_services.c
The deck describes the current source architecture, not a new hardware qualification. The configured nominal Z80 clock is 20 MHz. Combined networked operation requires timing and acceptance evidence. All diagrams use editable native PowerPoint shapes and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Classic CPU. Modern I/O controller. No ROM.</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A real Z80 runs CP/M from SRAM; the Pico 2 W supplies the infrastructure around it.</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01</a:t>
            </a:r>
            <a:endParaRPr lang="en-US" sz="1200" dirty="0"/>
          </a:p>
        </p:txBody>
      </p:sp>
      <p:sp>
        <p:nvSpPr>
          <p:cNvPr id="8" name="Shape 6"/>
          <p:cNvSpPr/>
          <p:nvPr/>
        </p:nvSpPr>
        <p:spPr>
          <a:xfrm>
            <a:off x="438912" y="2331720"/>
            <a:ext cx="2286000" cy="2487168"/>
          </a:xfrm>
          <a:prstGeom prst="roundRect">
            <a:avLst>
              <a:gd name="adj" fmla="val 5600"/>
            </a:avLst>
          </a:prstGeom>
          <a:solidFill>
            <a:srgbClr val="FFFFFF"/>
          </a:solidFill>
          <a:ln w="12700">
            <a:solidFill>
              <a:srgbClr val="D1DBE8"/>
            </a:solidFill>
            <a:prstDash val="solid"/>
          </a:ln>
        </p:spPr>
        <p:txBody>
          <a:bodyPr/>
          <a:lstStyle/>
          <a:p>
            <a:endParaRPr lang="en-US"/>
          </a:p>
        </p:txBody>
      </p:sp>
      <p:sp>
        <p:nvSpPr>
          <p:cNvPr id="9" name="Text 7"/>
          <p:cNvSpPr/>
          <p:nvPr/>
        </p:nvSpPr>
        <p:spPr>
          <a:xfrm>
            <a:off x="640080" y="2560320"/>
            <a:ext cx="1874520" cy="320040"/>
          </a:xfrm>
          <a:prstGeom prst="rect">
            <a:avLst/>
          </a:prstGeom>
          <a:noFill/>
          <a:ln/>
        </p:spPr>
        <p:txBody>
          <a:bodyPr wrap="square" lIns="0" tIns="0" rIns="0" bIns="0" rtlCol="0" anchor="ctr"/>
          <a:lstStyle/>
          <a:p>
            <a:pPr marL="0" indent="0">
              <a:buNone/>
            </a:pPr>
            <a:r>
              <a:rPr lang="en-US" sz="1400" b="1" dirty="0">
                <a:solidFill>
                  <a:srgbClr val="5B6C83"/>
                </a:solidFill>
                <a:latin typeface="Arial" pitchFamily="34" charset="0"/>
                <a:ea typeface="Arial" pitchFamily="34" charset="-122"/>
                <a:cs typeface="Arial" pitchFamily="34" charset="-120"/>
              </a:rPr>
              <a:t>TERMINALS</a:t>
            </a:r>
            <a:endParaRPr lang="en-US" sz="1400" dirty="0"/>
          </a:p>
        </p:txBody>
      </p:sp>
      <p:sp>
        <p:nvSpPr>
          <p:cNvPr id="10" name="Text 8"/>
          <p:cNvSpPr/>
          <p:nvPr/>
        </p:nvSpPr>
        <p:spPr>
          <a:xfrm>
            <a:off x="640080" y="3154680"/>
            <a:ext cx="1874520" cy="594360"/>
          </a:xfrm>
          <a:prstGeom prst="rect">
            <a:avLst/>
          </a:prstGeom>
          <a:noFill/>
          <a:ln/>
        </p:spPr>
        <p:txBody>
          <a:bodyPr wrap="square" lIns="0" tIns="0" rIns="0" bIns="0" rtlCol="0" anchor="ctr"/>
          <a:lstStyle/>
          <a:p>
            <a:pPr marL="0" indent="0">
              <a:buNone/>
            </a:pPr>
            <a:r>
              <a:rPr lang="en-US" sz="2300" b="1" dirty="0">
                <a:solidFill>
                  <a:srgbClr val="172C46"/>
                </a:solidFill>
                <a:latin typeface="Arial" pitchFamily="34" charset="0"/>
                <a:ea typeface="Arial" pitchFamily="34" charset="-122"/>
                <a:cs typeface="Arial" pitchFamily="34" charset="-120"/>
              </a:rPr>
              <a:t>Browser over Wi-Fi</a:t>
            </a:r>
            <a:endParaRPr lang="en-US" sz="2300" dirty="0"/>
          </a:p>
        </p:txBody>
      </p:sp>
      <p:sp>
        <p:nvSpPr>
          <p:cNvPr id="11" name="Text 9"/>
          <p:cNvSpPr/>
          <p:nvPr/>
        </p:nvSpPr>
        <p:spPr>
          <a:xfrm>
            <a:off x="640080" y="3950208"/>
            <a:ext cx="1874520" cy="576072"/>
          </a:xfrm>
          <a:prstGeom prst="rect">
            <a:avLst/>
          </a:prstGeom>
          <a:noFill/>
          <a:ln/>
        </p:spPr>
        <p:txBody>
          <a:bodyPr wrap="square" lIns="0" tIns="0" rIns="0" bIns="0" rtlCol="0" anchor="ctr"/>
          <a:lstStyle/>
          <a:p>
            <a:pPr marL="0" indent="0">
              <a:buNone/>
            </a:pPr>
            <a:r>
              <a:rPr lang="en-US" sz="1700" dirty="0">
                <a:solidFill>
                  <a:srgbClr val="5B6C83"/>
                </a:solidFill>
                <a:latin typeface="Arial" pitchFamily="34" charset="0"/>
                <a:ea typeface="Arial" pitchFamily="34" charset="-122"/>
                <a:cs typeface="Arial" pitchFamily="34" charset="-120"/>
              </a:rPr>
              <a:t>USB serial fallback</a:t>
            </a:r>
            <a:endParaRPr lang="en-US" sz="1700" dirty="0"/>
          </a:p>
          <a:p>
            <a:pPr marL="0" indent="0">
              <a:buNone/>
            </a:pPr>
            <a:r>
              <a:rPr lang="en-US" sz="1700" dirty="0">
                <a:solidFill>
                  <a:srgbClr val="5B6C83"/>
                </a:solidFill>
                <a:latin typeface="Arial" pitchFamily="34" charset="0"/>
                <a:ea typeface="Arial" pitchFamily="34" charset="-122"/>
                <a:cs typeface="Arial" pitchFamily="34" charset="-120"/>
              </a:rPr>
              <a:t>+ supervisor commands</a:t>
            </a:r>
            <a:endParaRPr lang="en-US" sz="1700" dirty="0"/>
          </a:p>
        </p:txBody>
      </p:sp>
      <p:sp>
        <p:nvSpPr>
          <p:cNvPr id="12" name="Shape 10"/>
          <p:cNvSpPr/>
          <p:nvPr/>
        </p:nvSpPr>
        <p:spPr>
          <a:xfrm>
            <a:off x="3291840" y="2148840"/>
            <a:ext cx="3703320" cy="2880360"/>
          </a:xfrm>
          <a:prstGeom prst="roundRect">
            <a:avLst>
              <a:gd name="adj" fmla="val 4444"/>
            </a:avLst>
          </a:prstGeom>
          <a:solidFill>
            <a:srgbClr val="E8F0FF"/>
          </a:solidFill>
          <a:ln w="12700">
            <a:solidFill>
              <a:srgbClr val="BCD0F0"/>
            </a:solidFill>
            <a:prstDash val="solid"/>
          </a:ln>
        </p:spPr>
        <p:txBody>
          <a:bodyPr/>
          <a:lstStyle/>
          <a:p>
            <a:endParaRPr lang="en-US"/>
          </a:p>
        </p:txBody>
      </p:sp>
      <p:sp>
        <p:nvSpPr>
          <p:cNvPr id="13" name="Text 11"/>
          <p:cNvSpPr/>
          <p:nvPr/>
        </p:nvSpPr>
        <p:spPr>
          <a:xfrm>
            <a:off x="3529584" y="2377440"/>
            <a:ext cx="3227832" cy="411480"/>
          </a:xfrm>
          <a:prstGeom prst="rect">
            <a:avLst/>
          </a:prstGeom>
          <a:noFill/>
          <a:ln/>
        </p:spPr>
        <p:txBody>
          <a:bodyPr wrap="square" lIns="0" tIns="0" rIns="0" bIns="0" rtlCol="0" anchor="ctr"/>
          <a:lstStyle/>
          <a:p>
            <a:pPr marL="0" indent="0">
              <a:buNone/>
            </a:pPr>
            <a:r>
              <a:rPr lang="en-US" sz="2800" b="1" dirty="0">
                <a:solidFill>
                  <a:srgbClr val="245FC0"/>
                </a:solidFill>
                <a:latin typeface="Arial" pitchFamily="34" charset="0"/>
                <a:ea typeface="Arial" pitchFamily="34" charset="-122"/>
                <a:cs typeface="Arial" pitchFamily="34" charset="-120"/>
              </a:rPr>
              <a:t>PICO 2 W</a:t>
            </a:r>
            <a:endParaRPr lang="en-US" sz="2800" dirty="0"/>
          </a:p>
        </p:txBody>
      </p:sp>
      <p:sp>
        <p:nvSpPr>
          <p:cNvPr id="14" name="Text 12"/>
          <p:cNvSpPr/>
          <p:nvPr/>
        </p:nvSpPr>
        <p:spPr>
          <a:xfrm>
            <a:off x="3529584" y="2889504"/>
            <a:ext cx="3227832" cy="365760"/>
          </a:xfrm>
          <a:prstGeom prst="rect">
            <a:avLst/>
          </a:prstGeom>
          <a:noFill/>
          <a:ln/>
        </p:spPr>
        <p:txBody>
          <a:bodyPr wrap="square" lIns="0" tIns="0" rIns="0" bIns="0" rtlCol="0" anchor="ctr"/>
          <a:lstStyle/>
          <a:p>
            <a:pPr marL="0" indent="0">
              <a:buNone/>
            </a:pPr>
            <a:r>
              <a:rPr lang="en-US" sz="2100" b="1" dirty="0">
                <a:solidFill>
                  <a:srgbClr val="172C46"/>
                </a:solidFill>
                <a:latin typeface="Arial" pitchFamily="34" charset="0"/>
                <a:ea typeface="Arial" pitchFamily="34" charset="-122"/>
                <a:cs typeface="Arial" pitchFamily="34" charset="-120"/>
              </a:rPr>
              <a:t>Multicore I/O controller</a:t>
            </a:r>
            <a:endParaRPr lang="en-US" sz="2100" dirty="0"/>
          </a:p>
        </p:txBody>
      </p:sp>
      <p:sp>
        <p:nvSpPr>
          <p:cNvPr id="15" name="Text 13"/>
          <p:cNvSpPr/>
          <p:nvPr/>
        </p:nvSpPr>
        <p:spPr>
          <a:xfrm>
            <a:off x="3529584" y="3300000"/>
            <a:ext cx="3227832" cy="100000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Core 0: Z80 control + I/O</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Core 1: USB, storage + Wi-Fi</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PIO0 matrix; PIO1 bank select</a:t>
            </a:r>
            <a:endParaRPr lang="en-US" sz="1800" dirty="0"/>
          </a:p>
        </p:txBody>
      </p:sp>
      <p:sp>
        <p:nvSpPr>
          <p:cNvPr id="16" name="Shape 14"/>
          <p:cNvSpPr/>
          <p:nvPr/>
        </p:nvSpPr>
        <p:spPr>
          <a:xfrm>
            <a:off x="3529584" y="4389120"/>
            <a:ext cx="3227832" cy="365760"/>
          </a:xfrm>
          <a:prstGeom prst="roundRect">
            <a:avLst>
              <a:gd name="adj" fmla="val 35000"/>
            </a:avLst>
          </a:prstGeom>
          <a:solidFill>
            <a:srgbClr val="FFF0DB"/>
          </a:solidFill>
          <a:ln w="12700">
            <a:solidFill>
              <a:srgbClr val="FFF0DB"/>
            </a:solidFill>
            <a:prstDash val="solid"/>
          </a:ln>
        </p:spPr>
        <p:txBody>
          <a:bodyPr/>
          <a:lstStyle/>
          <a:p>
            <a:endParaRPr lang="en-US"/>
          </a:p>
        </p:txBody>
      </p:sp>
      <p:sp>
        <p:nvSpPr>
          <p:cNvPr id="17" name="Text 15"/>
          <p:cNvSpPr/>
          <p:nvPr/>
        </p:nvSpPr>
        <p:spPr>
          <a:xfrm>
            <a:off x="3621024" y="4425696"/>
            <a:ext cx="3044952" cy="274320"/>
          </a:xfrm>
          <a:prstGeom prst="rect">
            <a:avLst/>
          </a:prstGeom>
          <a:noFill/>
          <a:ln/>
        </p:spPr>
        <p:txBody>
          <a:bodyPr wrap="square" lIns="0" tIns="0" rIns="0" bIns="0" rtlCol="0" anchor="ctr"/>
          <a:lstStyle/>
          <a:p>
            <a:pPr marL="0" indent="0" algn="ctr">
              <a:buNone/>
            </a:pPr>
            <a:r>
              <a:rPr lang="en-US" sz="1200" b="1" dirty="0">
                <a:solidFill>
                  <a:srgbClr val="BC6211"/>
                </a:solidFill>
                <a:latin typeface="Arial" pitchFamily="34" charset="0"/>
                <a:ea typeface="Arial" pitchFamily="34" charset="-122"/>
                <a:cs typeface="Arial" pitchFamily="34" charset="-120"/>
              </a:rPr>
              <a:t>GENERATES THE 20 MHz Z80 CLOCK</a:t>
            </a:r>
            <a:endParaRPr lang="en-US" sz="1200" dirty="0"/>
          </a:p>
        </p:txBody>
      </p:sp>
      <p:sp>
        <p:nvSpPr>
          <p:cNvPr id="18" name="Shape 16"/>
          <p:cNvSpPr/>
          <p:nvPr/>
        </p:nvSpPr>
        <p:spPr>
          <a:xfrm>
            <a:off x="7726680" y="2148840"/>
            <a:ext cx="4005072" cy="1298448"/>
          </a:xfrm>
          <a:prstGeom prst="roundRect">
            <a:avLst>
              <a:gd name="adj" fmla="val 9859"/>
            </a:avLst>
          </a:prstGeom>
          <a:solidFill>
            <a:srgbClr val="F0E9FA"/>
          </a:solidFill>
          <a:ln w="12700">
            <a:solidFill>
              <a:srgbClr val="D2BFEA"/>
            </a:solidFill>
            <a:prstDash val="solid"/>
          </a:ln>
        </p:spPr>
        <p:txBody>
          <a:bodyPr/>
          <a:lstStyle/>
          <a:p>
            <a:endParaRPr lang="en-US"/>
          </a:p>
        </p:txBody>
      </p:sp>
      <p:sp>
        <p:nvSpPr>
          <p:cNvPr id="19" name="Text 17"/>
          <p:cNvSpPr/>
          <p:nvPr/>
        </p:nvSpPr>
        <p:spPr>
          <a:xfrm>
            <a:off x="7955280" y="2359152"/>
            <a:ext cx="3529584" cy="365760"/>
          </a:xfrm>
          <a:prstGeom prst="rect">
            <a:avLst/>
          </a:prstGeom>
          <a:noFill/>
          <a:ln/>
        </p:spPr>
        <p:txBody>
          <a:bodyPr wrap="square" lIns="0" tIns="0" rIns="0" bIns="0" rtlCol="0" anchor="ctr"/>
          <a:lstStyle/>
          <a:p>
            <a:pPr marL="0" indent="0">
              <a:buNone/>
            </a:pPr>
            <a:r>
              <a:rPr lang="en-US" sz="2500" b="1" dirty="0">
                <a:solidFill>
                  <a:srgbClr val="7545AC"/>
                </a:solidFill>
                <a:latin typeface="Arial" pitchFamily="34" charset="0"/>
                <a:ea typeface="Arial" pitchFamily="34" charset="-122"/>
                <a:cs typeface="Arial" pitchFamily="34" charset="-120"/>
              </a:rPr>
              <a:t>Z80 CPU</a:t>
            </a:r>
            <a:endParaRPr lang="en-US" sz="2500" dirty="0"/>
          </a:p>
        </p:txBody>
      </p:sp>
      <p:sp>
        <p:nvSpPr>
          <p:cNvPr id="20" name="Text 18"/>
          <p:cNvSpPr/>
          <p:nvPr/>
        </p:nvSpPr>
        <p:spPr>
          <a:xfrm>
            <a:off x="7955280" y="2834640"/>
            <a:ext cx="3529584" cy="338328"/>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Executes CP/M and applications</a:t>
            </a:r>
            <a:endParaRPr lang="en-US" sz="1800" dirty="0"/>
          </a:p>
        </p:txBody>
      </p:sp>
      <p:sp>
        <p:nvSpPr>
          <p:cNvPr id="21" name="Shape 19"/>
          <p:cNvSpPr/>
          <p:nvPr/>
        </p:nvSpPr>
        <p:spPr>
          <a:xfrm>
            <a:off x="7726680" y="3931920"/>
            <a:ext cx="4005072" cy="1097280"/>
          </a:xfrm>
          <a:prstGeom prst="roundRect">
            <a:avLst>
              <a:gd name="adj" fmla="val 11667"/>
            </a:avLst>
          </a:prstGeom>
          <a:solidFill>
            <a:srgbClr val="F0E9FA"/>
          </a:solidFill>
          <a:ln w="12700">
            <a:solidFill>
              <a:srgbClr val="D2BFEA"/>
            </a:solidFill>
            <a:prstDash val="solid"/>
          </a:ln>
        </p:spPr>
        <p:txBody>
          <a:bodyPr/>
          <a:lstStyle/>
          <a:p>
            <a:endParaRPr lang="en-US"/>
          </a:p>
        </p:txBody>
      </p:sp>
      <p:sp>
        <p:nvSpPr>
          <p:cNvPr id="22" name="Text 20"/>
          <p:cNvSpPr/>
          <p:nvPr/>
        </p:nvSpPr>
        <p:spPr>
          <a:xfrm>
            <a:off x="7955280" y="4087368"/>
            <a:ext cx="3529584" cy="365760"/>
          </a:xfrm>
          <a:prstGeom prst="rect">
            <a:avLst/>
          </a:prstGeom>
          <a:noFill/>
          <a:ln/>
        </p:spPr>
        <p:txBody>
          <a:bodyPr wrap="square" lIns="0" tIns="0" rIns="0" bIns="0" rtlCol="0" anchor="ctr"/>
          <a:lstStyle/>
          <a:p>
            <a:pPr marL="0" indent="0">
              <a:buNone/>
            </a:pPr>
            <a:r>
              <a:rPr lang="en-US" sz="2500" b="1" dirty="0">
                <a:solidFill>
                  <a:srgbClr val="7545AC"/>
                </a:solidFill>
                <a:latin typeface="Arial" pitchFamily="34" charset="0"/>
                <a:ea typeface="Arial" pitchFamily="34" charset="-122"/>
                <a:cs typeface="Arial" pitchFamily="34" charset="-120"/>
              </a:rPr>
              <a:t>128 KiB SRAM</a:t>
            </a:r>
            <a:endParaRPr lang="en-US" sz="2500" dirty="0"/>
          </a:p>
        </p:txBody>
      </p:sp>
      <p:sp>
        <p:nvSpPr>
          <p:cNvPr id="23" name="Text 21"/>
          <p:cNvSpPr/>
          <p:nvPr/>
        </p:nvSpPr>
        <p:spPr>
          <a:xfrm>
            <a:off x="7955280" y="4544568"/>
            <a:ext cx="3529584" cy="292608"/>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2 banks; 64 KiB Z80 window</a:t>
            </a:r>
            <a:endParaRPr lang="en-US" sz="1800" dirty="0"/>
          </a:p>
        </p:txBody>
      </p:sp>
      <p:sp>
        <p:nvSpPr>
          <p:cNvPr id="24" name="Shape 22"/>
          <p:cNvSpPr/>
          <p:nvPr/>
        </p:nvSpPr>
        <p:spPr>
          <a:xfrm>
            <a:off x="2724912" y="3538728"/>
            <a:ext cx="566928" cy="0"/>
          </a:xfrm>
          <a:prstGeom prst="line">
            <a:avLst/>
          </a:prstGeom>
          <a:noFill/>
          <a:ln w="31750">
            <a:solidFill>
              <a:srgbClr val="007F79"/>
            </a:solidFill>
            <a:prstDash val="solid"/>
            <a:headEnd type="triangle"/>
            <a:tailEnd type="triangle"/>
          </a:ln>
        </p:spPr>
        <p:txBody>
          <a:bodyPr/>
          <a:lstStyle/>
          <a:p>
            <a:endParaRPr lang="en-US"/>
          </a:p>
        </p:txBody>
      </p:sp>
      <p:sp>
        <p:nvSpPr>
          <p:cNvPr id="25" name="Shape 23"/>
          <p:cNvSpPr/>
          <p:nvPr/>
        </p:nvSpPr>
        <p:spPr>
          <a:xfrm>
            <a:off x="6995160" y="2761488"/>
            <a:ext cx="731520" cy="0"/>
          </a:xfrm>
          <a:prstGeom prst="line">
            <a:avLst/>
          </a:prstGeom>
          <a:noFill/>
          <a:ln w="31750">
            <a:solidFill>
              <a:srgbClr val="245FC0"/>
            </a:solidFill>
            <a:prstDash val="solid"/>
            <a:headEnd type="triangle"/>
            <a:tailEnd type="triangle"/>
          </a:ln>
        </p:spPr>
        <p:txBody>
          <a:bodyPr/>
          <a:lstStyle/>
          <a:p>
            <a:endParaRPr lang="en-US"/>
          </a:p>
        </p:txBody>
      </p:sp>
      <p:sp>
        <p:nvSpPr>
          <p:cNvPr id="26" name="Text 24"/>
          <p:cNvSpPr/>
          <p:nvPr/>
        </p:nvSpPr>
        <p:spPr>
          <a:xfrm>
            <a:off x="7059168" y="2368296"/>
            <a:ext cx="594360" cy="228600"/>
          </a:xfrm>
          <a:prstGeom prst="rect">
            <a:avLst/>
          </a:prstGeom>
          <a:noFill/>
          <a:ln/>
        </p:spPr>
        <p:txBody>
          <a:bodyPr wrap="square" lIns="0" tIns="0" rIns="0" bIns="0" rtlCol="0" anchor="ctr"/>
          <a:lstStyle/>
          <a:p>
            <a:pPr marL="0" indent="0" algn="ctr">
              <a:buNone/>
            </a:pPr>
            <a:r>
              <a:rPr lang="en-US" sz="1300" dirty="0">
                <a:solidFill>
                  <a:srgbClr val="245FC0"/>
                </a:solidFill>
                <a:latin typeface="Arial" pitchFamily="34" charset="0"/>
                <a:ea typeface="Arial" pitchFamily="34" charset="-122"/>
                <a:cs typeface="Arial" pitchFamily="34" charset="-120"/>
              </a:rPr>
              <a:t>I/O</a:t>
            </a:r>
            <a:endParaRPr lang="en-US" sz="1300" dirty="0"/>
          </a:p>
        </p:txBody>
      </p:sp>
      <p:sp>
        <p:nvSpPr>
          <p:cNvPr id="27" name="Shape 25"/>
          <p:cNvSpPr/>
          <p:nvPr/>
        </p:nvSpPr>
        <p:spPr>
          <a:xfrm>
            <a:off x="9738360" y="3447288"/>
            <a:ext cx="0" cy="484632"/>
          </a:xfrm>
          <a:prstGeom prst="line">
            <a:avLst/>
          </a:prstGeom>
          <a:noFill/>
          <a:ln w="31750">
            <a:solidFill>
              <a:srgbClr val="7545AC"/>
            </a:solidFill>
            <a:prstDash val="solid"/>
            <a:headEnd type="triangle"/>
            <a:tailEnd type="triangle"/>
          </a:ln>
        </p:spPr>
        <p:txBody>
          <a:bodyPr/>
          <a:lstStyle/>
          <a:p>
            <a:endParaRPr lang="en-US"/>
          </a:p>
        </p:txBody>
      </p:sp>
      <p:sp>
        <p:nvSpPr>
          <p:cNvPr id="28" name="Shape 26"/>
          <p:cNvSpPr/>
          <p:nvPr/>
        </p:nvSpPr>
        <p:spPr>
          <a:xfrm>
            <a:off x="438912" y="5833872"/>
            <a:ext cx="11292840" cy="438912"/>
          </a:xfrm>
          <a:prstGeom prst="roundRect">
            <a:avLst>
              <a:gd name="adj" fmla="val 29167"/>
            </a:avLst>
          </a:prstGeom>
          <a:solidFill>
            <a:srgbClr val="E8F0FF"/>
          </a:solidFill>
          <a:ln w="12700">
            <a:solidFill>
              <a:srgbClr val="E8F0FF"/>
            </a:solidFill>
            <a:prstDash val="solid"/>
          </a:ln>
        </p:spPr>
        <p:txBody>
          <a:bodyPr/>
          <a:lstStyle/>
          <a:p>
            <a:endParaRPr lang="en-US"/>
          </a:p>
        </p:txBody>
      </p:sp>
      <p:sp>
        <p:nvSpPr>
          <p:cNvPr id="29" name="Text 27"/>
          <p:cNvSpPr/>
          <p:nvPr/>
        </p:nvSpPr>
        <p:spPr>
          <a:xfrm>
            <a:off x="612648" y="5897880"/>
            <a:ext cx="10945368" cy="301752"/>
          </a:xfrm>
          <a:prstGeom prst="rect">
            <a:avLst/>
          </a:prstGeom>
          <a:noFill/>
          <a:ln/>
        </p:spPr>
        <p:txBody>
          <a:bodyPr wrap="square" lIns="0" tIns="0" rIns="0" bIns="0" rtlCol="0" anchor="ctr"/>
          <a:lstStyle/>
          <a:p>
            <a:pPr marL="0" indent="0" algn="ctr">
              <a:buNone/>
            </a:pPr>
            <a:r>
              <a:rPr lang="en-US" sz="1600" b="1" dirty="0">
                <a:solidFill>
                  <a:srgbClr val="245FC0"/>
                </a:solidFill>
                <a:latin typeface="Arial" pitchFamily="34" charset="0"/>
                <a:ea typeface="Arial" pitchFamily="34" charset="-122"/>
                <a:cs typeface="Arial" pitchFamily="34" charset="-120"/>
              </a:rPr>
              <a:t>The Pico is not emulating the Z80. The Z80 directly addresses SRAM and executes every Z80 instruction.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Three hardware building blocks</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CPU and SRAM handle execution. The Pico and fixed logic provide a safe, buffered interface.</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02</a:t>
            </a:r>
            <a:endParaRPr lang="en-US" sz="1200" dirty="0"/>
          </a:p>
        </p:txBody>
      </p:sp>
      <p:sp>
        <p:nvSpPr>
          <p:cNvPr id="8" name="Shape 6"/>
          <p:cNvSpPr/>
          <p:nvPr/>
        </p:nvSpPr>
        <p:spPr>
          <a:xfrm>
            <a:off x="438912" y="2176272"/>
            <a:ext cx="3648456" cy="3035808"/>
          </a:xfrm>
          <a:prstGeom prst="roundRect">
            <a:avLst>
              <a:gd name="adj" fmla="val 4217"/>
            </a:avLst>
          </a:prstGeom>
          <a:solidFill>
            <a:srgbClr val="F0E9FA"/>
          </a:solidFill>
          <a:ln w="12700">
            <a:solidFill>
              <a:srgbClr val="F0E9FA"/>
            </a:solidFill>
            <a:prstDash val="solid"/>
          </a:ln>
        </p:spPr>
        <p:txBody>
          <a:bodyPr/>
          <a:lstStyle/>
          <a:p>
            <a:endParaRPr lang="en-US"/>
          </a:p>
        </p:txBody>
      </p:sp>
      <p:sp>
        <p:nvSpPr>
          <p:cNvPr id="9" name="Text 7"/>
          <p:cNvSpPr/>
          <p:nvPr/>
        </p:nvSpPr>
        <p:spPr>
          <a:xfrm>
            <a:off x="649224" y="2423160"/>
            <a:ext cx="3227832" cy="457200"/>
          </a:xfrm>
          <a:prstGeom prst="rect">
            <a:avLst/>
          </a:prstGeom>
          <a:noFill/>
          <a:ln/>
        </p:spPr>
        <p:txBody>
          <a:bodyPr wrap="square" lIns="0" tIns="0" rIns="0" bIns="0" rtlCol="0" anchor="ctr"/>
          <a:lstStyle/>
          <a:p>
            <a:pPr marL="0" indent="0">
              <a:buNone/>
            </a:pPr>
            <a:r>
              <a:rPr lang="en-US" sz="2500" b="1" dirty="0">
                <a:solidFill>
                  <a:srgbClr val="7545AC"/>
                </a:solidFill>
                <a:latin typeface="Arial" pitchFamily="34" charset="0"/>
                <a:ea typeface="Arial" pitchFamily="34" charset="-122"/>
                <a:cs typeface="Arial" pitchFamily="34" charset="-120"/>
              </a:rPr>
              <a:t>Z80 + SRAM</a:t>
            </a:r>
            <a:endParaRPr lang="en-US" sz="2500" dirty="0"/>
          </a:p>
        </p:txBody>
      </p:sp>
      <p:sp>
        <p:nvSpPr>
          <p:cNvPr id="10" name="Text 8"/>
          <p:cNvSpPr/>
          <p:nvPr/>
        </p:nvSpPr>
        <p:spPr>
          <a:xfrm>
            <a:off x="649224" y="3054096"/>
            <a:ext cx="3227832" cy="1773936"/>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Z84C0020PEC Z80</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128 KiB SRAM; two 64 KiB banks</a:t>
            </a:r>
            <a:endParaRPr lang="en-US" sz="1800" dirty="0"/>
          </a:p>
          <a:p>
            <a:pPr marL="0" indent="0">
              <a:buNone/>
            </a:pP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GP8→U4 selects SRAM A16; Z80 owns A0-A15 and all writes.</a:t>
            </a:r>
            <a:endParaRPr lang="en-US" sz="1800" dirty="0"/>
          </a:p>
        </p:txBody>
      </p:sp>
      <p:sp>
        <p:nvSpPr>
          <p:cNvPr id="11" name="Shape 9"/>
          <p:cNvSpPr/>
          <p:nvPr/>
        </p:nvSpPr>
        <p:spPr>
          <a:xfrm>
            <a:off x="4261104" y="2176272"/>
            <a:ext cx="3648456" cy="3035808"/>
          </a:xfrm>
          <a:prstGeom prst="roundRect">
            <a:avLst>
              <a:gd name="adj" fmla="val 4217"/>
            </a:avLst>
          </a:prstGeom>
          <a:solidFill>
            <a:srgbClr val="E8F0FF"/>
          </a:solidFill>
          <a:ln w="12700">
            <a:solidFill>
              <a:srgbClr val="E8F0FF"/>
            </a:solidFill>
            <a:prstDash val="solid"/>
          </a:ln>
        </p:spPr>
        <p:txBody>
          <a:bodyPr/>
          <a:lstStyle/>
          <a:p>
            <a:endParaRPr lang="en-US"/>
          </a:p>
        </p:txBody>
      </p:sp>
      <p:sp>
        <p:nvSpPr>
          <p:cNvPr id="12" name="Text 10"/>
          <p:cNvSpPr/>
          <p:nvPr/>
        </p:nvSpPr>
        <p:spPr>
          <a:xfrm>
            <a:off x="4471416" y="2423160"/>
            <a:ext cx="3227832" cy="457200"/>
          </a:xfrm>
          <a:prstGeom prst="rect">
            <a:avLst/>
          </a:prstGeom>
          <a:noFill/>
          <a:ln/>
        </p:spPr>
        <p:txBody>
          <a:bodyPr wrap="square" lIns="0" tIns="0" rIns="0" bIns="0" rtlCol="0" anchor="ctr"/>
          <a:lstStyle/>
          <a:p>
            <a:pPr marL="0" indent="0">
              <a:buNone/>
            </a:pPr>
            <a:r>
              <a:rPr lang="en-US" sz="2500" b="1" dirty="0">
                <a:solidFill>
                  <a:srgbClr val="245FC0"/>
                </a:solidFill>
                <a:latin typeface="Arial" pitchFamily="34" charset="0"/>
                <a:ea typeface="Arial" pitchFamily="34" charset="-122"/>
                <a:cs typeface="Arial" pitchFamily="34" charset="-120"/>
              </a:rPr>
              <a:t>Logic + translation</a:t>
            </a:r>
            <a:endParaRPr lang="en-US" sz="2500" dirty="0"/>
          </a:p>
        </p:txBody>
      </p:sp>
      <p:sp>
        <p:nvSpPr>
          <p:cNvPr id="13" name="Text 11"/>
          <p:cNvSpPr/>
          <p:nvPr/>
        </p:nvSpPr>
        <p:spPr>
          <a:xfrm>
            <a:off x="4471416" y="3054096"/>
            <a:ext cx="3227832" cy="1773936"/>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3.3 V Pico / 5 V CPU interface</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AHCT / LVC bus buffers</a:t>
            </a:r>
            <a:endParaRPr lang="en-US" sz="1800" dirty="0"/>
          </a:p>
          <a:p>
            <a:pPr marL="0" indent="0">
              <a:buNone/>
            </a:pP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HCT32 generates </a:t>
            </a:r>
            <a:r>
              <a:rPr lang="en-US" sz="1800">
                <a:solidFill>
                  <a:srgbClr val="172C46"/>
                </a:solidFill>
                <a:latin typeface="Arial" pitchFamily="34" charset="0"/>
                <a:ea typeface="Arial" pitchFamily="34" charset="-122"/>
                <a:cs typeface="Arial" pitchFamily="34" charset="-120"/>
              </a:rPr>
              <a:t>hardware WAIT and </a:t>
            </a:r>
            <a:r>
              <a:rPr lang="en-US" sz="1800" dirty="0">
                <a:solidFill>
                  <a:srgbClr val="172C46"/>
                </a:solidFill>
                <a:latin typeface="Arial" pitchFamily="34" charset="0"/>
                <a:ea typeface="Arial" pitchFamily="34" charset="-122"/>
                <a:cs typeface="Arial" pitchFamily="34" charset="-120"/>
              </a:rPr>
              <a:t>gates SRAM / data-path enables.</a:t>
            </a:r>
            <a:endParaRPr lang="en-US" sz="1800" dirty="0"/>
          </a:p>
        </p:txBody>
      </p:sp>
      <p:sp>
        <p:nvSpPr>
          <p:cNvPr id="14" name="Shape 12"/>
          <p:cNvSpPr/>
          <p:nvPr/>
        </p:nvSpPr>
        <p:spPr>
          <a:xfrm>
            <a:off x="8083296" y="2176272"/>
            <a:ext cx="3648456" cy="3035808"/>
          </a:xfrm>
          <a:prstGeom prst="roundRect">
            <a:avLst>
              <a:gd name="adj" fmla="val 4217"/>
            </a:avLst>
          </a:prstGeom>
          <a:solidFill>
            <a:srgbClr val="E4F5EF"/>
          </a:solidFill>
          <a:ln w="12700">
            <a:solidFill>
              <a:srgbClr val="E4F5EF"/>
            </a:solidFill>
            <a:prstDash val="solid"/>
          </a:ln>
        </p:spPr>
        <p:txBody>
          <a:bodyPr/>
          <a:lstStyle/>
          <a:p>
            <a:endParaRPr lang="en-US"/>
          </a:p>
        </p:txBody>
      </p:sp>
      <p:sp>
        <p:nvSpPr>
          <p:cNvPr id="15" name="Text 13"/>
          <p:cNvSpPr/>
          <p:nvPr/>
        </p:nvSpPr>
        <p:spPr>
          <a:xfrm>
            <a:off x="8293608" y="2423160"/>
            <a:ext cx="3227832" cy="457200"/>
          </a:xfrm>
          <a:prstGeom prst="rect">
            <a:avLst/>
          </a:prstGeom>
          <a:noFill/>
          <a:ln/>
        </p:spPr>
        <p:txBody>
          <a:bodyPr wrap="square" lIns="0" tIns="0" rIns="0" bIns="0" rtlCol="0" anchor="ctr"/>
          <a:lstStyle/>
          <a:p>
            <a:pPr marL="0" indent="0">
              <a:buNone/>
            </a:pPr>
            <a:r>
              <a:rPr lang="en-US" sz="2500" b="1" dirty="0">
                <a:solidFill>
                  <a:srgbClr val="007F79"/>
                </a:solidFill>
                <a:latin typeface="Arial" pitchFamily="34" charset="0"/>
                <a:ea typeface="Arial" pitchFamily="34" charset="-122"/>
                <a:cs typeface="Arial" pitchFamily="34" charset="-120"/>
              </a:rPr>
              <a:t>Pico 2 W</a:t>
            </a:r>
            <a:endParaRPr lang="en-US" sz="2500" dirty="0"/>
          </a:p>
        </p:txBody>
      </p:sp>
      <p:sp>
        <p:nvSpPr>
          <p:cNvPr id="16" name="Text 14"/>
          <p:cNvSpPr/>
          <p:nvPr/>
        </p:nvSpPr>
        <p:spPr>
          <a:xfrm>
            <a:off x="8293608" y="3054096"/>
            <a:ext cx="3227832" cy="1773936"/>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RP2350 dual-core controller</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Onboard Wi-Fi + USB</a:t>
            </a:r>
            <a:endParaRPr lang="en-US" sz="1800" dirty="0"/>
          </a:p>
          <a:p>
            <a:pPr marL="0" indent="0">
              <a:buNone/>
            </a:pP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4 MiB flash: Pico firmware, boot</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image, journal, ENV and disks A:-D:.</a:t>
            </a:r>
            <a:endParaRPr lang="en-US" sz="1800" dirty="0"/>
          </a:p>
        </p:txBody>
      </p:sp>
      <p:sp>
        <p:nvSpPr>
          <p:cNvPr id="17" name="Shape 15"/>
          <p:cNvSpPr/>
          <p:nvPr/>
        </p:nvSpPr>
        <p:spPr>
          <a:xfrm>
            <a:off x="438912" y="5431536"/>
            <a:ext cx="11292840" cy="685800"/>
          </a:xfrm>
          <a:prstGeom prst="roundRect">
            <a:avLst>
              <a:gd name="adj" fmla="val 18667"/>
            </a:avLst>
          </a:prstGeom>
          <a:solidFill>
            <a:srgbClr val="FFF0DB"/>
          </a:solidFill>
          <a:ln w="12700">
            <a:solidFill>
              <a:srgbClr val="FFF0DB"/>
            </a:solidFill>
            <a:prstDash val="solid"/>
          </a:ln>
        </p:spPr>
        <p:txBody>
          <a:bodyPr/>
          <a:lstStyle/>
          <a:p>
            <a:endParaRPr lang="en-US"/>
          </a:p>
        </p:txBody>
      </p:sp>
      <p:sp>
        <p:nvSpPr>
          <p:cNvPr id="18" name="Text 16"/>
          <p:cNvSpPr/>
          <p:nvPr/>
        </p:nvSpPr>
        <p:spPr>
          <a:xfrm>
            <a:off x="685800" y="5559552"/>
            <a:ext cx="10789920" cy="393192"/>
          </a:xfrm>
          <a:prstGeom prst="rect">
            <a:avLst/>
          </a:prstGeom>
          <a:noFill/>
          <a:ln/>
        </p:spPr>
        <p:txBody>
          <a:bodyPr wrap="square" lIns="0" tIns="0" rIns="0" bIns="0" rtlCol="0" anchor="ctr"/>
          <a:lstStyle/>
          <a:p>
            <a:pPr marL="0" indent="0" algn="ctr">
              <a:buNone/>
            </a:pPr>
            <a:r>
              <a:rPr lang="en-US" sz="2300" b="1" dirty="0">
                <a:solidFill>
                  <a:srgbClr val="BC6211"/>
                </a:solidFill>
                <a:latin typeface="Arial" pitchFamily="34" charset="0"/>
                <a:ea typeface="Arial" pitchFamily="34" charset="-122"/>
                <a:cs typeface="Arial" pitchFamily="34" charset="-120"/>
              </a:rPr>
              <a:t>Pico PWM / PIO1  →  AHCT244 level buffer  →  Z80 CLK: 20 MHz nominal</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Two cores, separated responsibilities</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Core 0 serves the Z80. Core 1 owns USB, Wi-Fi and external interfaces.</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03</a:t>
            </a:r>
            <a:endParaRPr lang="en-US" sz="1200" dirty="0"/>
          </a:p>
        </p:txBody>
      </p:sp>
      <p:sp>
        <p:nvSpPr>
          <p:cNvPr id="8" name="Shape 6"/>
          <p:cNvSpPr/>
          <p:nvPr/>
        </p:nvSpPr>
        <p:spPr>
          <a:xfrm>
            <a:off x="438912" y="2148840"/>
            <a:ext cx="3703320" cy="3346704"/>
          </a:xfrm>
          <a:prstGeom prst="roundRect">
            <a:avLst>
              <a:gd name="adj" fmla="val 3825"/>
            </a:avLst>
          </a:prstGeom>
          <a:solidFill>
            <a:srgbClr val="E8F0FF"/>
          </a:solidFill>
          <a:ln w="12700">
            <a:solidFill>
              <a:srgbClr val="E8F0FF"/>
            </a:solidFill>
            <a:prstDash val="solid"/>
          </a:ln>
        </p:spPr>
        <p:txBody>
          <a:bodyPr/>
          <a:lstStyle/>
          <a:p>
            <a:endParaRPr lang="en-US"/>
          </a:p>
        </p:txBody>
      </p:sp>
      <p:sp>
        <p:nvSpPr>
          <p:cNvPr id="9" name="Text 7"/>
          <p:cNvSpPr/>
          <p:nvPr/>
        </p:nvSpPr>
        <p:spPr>
          <a:xfrm>
            <a:off x="685800" y="2377440"/>
            <a:ext cx="3200400" cy="365760"/>
          </a:xfrm>
          <a:prstGeom prst="rect">
            <a:avLst/>
          </a:prstGeom>
          <a:noFill/>
          <a:ln/>
        </p:spPr>
        <p:txBody>
          <a:bodyPr wrap="square" lIns="0" tIns="0" rIns="0" bIns="0" rtlCol="0" anchor="ctr"/>
          <a:lstStyle/>
          <a:p>
            <a:pPr marL="0" indent="0">
              <a:buNone/>
            </a:pPr>
            <a:r>
              <a:rPr lang="en-US" sz="2600" b="1" dirty="0">
                <a:solidFill>
                  <a:srgbClr val="245FC0"/>
                </a:solidFill>
                <a:latin typeface="Arial" pitchFamily="34" charset="0"/>
                <a:ea typeface="Arial" pitchFamily="34" charset="-122"/>
                <a:cs typeface="Arial" pitchFamily="34" charset="-120"/>
              </a:rPr>
              <a:t>CORE 0</a:t>
            </a:r>
            <a:endParaRPr lang="en-US" sz="2600" dirty="0"/>
          </a:p>
        </p:txBody>
      </p:sp>
      <p:sp>
        <p:nvSpPr>
          <p:cNvPr id="10" name="Text 8"/>
          <p:cNvSpPr/>
          <p:nvPr/>
        </p:nvSpPr>
        <p:spPr>
          <a:xfrm>
            <a:off x="685800" y="2898648"/>
            <a:ext cx="3200400" cy="365760"/>
          </a:xfrm>
          <a:prstGeom prst="rect">
            <a:avLst/>
          </a:prstGeom>
          <a:noFill/>
          <a:ln/>
        </p:spPr>
        <p:txBody>
          <a:bodyPr wrap="square" lIns="0" tIns="0" rIns="0" bIns="0" rtlCol="0" anchor="ctr"/>
          <a:lstStyle/>
          <a:p>
            <a:pPr marL="0" indent="0">
              <a:buNone/>
            </a:pPr>
            <a:r>
              <a:rPr lang="en-US" sz="2100" b="1" dirty="0">
                <a:solidFill>
                  <a:srgbClr val="172C46"/>
                </a:solidFill>
                <a:latin typeface="Arial" pitchFamily="34" charset="0"/>
                <a:ea typeface="Arial" pitchFamily="34" charset="-122"/>
                <a:cs typeface="Arial" pitchFamily="34" charset="-120"/>
              </a:rPr>
              <a:t>Z80 control + I/O</a:t>
            </a:r>
            <a:endParaRPr lang="en-US" sz="2100" dirty="0"/>
          </a:p>
        </p:txBody>
      </p:sp>
      <p:sp>
        <p:nvSpPr>
          <p:cNvPr id="11" name="Text 9"/>
          <p:cNvSpPr/>
          <p:nvPr/>
        </p:nvSpPr>
        <p:spPr>
          <a:xfrm>
            <a:off x="685800" y="3520440"/>
            <a:ext cx="3200400" cy="150876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Clock generation and reset</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SRAM loading and verification</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I/O traps and PIO1 bank select</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Queued Z80 control requests</a:t>
            </a:r>
            <a:endParaRPr lang="en-US" sz="1800" dirty="0"/>
          </a:p>
        </p:txBody>
      </p:sp>
      <p:sp>
        <p:nvSpPr>
          <p:cNvPr id="12" name="Shape 10"/>
          <p:cNvSpPr/>
          <p:nvPr/>
        </p:nvSpPr>
        <p:spPr>
          <a:xfrm>
            <a:off x="4453128" y="2487168"/>
            <a:ext cx="2871216" cy="2670048"/>
          </a:xfrm>
          <a:prstGeom prst="roundRect">
            <a:avLst>
              <a:gd name="adj" fmla="val 4795"/>
            </a:avLst>
          </a:prstGeom>
          <a:solidFill>
            <a:srgbClr val="FFFFFF"/>
          </a:solidFill>
          <a:ln w="12700">
            <a:solidFill>
              <a:srgbClr val="D1DBE8"/>
            </a:solidFill>
            <a:prstDash val="solid"/>
          </a:ln>
        </p:spPr>
        <p:txBody>
          <a:bodyPr/>
          <a:lstStyle/>
          <a:p>
            <a:endParaRPr lang="en-US"/>
          </a:p>
        </p:txBody>
      </p:sp>
      <p:sp>
        <p:nvSpPr>
          <p:cNvPr id="13" name="Text 11"/>
          <p:cNvSpPr/>
          <p:nvPr/>
        </p:nvSpPr>
        <p:spPr>
          <a:xfrm>
            <a:off x="4636008" y="2724912"/>
            <a:ext cx="2505456" cy="292608"/>
          </a:xfrm>
          <a:prstGeom prst="rect">
            <a:avLst/>
          </a:prstGeom>
          <a:noFill/>
          <a:ln/>
        </p:spPr>
        <p:txBody>
          <a:bodyPr wrap="square" lIns="0" tIns="0" rIns="0" bIns="0" rtlCol="0" anchor="ctr"/>
          <a:lstStyle/>
          <a:p>
            <a:pPr marL="0" indent="0" algn="ctr">
              <a:buNone/>
            </a:pPr>
            <a:r>
              <a:rPr lang="en-US" sz="1600" b="1" dirty="0">
                <a:solidFill>
                  <a:srgbClr val="5B6C83"/>
                </a:solidFill>
                <a:latin typeface="Arial" pitchFamily="34" charset="0"/>
                <a:ea typeface="Arial" pitchFamily="34" charset="-122"/>
                <a:cs typeface="Arial" pitchFamily="34" charset="-120"/>
              </a:rPr>
              <a:t>SHARED BOUNDARY</a:t>
            </a:r>
            <a:endParaRPr lang="en-US" sz="1600" dirty="0"/>
          </a:p>
        </p:txBody>
      </p:sp>
      <p:sp>
        <p:nvSpPr>
          <p:cNvPr id="14" name="Text 12"/>
          <p:cNvSpPr/>
          <p:nvPr/>
        </p:nvSpPr>
        <p:spPr>
          <a:xfrm>
            <a:off x="4636008" y="3310128"/>
            <a:ext cx="2505456" cy="1225296"/>
          </a:xfrm>
          <a:prstGeom prst="rect">
            <a:avLst/>
          </a:prstGeom>
          <a:noFill/>
          <a:ln/>
        </p:spPr>
        <p:txBody>
          <a:bodyPr wrap="square" lIns="0" tIns="0" rIns="0" bIns="0" rtlCol="0" anchor="ctr"/>
          <a:lstStyle/>
          <a:p>
            <a:pPr marL="0" indent="0" algn="ctr">
              <a:buNone/>
            </a:pPr>
            <a:r>
              <a:rPr lang="en-US" sz="1700" dirty="0">
                <a:solidFill>
                  <a:srgbClr val="172C46"/>
                </a:solidFill>
                <a:latin typeface="Arial" pitchFamily="34" charset="0"/>
                <a:ea typeface="Arial" pitchFamily="34" charset="-122"/>
                <a:cs typeface="Arial" pitchFamily="34" charset="-120"/>
              </a:rPr>
              <a:t>Console + diagnostic rings</a:t>
            </a:r>
            <a:endParaRPr lang="en-US" sz="1700" dirty="0"/>
          </a:p>
          <a:p>
            <a:pPr marL="0" indent="0" algn="ctr">
              <a:buNone/>
            </a:pPr>
            <a:r>
              <a:rPr lang="en-US" sz="1700" dirty="0">
                <a:solidFill>
                  <a:srgbClr val="172C46"/>
                </a:solidFill>
                <a:latin typeface="Arial" pitchFamily="34" charset="0"/>
                <a:ea typeface="Arial" pitchFamily="34" charset="-122"/>
                <a:cs typeface="Arial" pitchFamily="34" charset="-120"/>
              </a:rPr>
              <a:t>Supervisor command queue</a:t>
            </a:r>
            <a:endParaRPr lang="en-US" sz="1700" dirty="0"/>
          </a:p>
          <a:p>
            <a:pPr marL="0" indent="0" algn="ctr">
              <a:buNone/>
            </a:pPr>
            <a:r>
              <a:rPr lang="en-US" sz="1700" dirty="0">
                <a:solidFill>
                  <a:srgbClr val="172C46"/>
                </a:solidFill>
                <a:latin typeface="Arial" pitchFamily="34" charset="0"/>
                <a:ea typeface="Arial" pitchFamily="34" charset="-122"/>
                <a:cs typeface="Arial" pitchFamily="34" charset="-120"/>
              </a:rPr>
              <a:t>Disk / service mailboxes</a:t>
            </a:r>
            <a:endParaRPr lang="en-US" sz="1700" dirty="0"/>
          </a:p>
          <a:p>
            <a:pPr marL="0" indent="0" algn="ctr">
              <a:buNone/>
            </a:pPr>
            <a:r>
              <a:rPr lang="en-US" sz="1700" dirty="0">
                <a:solidFill>
                  <a:srgbClr val="172C46"/>
                </a:solidFill>
                <a:latin typeface="Arial" pitchFamily="34" charset="0"/>
                <a:ea typeface="Arial" pitchFamily="34" charset="-122"/>
                <a:cs typeface="Arial" pitchFamily="34" charset="-120"/>
              </a:rPr>
              <a:t>Flash-safe handshakes</a:t>
            </a:r>
            <a:endParaRPr lang="en-US" sz="1700" dirty="0"/>
          </a:p>
        </p:txBody>
      </p:sp>
      <p:sp>
        <p:nvSpPr>
          <p:cNvPr id="15" name="Shape 13"/>
          <p:cNvSpPr/>
          <p:nvPr/>
        </p:nvSpPr>
        <p:spPr>
          <a:xfrm>
            <a:off x="7635240" y="2148840"/>
            <a:ext cx="4096512" cy="3346704"/>
          </a:xfrm>
          <a:prstGeom prst="roundRect">
            <a:avLst>
              <a:gd name="adj" fmla="val 3825"/>
            </a:avLst>
          </a:prstGeom>
          <a:solidFill>
            <a:srgbClr val="E4F5EF"/>
          </a:solidFill>
          <a:ln w="12700">
            <a:solidFill>
              <a:srgbClr val="E4F5EF"/>
            </a:solidFill>
            <a:prstDash val="solid"/>
          </a:ln>
        </p:spPr>
        <p:txBody>
          <a:bodyPr/>
          <a:lstStyle/>
          <a:p>
            <a:endParaRPr lang="en-US"/>
          </a:p>
        </p:txBody>
      </p:sp>
      <p:sp>
        <p:nvSpPr>
          <p:cNvPr id="16" name="Text 14"/>
          <p:cNvSpPr/>
          <p:nvPr/>
        </p:nvSpPr>
        <p:spPr>
          <a:xfrm>
            <a:off x="7882128" y="2377440"/>
            <a:ext cx="3602736" cy="365760"/>
          </a:xfrm>
          <a:prstGeom prst="rect">
            <a:avLst/>
          </a:prstGeom>
          <a:noFill/>
          <a:ln/>
        </p:spPr>
        <p:txBody>
          <a:bodyPr wrap="square" lIns="0" tIns="0" rIns="0" bIns="0" rtlCol="0" anchor="ctr"/>
          <a:lstStyle/>
          <a:p>
            <a:pPr marL="0" indent="0">
              <a:buNone/>
            </a:pPr>
            <a:r>
              <a:rPr lang="en-US" sz="2600" b="1" dirty="0">
                <a:solidFill>
                  <a:srgbClr val="007F79"/>
                </a:solidFill>
                <a:latin typeface="Arial" pitchFamily="34" charset="0"/>
                <a:ea typeface="Arial" pitchFamily="34" charset="-122"/>
                <a:cs typeface="Arial" pitchFamily="34" charset="-120"/>
              </a:rPr>
              <a:t>CORE 1</a:t>
            </a:r>
            <a:endParaRPr lang="en-US" sz="2600" dirty="0"/>
          </a:p>
        </p:txBody>
      </p:sp>
      <p:sp>
        <p:nvSpPr>
          <p:cNvPr id="17" name="Text 15"/>
          <p:cNvSpPr/>
          <p:nvPr/>
        </p:nvSpPr>
        <p:spPr>
          <a:xfrm>
            <a:off x="7882128" y="2898648"/>
            <a:ext cx="3602736" cy="365760"/>
          </a:xfrm>
          <a:prstGeom prst="rect">
            <a:avLst/>
          </a:prstGeom>
          <a:noFill/>
          <a:ln/>
        </p:spPr>
        <p:txBody>
          <a:bodyPr wrap="square" lIns="0" tIns="0" rIns="0" bIns="0" rtlCol="0" anchor="ctr"/>
          <a:lstStyle/>
          <a:p>
            <a:pPr marL="0" indent="0">
              <a:buNone/>
            </a:pPr>
            <a:r>
              <a:rPr lang="en-US" sz="2100" b="1" dirty="0">
                <a:solidFill>
                  <a:srgbClr val="172C46"/>
                </a:solidFill>
                <a:latin typeface="Arial" pitchFamily="34" charset="0"/>
                <a:ea typeface="Arial" pitchFamily="34" charset="-122"/>
                <a:cs typeface="Arial" pitchFamily="34" charset="-120"/>
              </a:rPr>
              <a:t>USB + storage + networking</a:t>
            </a:r>
            <a:endParaRPr lang="en-US" sz="2100" dirty="0"/>
          </a:p>
        </p:txBody>
      </p:sp>
      <p:sp>
        <p:nvSpPr>
          <p:cNvPr id="18" name="Text 16"/>
          <p:cNvSpPr/>
          <p:nvPr/>
        </p:nvSpPr>
        <p:spPr>
          <a:xfrm>
            <a:off x="7882128" y="3520440"/>
            <a:ext cx="3602736" cy="180000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USB setup, IRQs and console</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Disk-first storage / service workers</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Wi-Fi, HTTP + WebSocket</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SNTP, weather and chat clients</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PIO0 I²C for HT16K33 matrix</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100 kHz: GP26 SCL, GP22 SDA</a:t>
            </a:r>
            <a:endParaRPr lang="en-US" sz="1800" dirty="0"/>
          </a:p>
        </p:txBody>
      </p:sp>
      <p:sp>
        <p:nvSpPr>
          <p:cNvPr id="19" name="Shape 17"/>
          <p:cNvSpPr/>
          <p:nvPr/>
        </p:nvSpPr>
        <p:spPr>
          <a:xfrm>
            <a:off x="4142232" y="3785616"/>
            <a:ext cx="310896" cy="0"/>
          </a:xfrm>
          <a:prstGeom prst="line">
            <a:avLst/>
          </a:prstGeom>
          <a:noFill/>
          <a:ln w="25400">
            <a:solidFill>
              <a:srgbClr val="245FC0"/>
            </a:solidFill>
            <a:prstDash val="solid"/>
            <a:headEnd type="triangle"/>
            <a:tailEnd type="triangle"/>
          </a:ln>
        </p:spPr>
        <p:txBody>
          <a:bodyPr/>
          <a:lstStyle/>
          <a:p>
            <a:endParaRPr lang="en-US"/>
          </a:p>
        </p:txBody>
      </p:sp>
      <p:sp>
        <p:nvSpPr>
          <p:cNvPr id="20" name="Shape 18"/>
          <p:cNvSpPr/>
          <p:nvPr/>
        </p:nvSpPr>
        <p:spPr>
          <a:xfrm>
            <a:off x="7324344" y="3785616"/>
            <a:ext cx="310896" cy="0"/>
          </a:xfrm>
          <a:prstGeom prst="line">
            <a:avLst/>
          </a:prstGeom>
          <a:noFill/>
          <a:ln w="25400">
            <a:solidFill>
              <a:srgbClr val="007F79"/>
            </a:solidFill>
            <a:prstDash val="solid"/>
            <a:headEnd type="triangle"/>
            <a:tailEnd type="triangle"/>
          </a:ln>
        </p:spPr>
        <p:txBody>
          <a:bodyPr/>
          <a:lstStyle/>
          <a:p>
            <a:endParaRPr lang="en-US"/>
          </a:p>
        </p:txBody>
      </p:sp>
      <p:sp>
        <p:nvSpPr>
          <p:cNvPr id="21" name="Shape 19"/>
          <p:cNvSpPr/>
          <p:nvPr/>
        </p:nvSpPr>
        <p:spPr>
          <a:xfrm>
            <a:off x="438912" y="5833872"/>
            <a:ext cx="11292840" cy="438912"/>
          </a:xfrm>
          <a:prstGeom prst="roundRect">
            <a:avLst>
              <a:gd name="adj" fmla="val 29167"/>
            </a:avLst>
          </a:prstGeom>
          <a:solidFill>
            <a:srgbClr val="E8F0FF"/>
          </a:solidFill>
          <a:ln w="12700">
            <a:solidFill>
              <a:srgbClr val="E8F0FF"/>
            </a:solidFill>
            <a:prstDash val="solid"/>
          </a:ln>
        </p:spPr>
        <p:txBody>
          <a:bodyPr/>
          <a:lstStyle/>
          <a:p>
            <a:endParaRPr lang="en-US"/>
          </a:p>
        </p:txBody>
      </p:sp>
      <p:sp>
        <p:nvSpPr>
          <p:cNvPr id="22" name="Text 20"/>
          <p:cNvSpPr/>
          <p:nvPr/>
        </p:nvSpPr>
        <p:spPr>
          <a:xfrm>
            <a:off x="612648" y="5897880"/>
            <a:ext cx="10945368" cy="301752"/>
          </a:xfrm>
          <a:prstGeom prst="rect">
            <a:avLst/>
          </a:prstGeom>
          <a:noFill/>
          <a:ln/>
        </p:spPr>
        <p:txBody>
          <a:bodyPr wrap="square" lIns="0" tIns="0" rIns="0" bIns="0" rtlCol="0" anchor="ctr"/>
          <a:lstStyle/>
          <a:p>
            <a:pPr marL="0" indent="0" algn="ctr">
              <a:buNone/>
            </a:pPr>
            <a:r>
              <a:rPr lang="en-US" sz="1600" b="1" dirty="0">
                <a:solidFill>
                  <a:srgbClr val="245FC0"/>
                </a:solidFill>
                <a:latin typeface="Arial" pitchFamily="34" charset="0"/>
                <a:ea typeface="Arial" pitchFamily="34" charset="-122"/>
                <a:cs typeface="Arial" pitchFamily="34" charset="-120"/>
              </a:rPr>
              <a:t>Core 0 never accesses USB endpoints. Core 1 requests Z80 actions through queues, not bus GPIO.</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Booting without a ROM chip</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The Pico supplies instructions; the Z80 uses those instructions to populate its own SRAM.</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04</a:t>
            </a:r>
            <a:endParaRPr lang="en-US" sz="1200" dirty="0"/>
          </a:p>
        </p:txBody>
      </p:sp>
      <p:sp>
        <p:nvSpPr>
          <p:cNvPr id="8" name="Shape 6"/>
          <p:cNvSpPr/>
          <p:nvPr/>
        </p:nvSpPr>
        <p:spPr>
          <a:xfrm>
            <a:off x="438912" y="2514600"/>
            <a:ext cx="2148840" cy="2505456"/>
          </a:xfrm>
          <a:prstGeom prst="roundRect">
            <a:avLst>
              <a:gd name="adj" fmla="val 5957"/>
            </a:avLst>
          </a:prstGeom>
          <a:solidFill>
            <a:srgbClr val="E8F0FF"/>
          </a:solidFill>
          <a:ln w="12700">
            <a:solidFill>
              <a:srgbClr val="E8F0FF"/>
            </a:solidFill>
            <a:prstDash val="solid"/>
          </a:ln>
        </p:spPr>
        <p:txBody>
          <a:bodyPr/>
          <a:lstStyle/>
          <a:p>
            <a:endParaRPr lang="en-US"/>
          </a:p>
        </p:txBody>
      </p:sp>
      <p:sp>
        <p:nvSpPr>
          <p:cNvPr id="9" name="Shape 7"/>
          <p:cNvSpPr/>
          <p:nvPr/>
        </p:nvSpPr>
        <p:spPr>
          <a:xfrm>
            <a:off x="603504" y="2706624"/>
            <a:ext cx="384048" cy="365760"/>
          </a:xfrm>
          <a:prstGeom prst="roundRect">
            <a:avLst>
              <a:gd name="adj" fmla="val 35000"/>
            </a:avLst>
          </a:prstGeom>
          <a:solidFill>
            <a:srgbClr val="FFFFFF"/>
          </a:solidFill>
          <a:ln w="12700">
            <a:solidFill>
              <a:srgbClr val="FFFFFF"/>
            </a:solidFill>
            <a:prstDash val="solid"/>
          </a:ln>
        </p:spPr>
        <p:txBody>
          <a:bodyPr/>
          <a:lstStyle/>
          <a:p>
            <a:endParaRPr lang="en-US"/>
          </a:p>
        </p:txBody>
      </p:sp>
      <p:sp>
        <p:nvSpPr>
          <p:cNvPr id="10" name="Text 8"/>
          <p:cNvSpPr/>
          <p:nvPr/>
        </p:nvSpPr>
        <p:spPr>
          <a:xfrm>
            <a:off x="694944" y="2743200"/>
            <a:ext cx="201168" cy="274320"/>
          </a:xfrm>
          <a:prstGeom prst="rect">
            <a:avLst/>
          </a:prstGeom>
          <a:noFill/>
          <a:ln/>
        </p:spPr>
        <p:txBody>
          <a:bodyPr wrap="square" lIns="0" tIns="0" rIns="0" bIns="0" rtlCol="0" anchor="ctr"/>
          <a:lstStyle/>
          <a:p>
            <a:pPr marL="0" indent="0" algn="ctr">
              <a:buNone/>
            </a:pPr>
            <a:r>
              <a:rPr lang="en-US" sz="1200" b="1" dirty="0">
                <a:solidFill>
                  <a:srgbClr val="245FC0"/>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603504" y="3236976"/>
            <a:ext cx="1819656" cy="365760"/>
          </a:xfrm>
          <a:prstGeom prst="rect">
            <a:avLst/>
          </a:prstGeom>
          <a:noFill/>
          <a:ln/>
        </p:spPr>
        <p:txBody>
          <a:bodyPr wrap="square" lIns="0" tIns="0" rIns="0" bIns="0" rtlCol="0" anchor="ctr"/>
          <a:lstStyle/>
          <a:p>
            <a:pPr marL="0" indent="0">
              <a:buNone/>
            </a:pPr>
            <a:r>
              <a:rPr lang="en-US" sz="2400" b="1" dirty="0">
                <a:solidFill>
                  <a:srgbClr val="245FC0"/>
                </a:solidFill>
                <a:latin typeface="Arial" pitchFamily="34" charset="0"/>
                <a:ea typeface="Arial" pitchFamily="34" charset="-122"/>
                <a:cs typeface="Arial" pitchFamily="34" charset="-120"/>
              </a:rPr>
              <a:t>Validate</a:t>
            </a:r>
            <a:endParaRPr lang="en-US" sz="2400" dirty="0"/>
          </a:p>
        </p:txBody>
      </p:sp>
      <p:sp>
        <p:nvSpPr>
          <p:cNvPr id="12" name="Text 10"/>
          <p:cNvSpPr/>
          <p:nvPr/>
        </p:nvSpPr>
        <p:spPr>
          <a:xfrm>
            <a:off x="603504" y="3749040"/>
            <a:ext cx="1819656" cy="1005840"/>
          </a:xfrm>
          <a:prstGeom prst="rect">
            <a:avLst/>
          </a:prstGeom>
          <a:noFill/>
          <a:ln/>
        </p:spPr>
        <p:txBody>
          <a:bodyPr wrap="square" lIns="0" tIns="0" rIns="0" bIns="0" rtlCol="0" anchor="ctr"/>
          <a:lstStyle/>
          <a:p>
            <a:pPr marL="0" indent="0">
              <a:buNone/>
            </a:pPr>
            <a:r>
              <a:rPr lang="en-US" sz="1550" dirty="0">
                <a:solidFill>
                  <a:srgbClr val="172C46"/>
                </a:solidFill>
                <a:latin typeface="Arial" pitchFamily="34" charset="0"/>
                <a:ea typeface="Arial" pitchFamily="34" charset="-122"/>
                <a:cs typeface="Arial" pitchFamily="34" charset="-120"/>
              </a:rPr>
              <a:t>Start USB core 1.</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Recover journal.</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Check image CRCs.</a:t>
            </a:r>
            <a:endParaRPr lang="en-US" sz="1550" dirty="0"/>
          </a:p>
        </p:txBody>
      </p:sp>
      <p:sp>
        <p:nvSpPr>
          <p:cNvPr id="13" name="Shape 11"/>
          <p:cNvSpPr/>
          <p:nvPr/>
        </p:nvSpPr>
        <p:spPr>
          <a:xfrm>
            <a:off x="2587752" y="3675888"/>
            <a:ext cx="137160" cy="0"/>
          </a:xfrm>
          <a:prstGeom prst="line">
            <a:avLst/>
          </a:prstGeom>
          <a:noFill/>
          <a:ln w="19050">
            <a:solidFill>
              <a:srgbClr val="5B6C83"/>
            </a:solidFill>
            <a:prstDash val="solid"/>
            <a:tailEnd type="triangle"/>
          </a:ln>
        </p:spPr>
        <p:txBody>
          <a:bodyPr/>
          <a:lstStyle/>
          <a:p>
            <a:endParaRPr lang="en-US"/>
          </a:p>
        </p:txBody>
      </p:sp>
      <p:sp>
        <p:nvSpPr>
          <p:cNvPr id="14" name="Shape 12"/>
          <p:cNvSpPr/>
          <p:nvPr/>
        </p:nvSpPr>
        <p:spPr>
          <a:xfrm>
            <a:off x="2724912" y="2514600"/>
            <a:ext cx="2148840" cy="2505456"/>
          </a:xfrm>
          <a:prstGeom prst="roundRect">
            <a:avLst>
              <a:gd name="adj" fmla="val 5957"/>
            </a:avLst>
          </a:prstGeom>
          <a:solidFill>
            <a:srgbClr val="E8F0FF"/>
          </a:solidFill>
          <a:ln w="12700">
            <a:solidFill>
              <a:srgbClr val="E8F0FF"/>
            </a:solidFill>
            <a:prstDash val="solid"/>
          </a:ln>
        </p:spPr>
        <p:txBody>
          <a:bodyPr/>
          <a:lstStyle/>
          <a:p>
            <a:endParaRPr lang="en-US"/>
          </a:p>
        </p:txBody>
      </p:sp>
      <p:sp>
        <p:nvSpPr>
          <p:cNvPr id="15" name="Shape 13"/>
          <p:cNvSpPr/>
          <p:nvPr/>
        </p:nvSpPr>
        <p:spPr>
          <a:xfrm>
            <a:off x="2889504" y="2706624"/>
            <a:ext cx="384048" cy="365760"/>
          </a:xfrm>
          <a:prstGeom prst="roundRect">
            <a:avLst>
              <a:gd name="adj" fmla="val 35000"/>
            </a:avLst>
          </a:prstGeom>
          <a:solidFill>
            <a:srgbClr val="FFFFFF"/>
          </a:solidFill>
          <a:ln w="12700">
            <a:solidFill>
              <a:srgbClr val="FFFFFF"/>
            </a:solidFill>
            <a:prstDash val="solid"/>
          </a:ln>
        </p:spPr>
        <p:txBody>
          <a:bodyPr/>
          <a:lstStyle/>
          <a:p>
            <a:endParaRPr lang="en-US"/>
          </a:p>
        </p:txBody>
      </p:sp>
      <p:sp>
        <p:nvSpPr>
          <p:cNvPr id="16" name="Text 14"/>
          <p:cNvSpPr/>
          <p:nvPr/>
        </p:nvSpPr>
        <p:spPr>
          <a:xfrm>
            <a:off x="2980944" y="2743200"/>
            <a:ext cx="201168" cy="274320"/>
          </a:xfrm>
          <a:prstGeom prst="rect">
            <a:avLst/>
          </a:prstGeom>
          <a:noFill/>
          <a:ln/>
        </p:spPr>
        <p:txBody>
          <a:bodyPr wrap="square" lIns="0" tIns="0" rIns="0" bIns="0" rtlCol="0" anchor="ctr"/>
          <a:lstStyle/>
          <a:p>
            <a:pPr marL="0" indent="0" algn="ctr">
              <a:buNone/>
            </a:pPr>
            <a:r>
              <a:rPr lang="en-US" sz="1200" b="1" dirty="0">
                <a:solidFill>
                  <a:srgbClr val="245FC0"/>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2889504" y="3236976"/>
            <a:ext cx="1819656" cy="365760"/>
          </a:xfrm>
          <a:prstGeom prst="rect">
            <a:avLst/>
          </a:prstGeom>
          <a:noFill/>
          <a:ln/>
        </p:spPr>
        <p:txBody>
          <a:bodyPr wrap="square" lIns="0" tIns="0" rIns="0" bIns="0" rtlCol="0" anchor="ctr"/>
          <a:lstStyle/>
          <a:p>
            <a:pPr marL="0" indent="0">
              <a:buNone/>
            </a:pPr>
            <a:r>
              <a:rPr lang="en-US" sz="2400" b="1" dirty="0">
                <a:solidFill>
                  <a:srgbClr val="245FC0"/>
                </a:solidFill>
                <a:latin typeface="Arial" pitchFamily="34" charset="0"/>
                <a:ea typeface="Arial" pitchFamily="34" charset="-122"/>
                <a:cs typeface="Arial" pitchFamily="34" charset="-120"/>
              </a:rPr>
              <a:t>Load SRAM</a:t>
            </a:r>
            <a:endParaRPr lang="en-US" sz="2400" dirty="0"/>
          </a:p>
        </p:txBody>
      </p:sp>
      <p:sp>
        <p:nvSpPr>
          <p:cNvPr id="18" name="Text 16"/>
          <p:cNvSpPr/>
          <p:nvPr/>
        </p:nvSpPr>
        <p:spPr>
          <a:xfrm>
            <a:off x="2889504" y="3749040"/>
            <a:ext cx="1819656" cy="1005840"/>
          </a:xfrm>
          <a:prstGeom prst="rect">
            <a:avLst/>
          </a:prstGeom>
          <a:noFill/>
          <a:ln/>
        </p:spPr>
        <p:txBody>
          <a:bodyPr wrap="square" lIns="0" tIns="0" rIns="0" bIns="0" rtlCol="0" anchor="ctr"/>
          <a:lstStyle/>
          <a:p>
            <a:pPr marL="0" indent="0">
              <a:buNone/>
            </a:pPr>
            <a:r>
              <a:rPr lang="en-US" sz="1550" dirty="0">
                <a:solidFill>
                  <a:srgbClr val="172C46"/>
                </a:solidFill>
                <a:latin typeface="Arial" pitchFamily="34" charset="0"/>
                <a:ea typeface="Arial" pitchFamily="34" charset="-122"/>
                <a:cs typeface="Arial" pitchFamily="34" charset="-120"/>
              </a:rPr>
              <a:t>Slow-clock Z80.</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Inject instructions.</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CPU writes 64 KiB.</a:t>
            </a:r>
            <a:endParaRPr lang="en-US" sz="1550" dirty="0"/>
          </a:p>
        </p:txBody>
      </p:sp>
      <p:sp>
        <p:nvSpPr>
          <p:cNvPr id="19" name="Shape 17"/>
          <p:cNvSpPr/>
          <p:nvPr/>
        </p:nvSpPr>
        <p:spPr>
          <a:xfrm>
            <a:off x="4873752" y="3675888"/>
            <a:ext cx="137160" cy="0"/>
          </a:xfrm>
          <a:prstGeom prst="line">
            <a:avLst/>
          </a:prstGeom>
          <a:noFill/>
          <a:ln w="19050">
            <a:solidFill>
              <a:srgbClr val="5B6C83"/>
            </a:solidFill>
            <a:prstDash val="solid"/>
            <a:tailEnd type="triangle"/>
          </a:ln>
        </p:spPr>
        <p:txBody>
          <a:bodyPr/>
          <a:lstStyle/>
          <a:p>
            <a:endParaRPr lang="en-US"/>
          </a:p>
        </p:txBody>
      </p:sp>
      <p:sp>
        <p:nvSpPr>
          <p:cNvPr id="20" name="Shape 18"/>
          <p:cNvSpPr/>
          <p:nvPr/>
        </p:nvSpPr>
        <p:spPr>
          <a:xfrm>
            <a:off x="5010912" y="2514600"/>
            <a:ext cx="2148840" cy="2505456"/>
          </a:xfrm>
          <a:prstGeom prst="roundRect">
            <a:avLst>
              <a:gd name="adj" fmla="val 5957"/>
            </a:avLst>
          </a:prstGeom>
          <a:solidFill>
            <a:srgbClr val="E8F0FF"/>
          </a:solidFill>
          <a:ln w="12700">
            <a:solidFill>
              <a:srgbClr val="E8F0FF"/>
            </a:solidFill>
            <a:prstDash val="solid"/>
          </a:ln>
        </p:spPr>
        <p:txBody>
          <a:bodyPr/>
          <a:lstStyle/>
          <a:p>
            <a:endParaRPr lang="en-US"/>
          </a:p>
        </p:txBody>
      </p:sp>
      <p:sp>
        <p:nvSpPr>
          <p:cNvPr id="21" name="Shape 19"/>
          <p:cNvSpPr/>
          <p:nvPr/>
        </p:nvSpPr>
        <p:spPr>
          <a:xfrm>
            <a:off x="5175504" y="2706624"/>
            <a:ext cx="384048" cy="365760"/>
          </a:xfrm>
          <a:prstGeom prst="roundRect">
            <a:avLst>
              <a:gd name="adj" fmla="val 35000"/>
            </a:avLst>
          </a:prstGeom>
          <a:solidFill>
            <a:srgbClr val="FFFFFF"/>
          </a:solidFill>
          <a:ln w="12700">
            <a:solidFill>
              <a:srgbClr val="FFFFFF"/>
            </a:solidFill>
            <a:prstDash val="solid"/>
          </a:ln>
        </p:spPr>
        <p:txBody>
          <a:bodyPr/>
          <a:lstStyle/>
          <a:p>
            <a:endParaRPr lang="en-US"/>
          </a:p>
        </p:txBody>
      </p:sp>
      <p:sp>
        <p:nvSpPr>
          <p:cNvPr id="22" name="Text 20"/>
          <p:cNvSpPr/>
          <p:nvPr/>
        </p:nvSpPr>
        <p:spPr>
          <a:xfrm>
            <a:off x="5266944" y="2743200"/>
            <a:ext cx="201168" cy="274320"/>
          </a:xfrm>
          <a:prstGeom prst="rect">
            <a:avLst/>
          </a:prstGeom>
          <a:noFill/>
          <a:ln/>
        </p:spPr>
        <p:txBody>
          <a:bodyPr wrap="square" lIns="0" tIns="0" rIns="0" bIns="0" rtlCol="0" anchor="ctr"/>
          <a:lstStyle/>
          <a:p>
            <a:pPr marL="0" indent="0" algn="ctr">
              <a:buNone/>
            </a:pPr>
            <a:r>
              <a:rPr lang="en-US" sz="1200" b="1" dirty="0">
                <a:solidFill>
                  <a:srgbClr val="245FC0"/>
                </a:solidFill>
                <a:latin typeface="Arial" pitchFamily="34" charset="0"/>
                <a:ea typeface="Arial" pitchFamily="34" charset="-122"/>
                <a:cs typeface="Arial" pitchFamily="34" charset="-120"/>
              </a:rPr>
              <a:t>3</a:t>
            </a:r>
            <a:endParaRPr lang="en-US" sz="1200" dirty="0"/>
          </a:p>
        </p:txBody>
      </p:sp>
      <p:sp>
        <p:nvSpPr>
          <p:cNvPr id="23" name="Text 21"/>
          <p:cNvSpPr/>
          <p:nvPr/>
        </p:nvSpPr>
        <p:spPr>
          <a:xfrm>
            <a:off x="5175504" y="3236976"/>
            <a:ext cx="1819656" cy="365760"/>
          </a:xfrm>
          <a:prstGeom prst="rect">
            <a:avLst/>
          </a:prstGeom>
          <a:noFill/>
          <a:ln/>
        </p:spPr>
        <p:txBody>
          <a:bodyPr wrap="square" lIns="0" tIns="0" rIns="0" bIns="0" rtlCol="0" anchor="ctr"/>
          <a:lstStyle/>
          <a:p>
            <a:pPr marL="0" indent="0">
              <a:buNone/>
            </a:pPr>
            <a:r>
              <a:rPr lang="en-US" sz="2400" b="1" dirty="0">
                <a:solidFill>
                  <a:srgbClr val="245FC0"/>
                </a:solidFill>
                <a:latin typeface="Arial" pitchFamily="34" charset="0"/>
                <a:ea typeface="Arial" pitchFamily="34" charset="-122"/>
                <a:cs typeface="Arial" pitchFamily="34" charset="-120"/>
              </a:rPr>
              <a:t>Verify</a:t>
            </a:r>
            <a:endParaRPr lang="en-US" sz="2400" dirty="0"/>
          </a:p>
        </p:txBody>
      </p:sp>
      <p:sp>
        <p:nvSpPr>
          <p:cNvPr id="24" name="Text 22"/>
          <p:cNvSpPr/>
          <p:nvPr/>
        </p:nvSpPr>
        <p:spPr>
          <a:xfrm>
            <a:off x="5175504" y="3749040"/>
            <a:ext cx="1819656" cy="1005840"/>
          </a:xfrm>
          <a:prstGeom prst="rect">
            <a:avLst/>
          </a:prstGeom>
          <a:noFill/>
          <a:ln/>
        </p:spPr>
        <p:txBody>
          <a:bodyPr wrap="square" lIns="0" tIns="0" rIns="0" bIns="0" rtlCol="0" anchor="ctr"/>
          <a:lstStyle/>
          <a:p>
            <a:pPr marL="0" indent="0">
              <a:buNone/>
            </a:pPr>
            <a:r>
              <a:rPr lang="en-US" sz="1550" dirty="0">
                <a:solidFill>
                  <a:srgbClr val="172C46"/>
                </a:solidFill>
                <a:latin typeface="Arial" pitchFamily="34" charset="0"/>
                <a:ea typeface="Arial" pitchFamily="34" charset="-122"/>
                <a:cs typeface="Arial" pitchFamily="34" charset="-120"/>
              </a:rPr>
              <a:t>Read all bytes back.</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Compare with flash.</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Hold CPU in reset.</a:t>
            </a:r>
            <a:endParaRPr lang="en-US" sz="1550" dirty="0"/>
          </a:p>
        </p:txBody>
      </p:sp>
      <p:sp>
        <p:nvSpPr>
          <p:cNvPr id="25" name="Shape 23"/>
          <p:cNvSpPr/>
          <p:nvPr/>
        </p:nvSpPr>
        <p:spPr>
          <a:xfrm>
            <a:off x="7159752" y="3675888"/>
            <a:ext cx="137160" cy="0"/>
          </a:xfrm>
          <a:prstGeom prst="line">
            <a:avLst/>
          </a:prstGeom>
          <a:noFill/>
          <a:ln w="19050">
            <a:solidFill>
              <a:srgbClr val="5B6C83"/>
            </a:solidFill>
            <a:prstDash val="solid"/>
            <a:tailEnd type="triangle"/>
          </a:ln>
        </p:spPr>
        <p:txBody>
          <a:bodyPr/>
          <a:lstStyle/>
          <a:p>
            <a:endParaRPr lang="en-US"/>
          </a:p>
        </p:txBody>
      </p:sp>
      <p:sp>
        <p:nvSpPr>
          <p:cNvPr id="26" name="Shape 24"/>
          <p:cNvSpPr/>
          <p:nvPr/>
        </p:nvSpPr>
        <p:spPr>
          <a:xfrm>
            <a:off x="7296912" y="2514600"/>
            <a:ext cx="2148840" cy="2505456"/>
          </a:xfrm>
          <a:prstGeom prst="roundRect">
            <a:avLst>
              <a:gd name="adj" fmla="val 5957"/>
            </a:avLst>
          </a:prstGeom>
          <a:solidFill>
            <a:srgbClr val="FFF0DB"/>
          </a:solidFill>
          <a:ln w="12700">
            <a:solidFill>
              <a:srgbClr val="FFF0DB"/>
            </a:solidFill>
            <a:prstDash val="solid"/>
          </a:ln>
        </p:spPr>
        <p:txBody>
          <a:bodyPr/>
          <a:lstStyle/>
          <a:p>
            <a:endParaRPr lang="en-US"/>
          </a:p>
        </p:txBody>
      </p:sp>
      <p:sp>
        <p:nvSpPr>
          <p:cNvPr id="27" name="Shape 25"/>
          <p:cNvSpPr/>
          <p:nvPr/>
        </p:nvSpPr>
        <p:spPr>
          <a:xfrm>
            <a:off x="7461504" y="2706624"/>
            <a:ext cx="384048" cy="365760"/>
          </a:xfrm>
          <a:prstGeom prst="roundRect">
            <a:avLst>
              <a:gd name="adj" fmla="val 35000"/>
            </a:avLst>
          </a:prstGeom>
          <a:solidFill>
            <a:srgbClr val="FFFFFF"/>
          </a:solidFill>
          <a:ln w="12700">
            <a:solidFill>
              <a:srgbClr val="FFFFFF"/>
            </a:solidFill>
            <a:prstDash val="solid"/>
          </a:ln>
        </p:spPr>
        <p:txBody>
          <a:bodyPr/>
          <a:lstStyle/>
          <a:p>
            <a:endParaRPr lang="en-US"/>
          </a:p>
        </p:txBody>
      </p:sp>
      <p:sp>
        <p:nvSpPr>
          <p:cNvPr id="28" name="Text 26"/>
          <p:cNvSpPr/>
          <p:nvPr/>
        </p:nvSpPr>
        <p:spPr>
          <a:xfrm>
            <a:off x="7552944" y="2743200"/>
            <a:ext cx="201168" cy="274320"/>
          </a:xfrm>
          <a:prstGeom prst="rect">
            <a:avLst/>
          </a:prstGeom>
          <a:noFill/>
          <a:ln/>
        </p:spPr>
        <p:txBody>
          <a:bodyPr wrap="square" lIns="0" tIns="0" rIns="0" bIns="0" rtlCol="0" anchor="ctr"/>
          <a:lstStyle/>
          <a:p>
            <a:pPr marL="0" indent="0" algn="ctr">
              <a:buNone/>
            </a:pPr>
            <a:r>
              <a:rPr lang="en-US" sz="1200" b="1" dirty="0">
                <a:solidFill>
                  <a:srgbClr val="BC6211"/>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7461504" y="3236976"/>
            <a:ext cx="1819656" cy="365760"/>
          </a:xfrm>
          <a:prstGeom prst="rect">
            <a:avLst/>
          </a:prstGeom>
          <a:noFill/>
          <a:ln/>
        </p:spPr>
        <p:txBody>
          <a:bodyPr wrap="square" lIns="0" tIns="0" rIns="0" bIns="0" rtlCol="0" anchor="ctr"/>
          <a:lstStyle/>
          <a:p>
            <a:pPr marL="0" indent="0">
              <a:buNone/>
            </a:pPr>
            <a:r>
              <a:rPr lang="en-US" sz="2400" b="1" dirty="0">
                <a:solidFill>
                  <a:srgbClr val="BC6211"/>
                </a:solidFill>
                <a:latin typeface="Arial" pitchFamily="34" charset="0"/>
                <a:ea typeface="Arial" pitchFamily="34" charset="-122"/>
                <a:cs typeface="Arial" pitchFamily="34" charset="-120"/>
              </a:rPr>
              <a:t>Start</a:t>
            </a:r>
            <a:endParaRPr lang="en-US" sz="2400" dirty="0"/>
          </a:p>
        </p:txBody>
      </p:sp>
      <p:sp>
        <p:nvSpPr>
          <p:cNvPr id="30" name="Text 28"/>
          <p:cNvSpPr/>
          <p:nvPr/>
        </p:nvSpPr>
        <p:spPr>
          <a:xfrm>
            <a:off x="7461504" y="3749040"/>
            <a:ext cx="1819656" cy="1005840"/>
          </a:xfrm>
          <a:prstGeom prst="rect">
            <a:avLst/>
          </a:prstGeom>
          <a:noFill/>
          <a:ln/>
        </p:spPr>
        <p:txBody>
          <a:bodyPr wrap="square" lIns="0" tIns="0" rIns="0" bIns="0" rtlCol="0" anchor="ctr"/>
          <a:lstStyle/>
          <a:p>
            <a:pPr marL="0" indent="0">
              <a:buNone/>
            </a:pPr>
            <a:r>
              <a:rPr lang="en-US" sz="1550" dirty="0">
                <a:solidFill>
                  <a:srgbClr val="172C46"/>
                </a:solidFill>
                <a:latin typeface="Arial" pitchFamily="34" charset="0"/>
                <a:ea typeface="Arial" pitchFamily="34" charset="-122"/>
                <a:cs typeface="Arial" pitchFamily="34" charset="-120"/>
              </a:rPr>
              <a:t>Arm I/O; reset Z80.</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Start 20 MHz clock.</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Enable workers.</a:t>
            </a:r>
            <a:endParaRPr lang="en-US" sz="1550" dirty="0"/>
          </a:p>
        </p:txBody>
      </p:sp>
      <p:sp>
        <p:nvSpPr>
          <p:cNvPr id="31" name="Shape 29"/>
          <p:cNvSpPr/>
          <p:nvPr/>
        </p:nvSpPr>
        <p:spPr>
          <a:xfrm>
            <a:off x="9445752" y="3675888"/>
            <a:ext cx="137160" cy="0"/>
          </a:xfrm>
          <a:prstGeom prst="line">
            <a:avLst/>
          </a:prstGeom>
          <a:noFill/>
          <a:ln w="19050">
            <a:solidFill>
              <a:srgbClr val="5B6C83"/>
            </a:solidFill>
            <a:prstDash val="solid"/>
            <a:tailEnd type="triangle"/>
          </a:ln>
        </p:spPr>
        <p:txBody>
          <a:bodyPr/>
          <a:lstStyle/>
          <a:p>
            <a:endParaRPr lang="en-US"/>
          </a:p>
        </p:txBody>
      </p:sp>
      <p:sp>
        <p:nvSpPr>
          <p:cNvPr id="32" name="Shape 30"/>
          <p:cNvSpPr/>
          <p:nvPr/>
        </p:nvSpPr>
        <p:spPr>
          <a:xfrm>
            <a:off x="9582912" y="2514600"/>
            <a:ext cx="2148840" cy="2505456"/>
          </a:xfrm>
          <a:prstGeom prst="roundRect">
            <a:avLst>
              <a:gd name="adj" fmla="val 5957"/>
            </a:avLst>
          </a:prstGeom>
          <a:solidFill>
            <a:srgbClr val="F0E9FA"/>
          </a:solidFill>
          <a:ln w="12700">
            <a:solidFill>
              <a:srgbClr val="F0E9FA"/>
            </a:solidFill>
            <a:prstDash val="solid"/>
          </a:ln>
        </p:spPr>
        <p:txBody>
          <a:bodyPr/>
          <a:lstStyle/>
          <a:p>
            <a:endParaRPr lang="en-US"/>
          </a:p>
        </p:txBody>
      </p:sp>
      <p:sp>
        <p:nvSpPr>
          <p:cNvPr id="33" name="Shape 31"/>
          <p:cNvSpPr/>
          <p:nvPr/>
        </p:nvSpPr>
        <p:spPr>
          <a:xfrm>
            <a:off x="9747504" y="2706624"/>
            <a:ext cx="384048" cy="365760"/>
          </a:xfrm>
          <a:prstGeom prst="roundRect">
            <a:avLst>
              <a:gd name="adj" fmla="val 35000"/>
            </a:avLst>
          </a:prstGeom>
          <a:solidFill>
            <a:srgbClr val="FFFFFF"/>
          </a:solidFill>
          <a:ln w="12700">
            <a:solidFill>
              <a:srgbClr val="FFFFFF"/>
            </a:solidFill>
            <a:prstDash val="solid"/>
          </a:ln>
        </p:spPr>
        <p:txBody>
          <a:bodyPr/>
          <a:lstStyle/>
          <a:p>
            <a:endParaRPr lang="en-US"/>
          </a:p>
        </p:txBody>
      </p:sp>
      <p:sp>
        <p:nvSpPr>
          <p:cNvPr id="34" name="Text 32"/>
          <p:cNvSpPr/>
          <p:nvPr/>
        </p:nvSpPr>
        <p:spPr>
          <a:xfrm>
            <a:off x="9838944" y="2743200"/>
            <a:ext cx="201168" cy="274320"/>
          </a:xfrm>
          <a:prstGeom prst="rect">
            <a:avLst/>
          </a:prstGeom>
          <a:noFill/>
          <a:ln/>
        </p:spPr>
        <p:txBody>
          <a:bodyPr wrap="square" lIns="0" tIns="0" rIns="0" bIns="0" rtlCol="0" anchor="ctr"/>
          <a:lstStyle/>
          <a:p>
            <a:pPr marL="0" indent="0" algn="ctr">
              <a:buNone/>
            </a:pPr>
            <a:r>
              <a:rPr lang="en-US" sz="1200" b="1" dirty="0">
                <a:solidFill>
                  <a:srgbClr val="7545AC"/>
                </a:solidFill>
                <a:latin typeface="Arial" pitchFamily="34" charset="0"/>
                <a:ea typeface="Arial" pitchFamily="34" charset="-122"/>
                <a:cs typeface="Arial" pitchFamily="34" charset="-120"/>
              </a:rPr>
              <a:t>5</a:t>
            </a:r>
            <a:endParaRPr lang="en-US" sz="1200" dirty="0"/>
          </a:p>
        </p:txBody>
      </p:sp>
      <p:sp>
        <p:nvSpPr>
          <p:cNvPr id="35" name="Text 33"/>
          <p:cNvSpPr/>
          <p:nvPr/>
        </p:nvSpPr>
        <p:spPr>
          <a:xfrm>
            <a:off x="9747504" y="3236976"/>
            <a:ext cx="1819656" cy="365760"/>
          </a:xfrm>
          <a:prstGeom prst="rect">
            <a:avLst/>
          </a:prstGeom>
          <a:noFill/>
          <a:ln/>
        </p:spPr>
        <p:txBody>
          <a:bodyPr wrap="square" lIns="0" tIns="0" rIns="0" bIns="0" rtlCol="0" anchor="ctr"/>
          <a:lstStyle/>
          <a:p>
            <a:pPr marL="0" indent="0">
              <a:buNone/>
            </a:pPr>
            <a:r>
              <a:rPr lang="en-US" sz="2400" b="1" dirty="0">
                <a:solidFill>
                  <a:srgbClr val="7545AC"/>
                </a:solidFill>
                <a:latin typeface="Arial" pitchFamily="34" charset="0"/>
                <a:ea typeface="Arial" pitchFamily="34" charset="-122"/>
                <a:cs typeface="Arial" pitchFamily="34" charset="-120"/>
              </a:rPr>
              <a:t>Execute</a:t>
            </a:r>
            <a:endParaRPr lang="en-US" sz="2400" dirty="0"/>
          </a:p>
        </p:txBody>
      </p:sp>
      <p:sp>
        <p:nvSpPr>
          <p:cNvPr id="36" name="Text 34"/>
          <p:cNvSpPr/>
          <p:nvPr/>
        </p:nvSpPr>
        <p:spPr>
          <a:xfrm>
            <a:off x="9747504" y="3749040"/>
            <a:ext cx="1819656" cy="1005840"/>
          </a:xfrm>
          <a:prstGeom prst="rect">
            <a:avLst/>
          </a:prstGeom>
          <a:noFill/>
          <a:ln/>
        </p:spPr>
        <p:txBody>
          <a:bodyPr wrap="square" lIns="0" tIns="0" rIns="0" bIns="0" rtlCol="0" anchor="ctr"/>
          <a:lstStyle/>
          <a:p>
            <a:pPr marL="0" indent="0">
              <a:buNone/>
            </a:pPr>
            <a:r>
              <a:rPr lang="en-US" sz="1550" dirty="0">
                <a:solidFill>
                  <a:srgbClr val="172C46"/>
                </a:solidFill>
                <a:latin typeface="Arial" pitchFamily="34" charset="0"/>
                <a:ea typeface="Arial" pitchFamily="34" charset="-122"/>
                <a:cs typeface="Arial" pitchFamily="34" charset="-120"/>
              </a:rPr>
              <a:t>Fetch from SRAM.</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BIOS starts CP/M.</a:t>
            </a:r>
            <a:endParaRPr lang="en-US" sz="1550" dirty="0"/>
          </a:p>
          <a:p>
            <a:pPr marL="0" indent="0">
              <a:buNone/>
            </a:pPr>
            <a:r>
              <a:rPr lang="en-US" sz="1550" dirty="0">
                <a:solidFill>
                  <a:srgbClr val="172C46"/>
                </a:solidFill>
                <a:latin typeface="Arial" pitchFamily="34" charset="0"/>
                <a:ea typeface="Arial" pitchFamily="34" charset="-122"/>
                <a:cs typeface="Arial" pitchFamily="34" charset="-120"/>
              </a:rPr>
              <a:t>CCP starts programs.</a:t>
            </a:r>
            <a:endParaRPr lang="en-US" sz="1550" dirty="0"/>
          </a:p>
        </p:txBody>
      </p:sp>
      <p:sp>
        <p:nvSpPr>
          <p:cNvPr id="37" name="Text 35"/>
          <p:cNvSpPr/>
          <p:nvPr/>
        </p:nvSpPr>
        <p:spPr>
          <a:xfrm>
            <a:off x="548640" y="5276088"/>
            <a:ext cx="11064240" cy="320040"/>
          </a:xfrm>
          <a:prstGeom prst="rect">
            <a:avLst/>
          </a:prstGeom>
          <a:noFill/>
          <a:ln/>
        </p:spPr>
        <p:txBody>
          <a:bodyPr wrap="square" lIns="0" tIns="0" rIns="0" bIns="0" rtlCol="0" anchor="ctr"/>
          <a:lstStyle/>
          <a:p>
            <a:pPr marL="0" indent="0" algn="ctr">
              <a:buNone/>
            </a:pPr>
            <a:r>
              <a:rPr lang="en-US" sz="1700" dirty="0">
                <a:solidFill>
                  <a:srgbClr val="5B6C83"/>
                </a:solidFill>
                <a:latin typeface="Arial" pitchFamily="34" charset="0"/>
                <a:ea typeface="Arial" pitchFamily="34" charset="-122"/>
                <a:cs typeface="Arial" pitchFamily="34" charset="-120"/>
              </a:rPr>
              <a:t>Pico injects LD HL,nn / LD (HL),n for loading and LD A,(HL) for read-back.</a:t>
            </a:r>
            <a:endParaRPr lang="en-US" sz="1700" dirty="0"/>
          </a:p>
        </p:txBody>
      </p:sp>
      <p:sp>
        <p:nvSpPr>
          <p:cNvPr id="38" name="Shape 36"/>
          <p:cNvSpPr/>
          <p:nvPr/>
        </p:nvSpPr>
        <p:spPr>
          <a:xfrm>
            <a:off x="438912" y="5833872"/>
            <a:ext cx="11292840" cy="438912"/>
          </a:xfrm>
          <a:prstGeom prst="roundRect">
            <a:avLst>
              <a:gd name="adj" fmla="val 29167"/>
            </a:avLst>
          </a:prstGeom>
          <a:solidFill>
            <a:srgbClr val="E8F0FF"/>
          </a:solidFill>
          <a:ln w="12700">
            <a:solidFill>
              <a:srgbClr val="E8F0FF"/>
            </a:solidFill>
            <a:prstDash val="solid"/>
          </a:ln>
        </p:spPr>
        <p:txBody>
          <a:bodyPr/>
          <a:lstStyle/>
          <a:p>
            <a:endParaRPr lang="en-US"/>
          </a:p>
        </p:txBody>
      </p:sp>
      <p:sp>
        <p:nvSpPr>
          <p:cNvPr id="39" name="Text 37"/>
          <p:cNvSpPr/>
          <p:nvPr/>
        </p:nvSpPr>
        <p:spPr>
          <a:xfrm>
            <a:off x="612648" y="5897880"/>
            <a:ext cx="10945368" cy="301752"/>
          </a:xfrm>
          <a:prstGeom prst="rect">
            <a:avLst/>
          </a:prstGeom>
          <a:noFill/>
          <a:ln/>
        </p:spPr>
        <p:txBody>
          <a:bodyPr wrap="square" lIns="0" tIns="0" rIns="0" bIns="0" rtlCol="0" anchor="ctr"/>
          <a:lstStyle/>
          <a:p>
            <a:pPr marL="0" indent="0" algn="ctr">
              <a:buNone/>
            </a:pPr>
            <a:r>
              <a:rPr lang="en-US" sz="1600" b="1" dirty="0">
                <a:solidFill>
                  <a:srgbClr val="245FC0"/>
                </a:solidFill>
                <a:latin typeface="Arial" pitchFamily="34" charset="0"/>
                <a:ea typeface="Arial" pitchFamily="34" charset="-122"/>
                <a:cs typeface="Arial" pitchFamily="34" charset="-120"/>
              </a:rPr>
              <a:t>After reset: SRAM[0000h] = JP FD00h → BIOS cold entry → CCP. No USB, Wi-Fi or browser required.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Normal execution is direct. I/O is virtual.</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The Z80 runs directly from SRAM. PIO1 handles bank-select OUT 07h at hardware speed.</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05</a:t>
            </a:r>
            <a:endParaRPr lang="en-US" sz="1200" dirty="0"/>
          </a:p>
        </p:txBody>
      </p:sp>
      <p:sp>
        <p:nvSpPr>
          <p:cNvPr id="8" name="Shape 6"/>
          <p:cNvSpPr/>
          <p:nvPr/>
        </p:nvSpPr>
        <p:spPr>
          <a:xfrm>
            <a:off x="438912" y="2240280"/>
            <a:ext cx="3337560" cy="1783080"/>
          </a:xfrm>
          <a:prstGeom prst="roundRect">
            <a:avLst>
              <a:gd name="adj" fmla="val 7179"/>
            </a:avLst>
          </a:prstGeom>
          <a:solidFill>
            <a:srgbClr val="F0E9FA"/>
          </a:solidFill>
          <a:ln w="12700">
            <a:solidFill>
              <a:srgbClr val="F0E9FA"/>
            </a:solidFill>
            <a:prstDash val="solid"/>
          </a:ln>
        </p:spPr>
        <p:txBody>
          <a:bodyPr/>
          <a:lstStyle/>
          <a:p>
            <a:endParaRPr lang="en-US"/>
          </a:p>
        </p:txBody>
      </p:sp>
      <p:sp>
        <p:nvSpPr>
          <p:cNvPr id="9" name="Text 7"/>
          <p:cNvSpPr/>
          <p:nvPr/>
        </p:nvSpPr>
        <p:spPr>
          <a:xfrm>
            <a:off x="658368" y="2468880"/>
            <a:ext cx="2889504" cy="365760"/>
          </a:xfrm>
          <a:prstGeom prst="rect">
            <a:avLst/>
          </a:prstGeom>
          <a:noFill/>
          <a:ln/>
        </p:spPr>
        <p:txBody>
          <a:bodyPr wrap="square" lIns="0" tIns="0" rIns="0" bIns="0" rtlCol="0" anchor="ctr"/>
          <a:lstStyle/>
          <a:p>
            <a:pPr marL="0" indent="0">
              <a:buNone/>
            </a:pPr>
            <a:r>
              <a:rPr lang="en-US" sz="2500" b="1" dirty="0">
                <a:solidFill>
                  <a:srgbClr val="7545AC"/>
                </a:solidFill>
                <a:latin typeface="Arial" pitchFamily="34" charset="0"/>
                <a:ea typeface="Arial" pitchFamily="34" charset="-122"/>
                <a:cs typeface="Arial" pitchFamily="34" charset="-120"/>
              </a:rPr>
              <a:t>Z80 + SRAM</a:t>
            </a:r>
            <a:endParaRPr lang="en-US" sz="2500" dirty="0"/>
          </a:p>
        </p:txBody>
      </p:sp>
      <p:sp>
        <p:nvSpPr>
          <p:cNvPr id="10" name="Text 8"/>
          <p:cNvSpPr/>
          <p:nvPr/>
        </p:nvSpPr>
        <p:spPr>
          <a:xfrm>
            <a:off x="658368" y="2999232"/>
            <a:ext cx="2889504" cy="77724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Ordinary instruction fetches</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and memory reads / writes</a:t>
            </a:r>
            <a:endParaRPr lang="en-US" sz="1800" dirty="0"/>
          </a:p>
          <a:p>
            <a:pPr marL="0" indent="0">
              <a:buNone/>
            </a:pPr>
            <a:r>
              <a:rPr lang="en-US" sz="1800" dirty="0">
                <a:solidFill>
                  <a:srgbClr val="172C46"/>
                </a:solidFill>
                <a:latin typeface="Arial" pitchFamily="34" charset="0"/>
                <a:ea typeface="Arial" pitchFamily="34" charset="-122"/>
                <a:cs typeface="Arial" pitchFamily="34" charset="-120"/>
              </a:rPr>
              <a:t>need no Pico software.</a:t>
            </a:r>
            <a:endParaRPr lang="en-US" sz="1800" dirty="0"/>
          </a:p>
        </p:txBody>
      </p:sp>
      <p:sp>
        <p:nvSpPr>
          <p:cNvPr id="11" name="Shape 9"/>
          <p:cNvSpPr/>
          <p:nvPr/>
        </p:nvSpPr>
        <p:spPr>
          <a:xfrm>
            <a:off x="4325112" y="2240280"/>
            <a:ext cx="3337560" cy="1783080"/>
          </a:xfrm>
          <a:prstGeom prst="roundRect">
            <a:avLst>
              <a:gd name="adj" fmla="val 7179"/>
            </a:avLst>
          </a:prstGeom>
          <a:solidFill>
            <a:srgbClr val="E8F0FF"/>
          </a:solidFill>
          <a:ln w="12700">
            <a:solidFill>
              <a:srgbClr val="E8F0FF"/>
            </a:solidFill>
            <a:prstDash val="solid"/>
          </a:ln>
        </p:spPr>
        <p:txBody>
          <a:bodyPr/>
          <a:lstStyle/>
          <a:p>
            <a:endParaRPr lang="en-US"/>
          </a:p>
        </p:txBody>
      </p:sp>
      <p:sp>
        <p:nvSpPr>
          <p:cNvPr id="12" name="Text 10"/>
          <p:cNvSpPr/>
          <p:nvPr/>
        </p:nvSpPr>
        <p:spPr>
          <a:xfrm>
            <a:off x="4544568" y="2468880"/>
            <a:ext cx="2889504" cy="365760"/>
          </a:xfrm>
          <a:prstGeom prst="rect">
            <a:avLst/>
          </a:prstGeom>
          <a:noFill/>
          <a:ln/>
        </p:spPr>
        <p:txBody>
          <a:bodyPr wrap="square" lIns="0" tIns="0" rIns="0" bIns="0" rtlCol="0" anchor="ctr"/>
          <a:lstStyle/>
          <a:p>
            <a:pPr marL="0" indent="0">
              <a:buNone/>
            </a:pPr>
            <a:r>
              <a:rPr lang="en-US" sz="2500" b="1" dirty="0">
                <a:solidFill>
                  <a:srgbClr val="245FC0"/>
                </a:solidFill>
                <a:latin typeface="Arial" pitchFamily="34" charset="0"/>
                <a:ea typeface="Arial" pitchFamily="34" charset="-122"/>
                <a:cs typeface="Arial" pitchFamily="34" charset="-120"/>
              </a:rPr>
              <a:t>Bank select + I/O traps</a:t>
            </a:r>
            <a:endParaRPr lang="en-US" sz="2500" dirty="0"/>
          </a:p>
        </p:txBody>
      </p:sp>
      <p:sp>
        <p:nvSpPr>
          <p:cNvPr id="13" name="Text 11"/>
          <p:cNvSpPr/>
          <p:nvPr/>
        </p:nvSpPr>
        <p:spPr>
          <a:xfrm>
            <a:off x="4544568" y="2999232"/>
            <a:ext cx="2889504" cy="777240"/>
          </a:xfrm>
          <a:prstGeom prst="rect">
            <a:avLst/>
          </a:prstGeom>
          <a:noFill/>
          <a:ln/>
        </p:spPr>
        <p:txBody>
          <a:bodyPr wrap="square" lIns="0" tIns="0" rIns="0" bIns="0" rtlCol="0" anchor="ctr"/>
          <a:lstStyle/>
          <a:p>
            <a:pPr marL="0" indent="0">
              <a:buNone/>
            </a:pPr>
            <a:r>
              <a:rPr lang="en-US" sz="1700" dirty="0">
                <a:solidFill>
                  <a:srgbClr val="172C46"/>
                </a:solidFill>
                <a:latin typeface="Arial" pitchFamily="34" charset="0"/>
                <a:ea typeface="Arial" pitchFamily="34" charset="-122"/>
                <a:cs typeface="Arial" pitchFamily="34" charset="-120"/>
              </a:rPr>
              <a:t>Hardware WAIT holds I/O.</a:t>
            </a:r>
            <a:endParaRPr lang="en-US" sz="1700" dirty="0"/>
          </a:p>
          <a:p>
            <a:pPr marL="0" indent="0">
              <a:buNone/>
            </a:pPr>
            <a:r>
              <a:rPr lang="en-US" sz="1700" dirty="0">
                <a:solidFill>
                  <a:srgbClr val="172C46"/>
                </a:solidFill>
                <a:latin typeface="Arial" pitchFamily="34" charset="0"/>
                <a:ea typeface="Arial" pitchFamily="34" charset="-122"/>
                <a:cs typeface="Arial" pitchFamily="34" charset="-120"/>
              </a:rPr>
              <a:t>Stop clock; transfer byte.</a:t>
            </a:r>
            <a:endParaRPr lang="en-US" sz="1700" dirty="0"/>
          </a:p>
          <a:p>
            <a:pPr marL="0" indent="0">
              <a:buNone/>
            </a:pPr>
            <a:r>
              <a:rPr lang="en-US" sz="1700" dirty="0">
                <a:solidFill>
                  <a:srgbClr val="172C46"/>
                </a:solidFill>
                <a:latin typeface="Arial" pitchFamily="34" charset="0"/>
                <a:ea typeface="Arial" pitchFamily="34" charset="-122"/>
                <a:cs typeface="Arial" pitchFamily="34" charset="-120"/>
              </a:rPr>
              <a:t>Step cycle; resume PWM.</a:t>
            </a:r>
            <a:endParaRPr lang="en-US" sz="1700" dirty="0"/>
          </a:p>
        </p:txBody>
      </p:sp>
      <p:sp>
        <p:nvSpPr>
          <p:cNvPr id="14" name="Shape 12"/>
          <p:cNvSpPr/>
          <p:nvPr/>
        </p:nvSpPr>
        <p:spPr>
          <a:xfrm>
            <a:off x="8211312" y="2240280"/>
            <a:ext cx="3520440" cy="1783080"/>
          </a:xfrm>
          <a:prstGeom prst="roundRect">
            <a:avLst>
              <a:gd name="adj" fmla="val 7179"/>
            </a:avLst>
          </a:prstGeom>
          <a:solidFill>
            <a:srgbClr val="E4F5EF"/>
          </a:solidFill>
          <a:ln w="12700">
            <a:solidFill>
              <a:srgbClr val="E4F5EF"/>
            </a:solidFill>
            <a:prstDash val="solid"/>
          </a:ln>
        </p:spPr>
        <p:txBody>
          <a:bodyPr/>
          <a:lstStyle/>
          <a:p>
            <a:endParaRPr lang="en-US"/>
          </a:p>
        </p:txBody>
      </p:sp>
      <p:sp>
        <p:nvSpPr>
          <p:cNvPr id="15" name="Text 13"/>
          <p:cNvSpPr/>
          <p:nvPr/>
        </p:nvSpPr>
        <p:spPr>
          <a:xfrm>
            <a:off x="8430768" y="2468880"/>
            <a:ext cx="3072384" cy="365760"/>
          </a:xfrm>
          <a:prstGeom prst="rect">
            <a:avLst/>
          </a:prstGeom>
          <a:noFill/>
          <a:ln/>
        </p:spPr>
        <p:txBody>
          <a:bodyPr wrap="square" lIns="0" tIns="0" rIns="0" bIns="0" rtlCol="0" anchor="ctr"/>
          <a:lstStyle/>
          <a:p>
            <a:pPr marL="0" indent="0">
              <a:buNone/>
            </a:pPr>
            <a:r>
              <a:rPr lang="en-US" sz="2500" b="1" dirty="0">
                <a:solidFill>
                  <a:srgbClr val="007F79"/>
                </a:solidFill>
                <a:latin typeface="Arial" pitchFamily="34" charset="0"/>
                <a:ea typeface="Arial" pitchFamily="34" charset="-122"/>
                <a:cs typeface="Arial" pitchFamily="34" charset="-120"/>
              </a:rPr>
              <a:t>Virtual peripherals</a:t>
            </a:r>
            <a:endParaRPr lang="en-US" sz="2500" dirty="0"/>
          </a:p>
        </p:txBody>
      </p:sp>
      <p:sp>
        <p:nvSpPr>
          <p:cNvPr id="16" name="Text 14"/>
          <p:cNvSpPr/>
          <p:nvPr/>
        </p:nvSpPr>
        <p:spPr>
          <a:xfrm>
            <a:off x="8430768" y="2999232"/>
            <a:ext cx="3072384" cy="777240"/>
          </a:xfrm>
          <a:prstGeom prst="rect">
            <a:avLst/>
          </a:prstGeom>
          <a:noFill/>
          <a:ln/>
        </p:spPr>
        <p:txBody>
          <a:bodyPr wrap="square" lIns="0" tIns="0" rIns="0" bIns="0" rtlCol="0" anchor="ctr"/>
          <a:lstStyle/>
          <a:p>
            <a:pPr marL="0" indent="0">
              <a:buNone/>
            </a:pPr>
            <a:r>
              <a:rPr lang="en-US" sz="1700" dirty="0">
                <a:solidFill>
                  <a:srgbClr val="172C46"/>
                </a:solidFill>
                <a:latin typeface="Arial" pitchFamily="34" charset="0"/>
                <a:ea typeface="Arial" pitchFamily="34" charset="-122"/>
                <a:cs typeface="Arial" pitchFamily="34" charset="-120"/>
              </a:rPr>
              <a:t>Console → USB or browser</a:t>
            </a:r>
            <a:endParaRPr lang="en-US" sz="1700" dirty="0"/>
          </a:p>
          <a:p>
            <a:pPr marL="0" indent="0">
              <a:buNone/>
            </a:pPr>
            <a:r>
              <a:rPr lang="en-US" sz="1700" dirty="0">
                <a:solidFill>
                  <a:srgbClr val="172C46"/>
                </a:solidFill>
                <a:latin typeface="Arial" pitchFamily="34" charset="0"/>
                <a:ea typeface="Arial" pitchFamily="34" charset="-122"/>
                <a:cs typeface="Arial" pitchFamily="34" charset="-120"/>
              </a:rPr>
              <a:t>Disks → onboard flash</a:t>
            </a:r>
            <a:endParaRPr lang="en-US" sz="1700" dirty="0"/>
          </a:p>
          <a:p>
            <a:pPr marL="0" indent="0">
              <a:buNone/>
            </a:pPr>
            <a:r>
              <a:rPr lang="en-US" sz="1700" dirty="0">
                <a:solidFill>
                  <a:srgbClr val="172C46"/>
                </a:solidFill>
                <a:latin typeface="Arial" pitchFamily="34" charset="0"/>
                <a:ea typeface="Arial" pitchFamily="34" charset="-122"/>
                <a:cs typeface="Arial" pitchFamily="34" charset="-120"/>
              </a:rPr>
              <a:t>Services → async workers</a:t>
            </a:r>
            <a:endParaRPr lang="en-US" sz="1700" dirty="0"/>
          </a:p>
        </p:txBody>
      </p:sp>
      <p:sp>
        <p:nvSpPr>
          <p:cNvPr id="17" name="Shape 15"/>
          <p:cNvSpPr/>
          <p:nvPr/>
        </p:nvSpPr>
        <p:spPr>
          <a:xfrm>
            <a:off x="3776472" y="3127248"/>
            <a:ext cx="548640" cy="0"/>
          </a:xfrm>
          <a:prstGeom prst="line">
            <a:avLst/>
          </a:prstGeom>
          <a:noFill/>
          <a:ln w="31750">
            <a:solidFill>
              <a:srgbClr val="245FC0"/>
            </a:solidFill>
            <a:prstDash val="solid"/>
            <a:tailEnd type="triangle"/>
          </a:ln>
        </p:spPr>
        <p:txBody>
          <a:bodyPr/>
          <a:lstStyle/>
          <a:p>
            <a:endParaRPr lang="en-US"/>
          </a:p>
        </p:txBody>
      </p:sp>
      <p:sp>
        <p:nvSpPr>
          <p:cNvPr id="18" name="Text 16"/>
          <p:cNvSpPr/>
          <p:nvPr/>
        </p:nvSpPr>
        <p:spPr>
          <a:xfrm>
            <a:off x="3785616" y="2734056"/>
            <a:ext cx="530352" cy="237744"/>
          </a:xfrm>
          <a:prstGeom prst="rect">
            <a:avLst/>
          </a:prstGeom>
          <a:noFill/>
          <a:ln/>
        </p:spPr>
        <p:txBody>
          <a:bodyPr wrap="square" lIns="0" tIns="0" rIns="0" bIns="0" rtlCol="0" anchor="ctr"/>
          <a:lstStyle/>
          <a:p>
            <a:pPr marL="0" indent="0" algn="ctr">
              <a:buNone/>
            </a:pPr>
            <a:r>
              <a:rPr lang="en-US" sz="1000" b="1" dirty="0">
                <a:solidFill>
                  <a:srgbClr val="245FC0"/>
                </a:solidFill>
                <a:latin typeface="Arial" pitchFamily="34" charset="0"/>
                <a:ea typeface="Arial" pitchFamily="34" charset="-122"/>
                <a:cs typeface="Arial" pitchFamily="34" charset="-120"/>
              </a:rPr>
              <a:t>IN / OUT</a:t>
            </a:r>
            <a:endParaRPr lang="en-US" sz="1000" dirty="0"/>
          </a:p>
        </p:txBody>
      </p:sp>
      <p:sp>
        <p:nvSpPr>
          <p:cNvPr id="19" name="Shape 17"/>
          <p:cNvSpPr/>
          <p:nvPr/>
        </p:nvSpPr>
        <p:spPr>
          <a:xfrm>
            <a:off x="7662672" y="3127248"/>
            <a:ext cx="548640" cy="0"/>
          </a:xfrm>
          <a:prstGeom prst="line">
            <a:avLst/>
          </a:prstGeom>
          <a:noFill/>
          <a:ln w="31750">
            <a:solidFill>
              <a:srgbClr val="007F79"/>
            </a:solidFill>
            <a:prstDash val="solid"/>
            <a:headEnd type="triangle"/>
            <a:tailEnd type="triangle"/>
          </a:ln>
        </p:spPr>
        <p:txBody>
          <a:bodyPr/>
          <a:lstStyle/>
          <a:p>
            <a:endParaRPr lang="en-US"/>
          </a:p>
        </p:txBody>
      </p:sp>
      <p:sp>
        <p:nvSpPr>
          <p:cNvPr id="20" name="Shape 18"/>
          <p:cNvSpPr/>
          <p:nvPr/>
        </p:nvSpPr>
        <p:spPr>
          <a:xfrm>
            <a:off x="438912" y="4416552"/>
            <a:ext cx="5522976" cy="1005840"/>
          </a:xfrm>
          <a:prstGeom prst="roundRect">
            <a:avLst>
              <a:gd name="adj" fmla="val 12727"/>
            </a:avLst>
          </a:prstGeom>
          <a:solidFill>
            <a:srgbClr val="FFFFFF"/>
          </a:solidFill>
          <a:ln w="12700">
            <a:solidFill>
              <a:srgbClr val="D1DBE8"/>
            </a:solidFill>
            <a:prstDash val="solid"/>
          </a:ln>
        </p:spPr>
        <p:txBody>
          <a:bodyPr/>
          <a:lstStyle/>
          <a:p>
            <a:endParaRPr lang="en-US"/>
          </a:p>
        </p:txBody>
      </p:sp>
      <p:sp>
        <p:nvSpPr>
          <p:cNvPr id="21" name="Text 19"/>
          <p:cNvSpPr/>
          <p:nvPr/>
        </p:nvSpPr>
        <p:spPr>
          <a:xfrm>
            <a:off x="640080" y="4553712"/>
            <a:ext cx="5120640" cy="274320"/>
          </a:xfrm>
          <a:prstGeom prst="rect">
            <a:avLst/>
          </a:prstGeom>
          <a:noFill/>
          <a:ln/>
        </p:spPr>
        <p:txBody>
          <a:bodyPr wrap="square" lIns="0" tIns="0" rIns="0" bIns="0" rtlCol="0" anchor="ctr"/>
          <a:lstStyle/>
          <a:p>
            <a:pPr marL="0" indent="0">
              <a:buNone/>
            </a:pPr>
            <a:r>
              <a:rPr lang="en-US" sz="1900" b="1" dirty="0">
                <a:solidFill>
                  <a:srgbClr val="172C46"/>
                </a:solidFill>
                <a:latin typeface="Arial" pitchFamily="34" charset="0"/>
                <a:ea typeface="Arial" pitchFamily="34" charset="-122"/>
                <a:cs typeface="Arial" pitchFamily="34" charset="-120"/>
              </a:rPr>
              <a:t>Console ownership</a:t>
            </a:r>
            <a:endParaRPr lang="en-US" sz="1900" dirty="0"/>
          </a:p>
        </p:txBody>
      </p:sp>
      <p:sp>
        <p:nvSpPr>
          <p:cNvPr id="22" name="Text 20"/>
          <p:cNvSpPr/>
          <p:nvPr/>
        </p:nvSpPr>
        <p:spPr>
          <a:xfrm>
            <a:off x="640080" y="4937760"/>
            <a:ext cx="5120640" cy="292608"/>
          </a:xfrm>
          <a:prstGeom prst="rect">
            <a:avLst/>
          </a:prstGeom>
          <a:noFill/>
          <a:ln/>
        </p:spPr>
        <p:txBody>
          <a:bodyPr wrap="square" lIns="0" tIns="0" rIns="0" bIns="0" rtlCol="0" anchor="ctr"/>
          <a:lstStyle/>
          <a:p>
            <a:pPr marL="0" indent="0">
              <a:buNone/>
            </a:pPr>
            <a:r>
              <a:rPr lang="en-US" sz="1600" dirty="0">
                <a:solidFill>
                  <a:srgbClr val="5B6C83"/>
                </a:solidFill>
                <a:latin typeface="Arial" pitchFamily="34" charset="0"/>
                <a:ea typeface="Arial" pitchFamily="34" charset="-122"/>
                <a:cs typeface="Arial" pitchFamily="34" charset="-120"/>
              </a:rPr>
              <a:t>One browser owns CP/M while connected; USB is the fallback.</a:t>
            </a:r>
            <a:endParaRPr lang="en-US" sz="1600" dirty="0"/>
          </a:p>
        </p:txBody>
      </p:sp>
      <p:sp>
        <p:nvSpPr>
          <p:cNvPr id="23" name="Shape 21"/>
          <p:cNvSpPr/>
          <p:nvPr/>
        </p:nvSpPr>
        <p:spPr>
          <a:xfrm>
            <a:off x="6181344" y="4416552"/>
            <a:ext cx="5550408" cy="1005840"/>
          </a:xfrm>
          <a:prstGeom prst="roundRect">
            <a:avLst>
              <a:gd name="adj" fmla="val 12727"/>
            </a:avLst>
          </a:prstGeom>
          <a:solidFill>
            <a:srgbClr val="FFFFFF"/>
          </a:solidFill>
          <a:ln w="12700">
            <a:solidFill>
              <a:srgbClr val="D1DBE8"/>
            </a:solidFill>
            <a:prstDash val="solid"/>
          </a:ln>
        </p:spPr>
        <p:txBody>
          <a:bodyPr/>
          <a:lstStyle/>
          <a:p>
            <a:endParaRPr lang="en-US"/>
          </a:p>
        </p:txBody>
      </p:sp>
      <p:sp>
        <p:nvSpPr>
          <p:cNvPr id="24" name="Text 22"/>
          <p:cNvSpPr/>
          <p:nvPr/>
        </p:nvSpPr>
        <p:spPr>
          <a:xfrm>
            <a:off x="6382512" y="4553712"/>
            <a:ext cx="5148072" cy="274320"/>
          </a:xfrm>
          <a:prstGeom prst="rect">
            <a:avLst/>
          </a:prstGeom>
          <a:noFill/>
          <a:ln/>
        </p:spPr>
        <p:txBody>
          <a:bodyPr wrap="square" lIns="0" tIns="0" rIns="0" bIns="0" rtlCol="0" anchor="ctr"/>
          <a:lstStyle/>
          <a:p>
            <a:pPr marL="0" indent="0">
              <a:buNone/>
            </a:pPr>
            <a:r>
              <a:rPr lang="en-US" sz="1900" b="1" dirty="0">
                <a:solidFill>
                  <a:srgbClr val="172C46"/>
                </a:solidFill>
                <a:latin typeface="Arial" pitchFamily="34" charset="0"/>
                <a:ea typeface="Arial" pitchFamily="34" charset="-122"/>
                <a:cs typeface="Arial" pitchFamily="34" charset="-120"/>
              </a:rPr>
              <a:t>Persistent storage</a:t>
            </a:r>
            <a:endParaRPr lang="en-US" sz="1900" dirty="0"/>
          </a:p>
        </p:txBody>
      </p:sp>
      <p:sp>
        <p:nvSpPr>
          <p:cNvPr id="25" name="Text 23"/>
          <p:cNvSpPr/>
          <p:nvPr/>
        </p:nvSpPr>
        <p:spPr>
          <a:xfrm>
            <a:off x="6382512" y="4937760"/>
            <a:ext cx="5148072" cy="292608"/>
          </a:xfrm>
          <a:prstGeom prst="rect">
            <a:avLst/>
          </a:prstGeom>
          <a:noFill/>
          <a:ln/>
        </p:spPr>
        <p:txBody>
          <a:bodyPr wrap="square" lIns="0" tIns="0" rIns="0" bIns="0" rtlCol="0" anchor="ctr"/>
          <a:lstStyle/>
          <a:p>
            <a:pPr marL="0" indent="0">
              <a:buNone/>
            </a:pPr>
            <a:r>
              <a:rPr lang="en-US" sz="1600" dirty="0">
                <a:solidFill>
                  <a:srgbClr val="5B6C83"/>
                </a:solidFill>
                <a:latin typeface="Arial" pitchFamily="34" charset="0"/>
                <a:ea typeface="Arial" pitchFamily="34" charset="-122"/>
                <a:cs typeface="Arial" pitchFamily="34" charset="-120"/>
              </a:rPr>
              <a:t>Fast reads on core 0; queued writes / flash commits on core 1.</a:t>
            </a:r>
            <a:endParaRPr lang="en-US" sz="1600" dirty="0"/>
          </a:p>
        </p:txBody>
      </p:sp>
      <p:sp>
        <p:nvSpPr>
          <p:cNvPr id="26" name="Shape 24"/>
          <p:cNvSpPr/>
          <p:nvPr/>
        </p:nvSpPr>
        <p:spPr>
          <a:xfrm>
            <a:off x="438912" y="5833872"/>
            <a:ext cx="11292840" cy="438912"/>
          </a:xfrm>
          <a:prstGeom prst="roundRect">
            <a:avLst>
              <a:gd name="adj" fmla="val 29167"/>
            </a:avLst>
          </a:prstGeom>
          <a:solidFill>
            <a:srgbClr val="E8F0FF"/>
          </a:solidFill>
          <a:ln w="12700">
            <a:solidFill>
              <a:srgbClr val="E8F0FF"/>
            </a:solidFill>
            <a:prstDash val="solid"/>
          </a:ln>
        </p:spPr>
        <p:txBody>
          <a:bodyPr/>
          <a:lstStyle/>
          <a:p>
            <a:endParaRPr lang="en-US"/>
          </a:p>
        </p:txBody>
      </p:sp>
      <p:sp>
        <p:nvSpPr>
          <p:cNvPr id="27" name="Text 25"/>
          <p:cNvSpPr/>
          <p:nvPr/>
        </p:nvSpPr>
        <p:spPr>
          <a:xfrm>
            <a:off x="612648" y="5897880"/>
            <a:ext cx="10945368" cy="301752"/>
          </a:xfrm>
          <a:prstGeom prst="rect">
            <a:avLst/>
          </a:prstGeom>
          <a:noFill/>
          <a:ln/>
        </p:spPr>
        <p:txBody>
          <a:bodyPr wrap="square" lIns="0" tIns="0" rIns="0" bIns="0" rtlCol="0" anchor="ctr"/>
          <a:lstStyle/>
          <a:p>
            <a:pPr marL="0" indent="0" algn="ctr">
              <a:buNone/>
            </a:pPr>
            <a:r>
              <a:rPr lang="en-US" sz="1600" b="1" dirty="0">
                <a:solidFill>
                  <a:srgbClr val="245FC0"/>
                </a:solidFill>
                <a:latin typeface="Arial" pitchFamily="34" charset="0"/>
                <a:ea typeface="Arial" pitchFamily="34" charset="-122"/>
                <a:cs typeface="Arial" pitchFamily="34" charset="-120"/>
              </a:rPr>
              <a:t>Runtime flash programming pauses the Z80 through a bus-grant handshake; the Pico still never masters SRAM.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970" cy="64008"/>
          </a:xfrm>
          <a:prstGeom prst="rect">
            <a:avLst/>
          </a:prstGeom>
          <a:solidFill>
            <a:srgbClr val="172C46"/>
          </a:solidFill>
          <a:ln w="12700">
            <a:solidFill>
              <a:srgbClr val="172C46"/>
            </a:solidFill>
            <a:prstDash val="solid"/>
          </a:ln>
        </p:spPr>
        <p:txBody>
          <a:bodyPr/>
          <a:lstStyle/>
          <a:p>
            <a:endParaRPr lang="en-US"/>
          </a:p>
        </p:txBody>
      </p:sp>
      <p:sp>
        <p:nvSpPr>
          <p:cNvPr id="3" name="Text 1"/>
          <p:cNvSpPr/>
          <p:nvPr/>
        </p:nvSpPr>
        <p:spPr>
          <a:xfrm>
            <a:off x="411480" y="228600"/>
            <a:ext cx="10058400" cy="256032"/>
          </a:xfrm>
          <a:prstGeom prst="rect">
            <a:avLst/>
          </a:prstGeom>
          <a:noFill/>
          <a:ln/>
        </p:spPr>
        <p:txBody>
          <a:bodyPr wrap="square" lIns="0" tIns="0" rIns="0" bIns="0" rtlCol="0" anchor="ctr"/>
          <a:lstStyle/>
          <a:p>
            <a:pPr marL="0" indent="0">
              <a:buNone/>
            </a:pPr>
            <a:r>
              <a:rPr lang="en-US" sz="1100" b="1" kern="0" spc="150" dirty="0">
                <a:solidFill>
                  <a:srgbClr val="5B6C83"/>
                </a:solidFill>
                <a:latin typeface="Arial" pitchFamily="34" charset="0"/>
                <a:ea typeface="Arial" pitchFamily="34" charset="-122"/>
                <a:cs typeface="Arial" pitchFamily="34" charset="-120"/>
              </a:rPr>
              <a:t>Z80 ROMLESS SBC  /  DESIGN OVERVIEW</a:t>
            </a:r>
            <a:endParaRPr lang="en-US" sz="1100" dirty="0"/>
          </a:p>
        </p:txBody>
      </p:sp>
      <p:sp>
        <p:nvSpPr>
          <p:cNvPr id="4" name="Text 2"/>
          <p:cNvSpPr/>
          <p:nvPr/>
        </p:nvSpPr>
        <p:spPr>
          <a:xfrm>
            <a:off x="411480" y="713232"/>
            <a:ext cx="11338560" cy="594360"/>
          </a:xfrm>
          <a:prstGeom prst="rect">
            <a:avLst/>
          </a:prstGeom>
          <a:noFill/>
          <a:ln/>
        </p:spPr>
        <p:txBody>
          <a:bodyPr wrap="square" lIns="0" tIns="0" rIns="0" bIns="0" rtlCol="0" anchor="ctr"/>
          <a:lstStyle/>
          <a:p>
            <a:pPr marL="0" indent="0">
              <a:buNone/>
            </a:pPr>
            <a:r>
              <a:rPr lang="en-US" sz="3300" b="1" dirty="0">
                <a:solidFill>
                  <a:srgbClr val="172C46"/>
                </a:solidFill>
                <a:latin typeface="Arial" pitchFamily="34" charset="0"/>
                <a:ea typeface="Arial" pitchFamily="34" charset="-122"/>
                <a:cs typeface="Arial" pitchFamily="34" charset="-120"/>
              </a:rPr>
              <a:t>The design in three ideas</a:t>
            </a:r>
            <a:endParaRPr lang="en-US" sz="3300" dirty="0"/>
          </a:p>
        </p:txBody>
      </p:sp>
      <p:sp>
        <p:nvSpPr>
          <p:cNvPr id="5" name="Text 3"/>
          <p:cNvSpPr/>
          <p:nvPr/>
        </p:nvSpPr>
        <p:spPr>
          <a:xfrm>
            <a:off x="438912" y="1362456"/>
            <a:ext cx="11155680" cy="457200"/>
          </a:xfrm>
          <a:prstGeom prst="rect">
            <a:avLst/>
          </a:prstGeom>
          <a:noFill/>
          <a:ln/>
        </p:spPr>
        <p:txBody>
          <a:bodyPr wrap="square" lIns="0" tIns="0" rIns="0" bIns="0" rtlCol="0" anchor="ctr"/>
          <a:lstStyle/>
          <a:p>
            <a:pPr marL="0" indent="0">
              <a:buNone/>
            </a:pPr>
            <a:r>
              <a:rPr lang="en-US" sz="1800" dirty="0">
                <a:solidFill>
                  <a:srgbClr val="5B6C83"/>
                </a:solidFill>
                <a:latin typeface="Arial" pitchFamily="34" charset="0"/>
                <a:ea typeface="Arial" pitchFamily="34" charset="-122"/>
                <a:cs typeface="Arial" pitchFamily="34" charset="-120"/>
              </a:rPr>
              <a:t>A small hardware system with clear boundaries between execution, I/O and connectivity.</a:t>
            </a:r>
            <a:endParaRPr lang="en-US" sz="1800" dirty="0"/>
          </a:p>
        </p:txBody>
      </p:sp>
      <p:sp>
        <p:nvSpPr>
          <p:cNvPr id="6" name="Text 4"/>
          <p:cNvSpPr/>
          <p:nvPr/>
        </p:nvSpPr>
        <p:spPr>
          <a:xfrm>
            <a:off x="411480" y="6510528"/>
            <a:ext cx="10607040" cy="182880"/>
          </a:xfrm>
          <a:prstGeom prst="rect">
            <a:avLst/>
          </a:prstGeom>
          <a:noFill/>
          <a:ln/>
        </p:spPr>
        <p:txBody>
          <a:bodyPr wrap="square" lIns="0" tIns="0" rIns="0" bIns="0" rtlCol="0" anchor="ctr"/>
          <a:lstStyle/>
          <a:p>
            <a:pPr marL="0" indent="0">
              <a:buNone/>
            </a:pPr>
            <a:r>
              <a:rPr lang="en-US" sz="1000" dirty="0">
                <a:solidFill>
                  <a:srgbClr val="5B6C83"/>
                </a:solidFill>
                <a:latin typeface="Arial" pitchFamily="34" charset="0"/>
                <a:ea typeface="Arial" pitchFamily="34" charset="-122"/>
                <a:cs typeface="Arial" pitchFamily="34" charset="-120"/>
              </a:rPr>
              <a:t>Stage 10 implementation | Current breadboard architecture | 24 October 2026</a:t>
            </a:r>
            <a:endParaRPr lang="en-US" sz="1000" dirty="0"/>
          </a:p>
        </p:txBody>
      </p:sp>
      <p:sp>
        <p:nvSpPr>
          <p:cNvPr id="7" name="Text 5"/>
          <p:cNvSpPr/>
          <p:nvPr/>
        </p:nvSpPr>
        <p:spPr>
          <a:xfrm>
            <a:off x="11292840" y="6473952"/>
            <a:ext cx="457200" cy="274320"/>
          </a:xfrm>
          <a:prstGeom prst="rect">
            <a:avLst/>
          </a:prstGeom>
          <a:noFill/>
          <a:ln/>
        </p:spPr>
        <p:txBody>
          <a:bodyPr wrap="square" lIns="0" tIns="0" rIns="0" bIns="0" rtlCol="0" anchor="ctr"/>
          <a:lstStyle/>
          <a:p>
            <a:pPr marL="0" indent="0" algn="r">
              <a:buNone/>
            </a:pPr>
            <a:r>
              <a:rPr lang="en-US" sz="1200" dirty="0">
                <a:solidFill>
                  <a:srgbClr val="5B6C83"/>
                </a:solidFill>
                <a:latin typeface="Arial" pitchFamily="34" charset="0"/>
                <a:ea typeface="Arial" pitchFamily="34" charset="-122"/>
                <a:cs typeface="Arial" pitchFamily="34" charset="-120"/>
              </a:rPr>
              <a:t>06</a:t>
            </a:r>
            <a:endParaRPr lang="en-US" sz="1200" dirty="0"/>
          </a:p>
        </p:txBody>
      </p:sp>
      <p:sp>
        <p:nvSpPr>
          <p:cNvPr id="8" name="Shape 6"/>
          <p:cNvSpPr/>
          <p:nvPr/>
        </p:nvSpPr>
        <p:spPr>
          <a:xfrm>
            <a:off x="438912" y="2194560"/>
            <a:ext cx="11292840" cy="932688"/>
          </a:xfrm>
          <a:prstGeom prst="roundRect">
            <a:avLst>
              <a:gd name="adj" fmla="val 13725"/>
            </a:avLst>
          </a:prstGeom>
          <a:solidFill>
            <a:srgbClr val="F0E9FA"/>
          </a:solidFill>
          <a:ln w="12700">
            <a:solidFill>
              <a:srgbClr val="F0E9FA"/>
            </a:solidFill>
            <a:prstDash val="solid"/>
          </a:ln>
        </p:spPr>
        <p:txBody>
          <a:bodyPr/>
          <a:lstStyle/>
          <a:p>
            <a:endParaRPr lang="en-US"/>
          </a:p>
        </p:txBody>
      </p:sp>
      <p:sp>
        <p:nvSpPr>
          <p:cNvPr id="9" name="Text 7"/>
          <p:cNvSpPr/>
          <p:nvPr/>
        </p:nvSpPr>
        <p:spPr>
          <a:xfrm>
            <a:off x="685800" y="2395728"/>
            <a:ext cx="640080" cy="438912"/>
          </a:xfrm>
          <a:prstGeom prst="rect">
            <a:avLst/>
          </a:prstGeom>
          <a:noFill/>
          <a:ln/>
        </p:spPr>
        <p:txBody>
          <a:bodyPr wrap="square" lIns="0" tIns="0" rIns="0" bIns="0" rtlCol="0" anchor="ctr"/>
          <a:lstStyle/>
          <a:p>
            <a:pPr marL="0" indent="0">
              <a:buNone/>
            </a:pPr>
            <a:r>
              <a:rPr lang="en-US" sz="2700" b="1" dirty="0">
                <a:solidFill>
                  <a:srgbClr val="7545AC"/>
                </a:solidFill>
                <a:latin typeface="Arial" pitchFamily="34" charset="0"/>
                <a:ea typeface="Arial" pitchFamily="34" charset="-122"/>
                <a:cs typeface="Arial" pitchFamily="34" charset="-120"/>
              </a:rPr>
              <a:t>01</a:t>
            </a:r>
            <a:endParaRPr lang="en-US" sz="2700" dirty="0"/>
          </a:p>
        </p:txBody>
      </p:sp>
      <p:sp>
        <p:nvSpPr>
          <p:cNvPr id="10" name="Text 8"/>
          <p:cNvSpPr/>
          <p:nvPr/>
        </p:nvSpPr>
        <p:spPr>
          <a:xfrm>
            <a:off x="1499616" y="2304288"/>
            <a:ext cx="9875520" cy="329184"/>
          </a:xfrm>
          <a:prstGeom prst="rect">
            <a:avLst/>
          </a:prstGeom>
          <a:noFill/>
          <a:ln/>
        </p:spPr>
        <p:txBody>
          <a:bodyPr wrap="square" lIns="0" tIns="0" rIns="0" bIns="0" rtlCol="0" anchor="ctr"/>
          <a:lstStyle/>
          <a:p>
            <a:pPr marL="0" indent="0">
              <a:buNone/>
            </a:pPr>
            <a:r>
              <a:rPr lang="en-US" sz="2200" b="1" dirty="0">
                <a:solidFill>
                  <a:srgbClr val="7545AC"/>
                </a:solidFill>
                <a:latin typeface="Arial" pitchFamily="34" charset="0"/>
                <a:ea typeface="Arial" pitchFamily="34" charset="-122"/>
                <a:cs typeface="Arial" pitchFamily="34" charset="-120"/>
              </a:rPr>
              <a:t>Real Z80 execution</a:t>
            </a:r>
            <a:endParaRPr lang="en-US" sz="2200" dirty="0"/>
          </a:p>
        </p:txBody>
      </p:sp>
      <p:sp>
        <p:nvSpPr>
          <p:cNvPr id="11" name="Text 9"/>
          <p:cNvSpPr/>
          <p:nvPr/>
        </p:nvSpPr>
        <p:spPr>
          <a:xfrm>
            <a:off x="1499616" y="2715768"/>
            <a:ext cx="9875520" cy="27432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CP/M and applications run on the Z80, directly from SRAM.</a:t>
            </a:r>
            <a:endParaRPr lang="en-US" sz="1800" dirty="0"/>
          </a:p>
        </p:txBody>
      </p:sp>
      <p:sp>
        <p:nvSpPr>
          <p:cNvPr id="12" name="Shape 10"/>
          <p:cNvSpPr/>
          <p:nvPr/>
        </p:nvSpPr>
        <p:spPr>
          <a:xfrm>
            <a:off x="438912" y="3319272"/>
            <a:ext cx="11292840" cy="932688"/>
          </a:xfrm>
          <a:prstGeom prst="roundRect">
            <a:avLst>
              <a:gd name="adj" fmla="val 13725"/>
            </a:avLst>
          </a:prstGeom>
          <a:solidFill>
            <a:srgbClr val="E8F0FF"/>
          </a:solidFill>
          <a:ln w="12700">
            <a:solidFill>
              <a:srgbClr val="E8F0FF"/>
            </a:solidFill>
            <a:prstDash val="solid"/>
          </a:ln>
        </p:spPr>
        <p:txBody>
          <a:bodyPr/>
          <a:lstStyle/>
          <a:p>
            <a:endParaRPr lang="en-US"/>
          </a:p>
        </p:txBody>
      </p:sp>
      <p:sp>
        <p:nvSpPr>
          <p:cNvPr id="13" name="Text 11"/>
          <p:cNvSpPr/>
          <p:nvPr/>
        </p:nvSpPr>
        <p:spPr>
          <a:xfrm>
            <a:off x="685800" y="3520440"/>
            <a:ext cx="640080" cy="438912"/>
          </a:xfrm>
          <a:prstGeom prst="rect">
            <a:avLst/>
          </a:prstGeom>
          <a:noFill/>
          <a:ln/>
        </p:spPr>
        <p:txBody>
          <a:bodyPr wrap="square" lIns="0" tIns="0" rIns="0" bIns="0" rtlCol="0" anchor="ctr"/>
          <a:lstStyle/>
          <a:p>
            <a:pPr marL="0" indent="0">
              <a:buNone/>
            </a:pPr>
            <a:r>
              <a:rPr lang="en-US" sz="2700" b="1" dirty="0">
                <a:solidFill>
                  <a:srgbClr val="245FC0"/>
                </a:solidFill>
                <a:latin typeface="Arial" pitchFamily="34" charset="0"/>
                <a:ea typeface="Arial" pitchFamily="34" charset="-122"/>
                <a:cs typeface="Arial" pitchFamily="34" charset="-120"/>
              </a:rPr>
              <a:t>02</a:t>
            </a:r>
            <a:endParaRPr lang="en-US" sz="2700" dirty="0"/>
          </a:p>
        </p:txBody>
      </p:sp>
      <p:sp>
        <p:nvSpPr>
          <p:cNvPr id="14" name="Text 12"/>
          <p:cNvSpPr/>
          <p:nvPr/>
        </p:nvSpPr>
        <p:spPr>
          <a:xfrm>
            <a:off x="1499616" y="3429000"/>
            <a:ext cx="9875520" cy="329184"/>
          </a:xfrm>
          <a:prstGeom prst="rect">
            <a:avLst/>
          </a:prstGeom>
          <a:noFill/>
          <a:ln/>
        </p:spPr>
        <p:txBody>
          <a:bodyPr wrap="square" lIns="0" tIns="0" rIns="0" bIns="0" rtlCol="0" anchor="ctr"/>
          <a:lstStyle/>
          <a:p>
            <a:pPr marL="0" indent="0">
              <a:buNone/>
            </a:pPr>
            <a:r>
              <a:rPr lang="en-US" sz="2200" b="1" dirty="0">
                <a:solidFill>
                  <a:srgbClr val="245FC0"/>
                </a:solidFill>
                <a:latin typeface="Arial" pitchFamily="34" charset="0"/>
                <a:ea typeface="Arial" pitchFamily="34" charset="-122"/>
                <a:cs typeface="Arial" pitchFamily="34" charset="-120"/>
              </a:rPr>
              <a:t>Pico as the multicore I/O controller</a:t>
            </a:r>
            <a:endParaRPr lang="en-US" sz="2200" dirty="0"/>
          </a:p>
        </p:txBody>
      </p:sp>
      <p:sp>
        <p:nvSpPr>
          <p:cNvPr id="15" name="Text 13"/>
          <p:cNvSpPr/>
          <p:nvPr/>
        </p:nvSpPr>
        <p:spPr>
          <a:xfrm>
            <a:off x="1499616" y="3840480"/>
            <a:ext cx="9875520" cy="27432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Core 0 handles the Z80; core 1 owns USB, storage and networking.</a:t>
            </a:r>
            <a:endParaRPr lang="en-US" sz="1800" dirty="0"/>
          </a:p>
        </p:txBody>
      </p:sp>
      <p:sp>
        <p:nvSpPr>
          <p:cNvPr id="16" name="Shape 14"/>
          <p:cNvSpPr/>
          <p:nvPr/>
        </p:nvSpPr>
        <p:spPr>
          <a:xfrm>
            <a:off x="438912" y="4443984"/>
            <a:ext cx="11292840" cy="932688"/>
          </a:xfrm>
          <a:prstGeom prst="roundRect">
            <a:avLst>
              <a:gd name="adj" fmla="val 13725"/>
            </a:avLst>
          </a:prstGeom>
          <a:solidFill>
            <a:srgbClr val="FFF0DB"/>
          </a:solidFill>
          <a:ln w="12700">
            <a:solidFill>
              <a:srgbClr val="FFF0DB"/>
            </a:solidFill>
            <a:prstDash val="solid"/>
          </a:ln>
        </p:spPr>
        <p:txBody>
          <a:bodyPr/>
          <a:lstStyle/>
          <a:p>
            <a:endParaRPr lang="en-US"/>
          </a:p>
        </p:txBody>
      </p:sp>
      <p:sp>
        <p:nvSpPr>
          <p:cNvPr id="17" name="Text 15"/>
          <p:cNvSpPr/>
          <p:nvPr/>
        </p:nvSpPr>
        <p:spPr>
          <a:xfrm>
            <a:off x="685800" y="4645152"/>
            <a:ext cx="640080" cy="438912"/>
          </a:xfrm>
          <a:prstGeom prst="rect">
            <a:avLst/>
          </a:prstGeom>
          <a:noFill/>
          <a:ln/>
        </p:spPr>
        <p:txBody>
          <a:bodyPr wrap="square" lIns="0" tIns="0" rIns="0" bIns="0" rtlCol="0" anchor="ctr"/>
          <a:lstStyle/>
          <a:p>
            <a:pPr marL="0" indent="0">
              <a:buNone/>
            </a:pPr>
            <a:r>
              <a:rPr lang="en-US" sz="2700" b="1" dirty="0">
                <a:solidFill>
                  <a:srgbClr val="BC6211"/>
                </a:solidFill>
                <a:latin typeface="Arial" pitchFamily="34" charset="0"/>
                <a:ea typeface="Arial" pitchFamily="34" charset="-122"/>
                <a:cs typeface="Arial" pitchFamily="34" charset="-120"/>
              </a:rPr>
              <a:t>03</a:t>
            </a:r>
            <a:endParaRPr lang="en-US" sz="2700" dirty="0"/>
          </a:p>
        </p:txBody>
      </p:sp>
      <p:sp>
        <p:nvSpPr>
          <p:cNvPr id="18" name="Text 16"/>
          <p:cNvSpPr/>
          <p:nvPr/>
        </p:nvSpPr>
        <p:spPr>
          <a:xfrm>
            <a:off x="1499616" y="4553712"/>
            <a:ext cx="9875520" cy="329184"/>
          </a:xfrm>
          <a:prstGeom prst="rect">
            <a:avLst/>
          </a:prstGeom>
          <a:noFill/>
          <a:ln/>
        </p:spPr>
        <p:txBody>
          <a:bodyPr wrap="square" lIns="0" tIns="0" rIns="0" bIns="0" rtlCol="0" anchor="ctr"/>
          <a:lstStyle/>
          <a:p>
            <a:pPr marL="0" indent="0">
              <a:buNone/>
            </a:pPr>
            <a:r>
              <a:rPr lang="en-US" sz="2200" b="1" dirty="0">
                <a:solidFill>
                  <a:srgbClr val="BC6211"/>
                </a:solidFill>
                <a:latin typeface="Arial" pitchFamily="34" charset="0"/>
                <a:ea typeface="Arial" pitchFamily="34" charset="-122"/>
                <a:cs typeface="Arial" pitchFamily="34" charset="-120"/>
              </a:rPr>
              <a:t>ROMless, self-loading memory</a:t>
            </a:r>
            <a:endParaRPr lang="en-US" sz="2200" dirty="0"/>
          </a:p>
        </p:txBody>
      </p:sp>
      <p:sp>
        <p:nvSpPr>
          <p:cNvPr id="19" name="Text 17"/>
          <p:cNvSpPr/>
          <p:nvPr/>
        </p:nvSpPr>
        <p:spPr>
          <a:xfrm>
            <a:off x="1499616" y="4965192"/>
            <a:ext cx="9875520" cy="274320"/>
          </a:xfrm>
          <a:prstGeom prst="rect">
            <a:avLst/>
          </a:prstGeom>
          <a:noFill/>
          <a:ln/>
        </p:spPr>
        <p:txBody>
          <a:bodyPr wrap="square" lIns="0" tIns="0" rIns="0" bIns="0" rtlCol="0" anchor="ctr"/>
          <a:lstStyle/>
          <a:p>
            <a:pPr marL="0" indent="0">
              <a:buNone/>
            </a:pPr>
            <a:r>
              <a:rPr lang="en-US" sz="1800" dirty="0">
                <a:solidFill>
                  <a:srgbClr val="172C46"/>
                </a:solidFill>
                <a:latin typeface="Arial" pitchFamily="34" charset="0"/>
                <a:ea typeface="Arial" pitchFamily="34" charset="-122"/>
                <a:cs typeface="Arial" pitchFamily="34" charset="-120"/>
              </a:rPr>
              <a:t>The Pico loads and verifies SRAM. PIO1 selects either 64 KiB bank without changing the 20 MHz clock.</a:t>
            </a:r>
            <a:endParaRPr lang="en-US" sz="1800" dirty="0"/>
          </a:p>
        </p:txBody>
      </p:sp>
      <p:sp>
        <p:nvSpPr>
          <p:cNvPr id="20" name="Text 18"/>
          <p:cNvSpPr/>
          <p:nvPr/>
        </p:nvSpPr>
        <p:spPr>
          <a:xfrm>
            <a:off x="548640" y="5815584"/>
            <a:ext cx="11064240" cy="384048"/>
          </a:xfrm>
          <a:prstGeom prst="rect">
            <a:avLst/>
          </a:prstGeom>
          <a:noFill/>
          <a:ln/>
        </p:spPr>
        <p:txBody>
          <a:bodyPr wrap="square" lIns="0" tIns="0" rIns="0" bIns="0" rtlCol="0" anchor="ctr"/>
          <a:lstStyle/>
          <a:p>
            <a:pPr marL="0" indent="0" algn="ctr">
              <a:buNone/>
            </a:pPr>
            <a:r>
              <a:rPr lang="en-US" sz="2200" b="1" dirty="0">
                <a:solidFill>
                  <a:srgbClr val="172C46"/>
                </a:solidFill>
                <a:latin typeface="Arial" pitchFamily="34" charset="0"/>
                <a:ea typeface="Arial" pitchFamily="34" charset="-122"/>
                <a:cs typeface="Arial" pitchFamily="34" charset="-120"/>
              </a:rPr>
              <a:t>No ROM chip. No Z80 emulation. No Pico memory-bus mastering.</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17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10058400" cy="256032"/>
          </a:xfrm>
          <a:prstGeom prst="rect">
            <a:avLst/>
          </a:prstGeom>
          <a:noFill/>
        </p:spPr>
        <p:txBody>
          <a:bodyPr wrap="square" lIns="0" tIns="0" rIns="0" bIns="0" anchor="ctr">
            <a:spAutoFit/>
          </a:bodyPr>
          <a:lstStyle/>
          <a:p>
            <a:pPr>
              <a:defRPr sz="1100" b="1">
                <a:solidFill>
                  <a:srgbClr val="172C46"/>
                </a:solidFill>
                <a:latin typeface="Arial"/>
              </a:defRPr>
            </a:pPr>
            <a:r>
              <a:t>Z80 ROMLESS SBC  /  DESIGN OVERVIEW</a:t>
            </a:r>
          </a:p>
        </p:txBody>
      </p:sp>
      <p:sp>
        <p:nvSpPr>
          <p:cNvPr id="4" name="TextBox 3"/>
          <p:cNvSpPr txBox="1"/>
          <p:nvPr/>
        </p:nvSpPr>
        <p:spPr>
          <a:xfrm>
            <a:off x="411480" y="713232"/>
            <a:ext cx="11338560" cy="594360"/>
          </a:xfrm>
          <a:prstGeom prst="rect">
            <a:avLst/>
          </a:prstGeom>
          <a:noFill/>
        </p:spPr>
        <p:txBody>
          <a:bodyPr wrap="square" lIns="0" tIns="0" rIns="0" bIns="0" anchor="ctr">
            <a:spAutoFit/>
          </a:bodyPr>
          <a:lstStyle/>
          <a:p>
            <a:pPr>
              <a:defRPr sz="3100" b="1">
                <a:solidFill>
                  <a:srgbClr val="172C46"/>
                </a:solidFill>
                <a:latin typeface="Arial"/>
              </a:defRPr>
            </a:pPr>
            <a:r>
              <a:t>The processors and memory</a:t>
            </a:r>
          </a:p>
        </p:txBody>
      </p:sp>
      <p:sp>
        <p:nvSpPr>
          <p:cNvPr id="5" name="TextBox 4"/>
          <p:cNvSpPr txBox="1"/>
          <p:nvPr/>
        </p:nvSpPr>
        <p:spPr>
          <a:xfrm>
            <a:off x="438912" y="1362456"/>
            <a:ext cx="11155680" cy="457200"/>
          </a:xfrm>
          <a:prstGeom prst="rect">
            <a:avLst/>
          </a:prstGeom>
          <a:noFill/>
        </p:spPr>
        <p:txBody>
          <a:bodyPr wrap="square" lIns="0" tIns="0" rIns="0" bIns="0" anchor="ctr">
            <a:spAutoFit/>
          </a:bodyPr>
          <a:lstStyle/>
          <a:p>
            <a:pPr>
              <a:defRPr sz="1700" b="0">
                <a:solidFill>
                  <a:srgbClr val="536273"/>
                </a:solidFill>
                <a:latin typeface="Arial"/>
              </a:defRPr>
            </a:pPr>
            <a:r>
              <a:t>Three devices do the work: the Z80 executes, SRAM stores, and the Pico orchestrates.</a:t>
            </a:r>
          </a:p>
        </p:txBody>
      </p:sp>
      <p:sp>
        <p:nvSpPr>
          <p:cNvPr id="6" name="TextBox 5"/>
          <p:cNvSpPr txBox="1"/>
          <p:nvPr/>
        </p:nvSpPr>
        <p:spPr>
          <a:xfrm>
            <a:off x="411480" y="6510528"/>
            <a:ext cx="10607040" cy="182880"/>
          </a:xfrm>
          <a:prstGeom prst="rect">
            <a:avLst/>
          </a:prstGeom>
          <a:noFill/>
        </p:spPr>
        <p:txBody>
          <a:bodyPr wrap="square" lIns="0" tIns="0" rIns="0" bIns="0" anchor="ctr">
            <a:spAutoFit/>
          </a:bodyPr>
          <a:lstStyle/>
          <a:p>
            <a:pPr>
              <a:defRPr sz="1000" b="0">
                <a:solidFill>
                  <a:srgbClr val="687385"/>
                </a:solidFill>
                <a:latin typeface="Arial"/>
              </a:defRPr>
            </a:pPr>
            <a:r>
              <a:t>Stage 10 implementation | Current breadboard architecture | 24 October 2026</a:t>
            </a:r>
          </a:p>
        </p:txBody>
      </p:sp>
      <p:sp>
        <p:nvSpPr>
          <p:cNvPr id="7" name="TextBox 6"/>
          <p:cNvSpPr txBox="1"/>
          <p:nvPr/>
        </p:nvSpPr>
        <p:spPr>
          <a:xfrm>
            <a:off x="11292840" y="6473952"/>
            <a:ext cx="457200" cy="274320"/>
          </a:xfrm>
          <a:prstGeom prst="rect">
            <a:avLst/>
          </a:prstGeom>
          <a:noFill/>
        </p:spPr>
        <p:txBody>
          <a:bodyPr wrap="square" lIns="0" tIns="0" rIns="0" bIns="0" anchor="ctr">
            <a:spAutoFit/>
          </a:bodyPr>
          <a:lstStyle/>
          <a:p>
            <a:pPr>
              <a:defRPr sz="1200" b="1">
                <a:solidFill>
                  <a:srgbClr val="172C46"/>
                </a:solidFill>
                <a:latin typeface="Arial"/>
              </a:defRPr>
            </a:pPr>
            <a:r>
              <a:t>07</a:t>
            </a:r>
          </a:p>
        </p:txBody>
      </p:sp>
      <p:sp>
        <p:nvSpPr>
          <p:cNvPr id="8" name="Rectangle 7"/>
          <p:cNvSpPr/>
          <p:nvPr/>
        </p:nvSpPr>
        <p:spPr>
          <a:xfrm>
            <a:off x="438912" y="2176272"/>
            <a:ext cx="3648456" cy="3054096"/>
          </a:xfrm>
          <a:prstGeom prst="rect">
            <a:avLst/>
          </a:prstGeom>
          <a:solidFill>
            <a:srgbClr val="E4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A1  /  CONTROLLER</a:t>
            </a:r>
          </a:p>
        </p:txBody>
      </p:sp>
      <p:sp>
        <p:nvSpPr>
          <p:cNvPr id="10" name="TextBox 9"/>
          <p:cNvSpPr txBox="1"/>
          <p:nvPr/>
        </p:nvSpPr>
        <p:spPr>
          <a:xfrm>
            <a:off x="649224" y="2569464"/>
            <a:ext cx="3227832" cy="365760"/>
          </a:xfrm>
          <a:prstGeom prst="rect">
            <a:avLst/>
          </a:prstGeom>
          <a:noFill/>
        </p:spPr>
        <p:txBody>
          <a:bodyPr wrap="square" lIns="0" tIns="0" rIns="0" bIns="0" anchor="ctr">
            <a:spAutoFit/>
          </a:bodyPr>
          <a:lstStyle/>
          <a:p>
            <a:pPr>
              <a:defRPr sz="2000" b="1">
                <a:solidFill>
                  <a:srgbClr val="172C46"/>
                </a:solidFill>
                <a:latin typeface="Arial"/>
              </a:defRPr>
            </a:pPr>
            <a:r>
              <a:t>Pico 2 W</a:t>
            </a:r>
          </a:p>
        </p:txBody>
      </p:sp>
      <p:sp>
        <p:nvSpPr>
          <p:cNvPr id="11" name="TextBox 10"/>
          <p:cNvSpPr txBox="1"/>
          <p:nvPr/>
        </p:nvSpPr>
        <p:spPr>
          <a:xfrm>
            <a:off x="649224"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RP2350 dual-core module</a:t>
            </a:r>
          </a:p>
        </p:txBody>
      </p:sp>
      <p:sp>
        <p:nvSpPr>
          <p:cNvPr id="12" name="TextBox 11"/>
          <p:cNvSpPr txBox="1"/>
          <p:nvPr/>
        </p:nvSpPr>
        <p:spPr>
          <a:xfrm>
            <a:off x="649224"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13" name="TextBox 12"/>
          <p:cNvSpPr txBox="1"/>
          <p:nvPr/>
        </p:nvSpPr>
        <p:spPr>
          <a:xfrm>
            <a:off x="996695"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Core 0: Z80 control</a:t>
            </a:r>
          </a:p>
        </p:txBody>
      </p:sp>
      <p:sp>
        <p:nvSpPr>
          <p:cNvPr id="14" name="TextBox 13"/>
          <p:cNvSpPr txBox="1"/>
          <p:nvPr/>
        </p:nvSpPr>
        <p:spPr>
          <a:xfrm>
            <a:off x="996695"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Clocks/resets CPU; PIO1 bank switch; injects/verifies SRAM.</a:t>
            </a:r>
          </a:p>
        </p:txBody>
      </p:sp>
      <p:sp>
        <p:nvSpPr>
          <p:cNvPr id="15" name="TextBox 14"/>
          <p:cNvSpPr txBox="1"/>
          <p:nvPr/>
        </p:nvSpPr>
        <p:spPr>
          <a:xfrm>
            <a:off x="649224"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16" name="TextBox 15"/>
          <p:cNvSpPr txBox="1"/>
          <p:nvPr/>
        </p:nvSpPr>
        <p:spPr>
          <a:xfrm>
            <a:off x="996695"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Core 1: external I/O</a:t>
            </a:r>
          </a:p>
        </p:txBody>
      </p:sp>
      <p:sp>
        <p:nvSpPr>
          <p:cNvPr id="17" name="TextBox 16"/>
          <p:cNvSpPr txBox="1"/>
          <p:nvPr/>
        </p:nvSpPr>
        <p:spPr>
          <a:xfrm>
            <a:off x="996695"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Owns USB, Wi-Fi, flash disks, services and PIO0 I²C display.</a:t>
            </a:r>
          </a:p>
        </p:txBody>
      </p:sp>
      <p:sp>
        <p:nvSpPr>
          <p:cNvPr id="18" name="TextBox 17"/>
          <p:cNvSpPr txBox="1"/>
          <p:nvPr/>
        </p:nvSpPr>
        <p:spPr>
          <a:xfrm>
            <a:off x="649224"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19" name="TextBox 18"/>
          <p:cNvSpPr txBox="1"/>
          <p:nvPr/>
        </p:nvSpPr>
        <p:spPr>
          <a:xfrm>
            <a:off x="996695"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Supervisor, not CPU</a:t>
            </a:r>
          </a:p>
        </p:txBody>
      </p:sp>
      <p:sp>
        <p:nvSpPr>
          <p:cNvPr id="20" name="TextBox 19"/>
          <p:cNvSpPr txBox="1"/>
          <p:nvPr/>
        </p:nvSpPr>
        <p:spPr>
          <a:xfrm>
            <a:off x="996695"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Does not emulate the Z80 or drive A0-A15 / SRAM writes.</a:t>
            </a:r>
          </a:p>
        </p:txBody>
      </p:sp>
      <p:sp>
        <p:nvSpPr>
          <p:cNvPr id="21" name="Rectangle 20"/>
          <p:cNvSpPr/>
          <p:nvPr/>
        </p:nvSpPr>
        <p:spPr>
          <a:xfrm>
            <a:off x="4261104" y="2176272"/>
            <a:ext cx="3648456" cy="3054096"/>
          </a:xfrm>
          <a:prstGeom prst="rect">
            <a:avLst/>
          </a:prstGeom>
          <a:solidFill>
            <a:srgbClr val="F0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71416"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U1  /  PROCESSOR</a:t>
            </a:r>
          </a:p>
        </p:txBody>
      </p:sp>
      <p:sp>
        <p:nvSpPr>
          <p:cNvPr id="23" name="TextBox 22"/>
          <p:cNvSpPr txBox="1"/>
          <p:nvPr/>
        </p:nvSpPr>
        <p:spPr>
          <a:xfrm>
            <a:off x="4471416" y="2569464"/>
            <a:ext cx="3227832" cy="365760"/>
          </a:xfrm>
          <a:prstGeom prst="rect">
            <a:avLst/>
          </a:prstGeom>
          <a:noFill/>
        </p:spPr>
        <p:txBody>
          <a:bodyPr wrap="square" lIns="0" tIns="0" rIns="0" bIns="0" anchor="ctr">
            <a:spAutoFit/>
          </a:bodyPr>
          <a:lstStyle/>
          <a:p>
            <a:pPr>
              <a:defRPr sz="2000" b="1">
                <a:solidFill>
                  <a:srgbClr val="172C46"/>
                </a:solidFill>
                <a:latin typeface="Arial"/>
              </a:defRPr>
            </a:pPr>
            <a:r>
              <a:t>Z80 CPU</a:t>
            </a:r>
          </a:p>
        </p:txBody>
      </p:sp>
      <p:sp>
        <p:nvSpPr>
          <p:cNvPr id="24" name="TextBox 23"/>
          <p:cNvSpPr txBox="1"/>
          <p:nvPr/>
        </p:nvSpPr>
        <p:spPr>
          <a:xfrm>
            <a:off x="4471416"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Z84C0020PEC</a:t>
            </a:r>
          </a:p>
        </p:txBody>
      </p:sp>
      <p:sp>
        <p:nvSpPr>
          <p:cNvPr id="25" name="TextBox 24"/>
          <p:cNvSpPr txBox="1"/>
          <p:nvPr/>
        </p:nvSpPr>
        <p:spPr>
          <a:xfrm>
            <a:off x="4471416"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26" name="TextBox 25"/>
          <p:cNvSpPr txBox="1"/>
          <p:nvPr/>
        </p:nvSpPr>
        <p:spPr>
          <a:xfrm>
            <a:off x="4818888"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Executes the software</a:t>
            </a:r>
          </a:p>
        </p:txBody>
      </p:sp>
      <p:sp>
        <p:nvSpPr>
          <p:cNvPr id="27" name="TextBox 26"/>
          <p:cNvSpPr txBox="1"/>
          <p:nvPr/>
        </p:nvSpPr>
        <p:spPr>
          <a:xfrm>
            <a:off x="4818888"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Runs Z80 instructions, BIOS, CP/M and applications directly from SRAM.</a:t>
            </a:r>
          </a:p>
        </p:txBody>
      </p:sp>
      <p:sp>
        <p:nvSpPr>
          <p:cNvPr id="28" name="TextBox 27"/>
          <p:cNvSpPr txBox="1"/>
          <p:nvPr/>
        </p:nvSpPr>
        <p:spPr>
          <a:xfrm>
            <a:off x="4471416"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29" name="TextBox 28"/>
          <p:cNvSpPr txBox="1"/>
          <p:nvPr/>
        </p:nvSpPr>
        <p:spPr>
          <a:xfrm>
            <a:off x="4818888"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Owns memory addressing</a:t>
            </a:r>
          </a:p>
        </p:txBody>
      </p:sp>
      <p:sp>
        <p:nvSpPr>
          <p:cNvPr id="30" name="TextBox 29"/>
          <p:cNvSpPr txBox="1"/>
          <p:nvPr/>
        </p:nvSpPr>
        <p:spPr>
          <a:xfrm>
            <a:off x="4818888"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Alone drives A0-A15 and performs the actual SRAM read/write cycles.</a:t>
            </a:r>
          </a:p>
        </p:txBody>
      </p:sp>
      <p:sp>
        <p:nvSpPr>
          <p:cNvPr id="31" name="TextBox 30"/>
          <p:cNvSpPr txBox="1"/>
          <p:nvPr/>
        </p:nvSpPr>
        <p:spPr>
          <a:xfrm>
            <a:off x="4471416"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32" name="TextBox 31"/>
          <p:cNvSpPr txBox="1"/>
          <p:nvPr/>
        </p:nvSpPr>
        <p:spPr>
          <a:xfrm>
            <a:off x="4818888"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Loads itself by running</a:t>
            </a:r>
          </a:p>
        </p:txBody>
      </p:sp>
      <p:sp>
        <p:nvSpPr>
          <p:cNvPr id="33" name="TextBox 32"/>
          <p:cNvSpPr txBox="1"/>
          <p:nvPr/>
        </p:nvSpPr>
        <p:spPr>
          <a:xfrm>
            <a:off x="4818888"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Executes Pico-injected loader instructions, then starts from address zero.</a:t>
            </a:r>
          </a:p>
        </p:txBody>
      </p:sp>
      <p:sp>
        <p:nvSpPr>
          <p:cNvPr id="34" name="Rectangle 33"/>
          <p:cNvSpPr/>
          <p:nvPr/>
        </p:nvSpPr>
        <p:spPr>
          <a:xfrm>
            <a:off x="8083296" y="2176272"/>
            <a:ext cx="3648456" cy="3054096"/>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93608"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U2  /  WORKING MEMORY</a:t>
            </a:r>
          </a:p>
        </p:txBody>
      </p:sp>
      <p:sp>
        <p:nvSpPr>
          <p:cNvPr id="36" name="TextBox 35"/>
          <p:cNvSpPr txBox="1"/>
          <p:nvPr/>
        </p:nvSpPr>
        <p:spPr>
          <a:xfrm>
            <a:off x="8293608" y="2569464"/>
            <a:ext cx="3227832" cy="365760"/>
          </a:xfrm>
          <a:prstGeom prst="rect">
            <a:avLst/>
          </a:prstGeom>
          <a:noFill/>
        </p:spPr>
        <p:txBody>
          <a:bodyPr wrap="square" lIns="0" tIns="0" rIns="0" bIns="0" anchor="ctr">
            <a:spAutoFit/>
          </a:bodyPr>
          <a:lstStyle/>
          <a:p>
            <a:pPr>
              <a:defRPr sz="2000" b="1">
                <a:solidFill>
                  <a:srgbClr val="172C46"/>
                </a:solidFill>
                <a:latin typeface="Arial"/>
              </a:defRPr>
            </a:pPr>
            <a:r>
              <a:t>Static RAM</a:t>
            </a:r>
          </a:p>
        </p:txBody>
      </p:sp>
      <p:sp>
        <p:nvSpPr>
          <p:cNvPr id="37" name="TextBox 36"/>
          <p:cNvSpPr txBox="1"/>
          <p:nvPr/>
        </p:nvSpPr>
        <p:spPr>
          <a:xfrm>
            <a:off x="8293608"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AS6C1008-55PCN</a:t>
            </a:r>
          </a:p>
        </p:txBody>
      </p:sp>
      <p:sp>
        <p:nvSpPr>
          <p:cNvPr id="38" name="TextBox 37"/>
          <p:cNvSpPr txBox="1"/>
          <p:nvPr/>
        </p:nvSpPr>
        <p:spPr>
          <a:xfrm>
            <a:off x="8293608"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39" name="TextBox 38"/>
          <p:cNvSpPr txBox="1"/>
          <p:nvPr/>
        </p:nvSpPr>
        <p:spPr>
          <a:xfrm>
            <a:off x="8641080"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1 Mbit storage</a:t>
            </a:r>
          </a:p>
        </p:txBody>
      </p:sp>
      <p:sp>
        <p:nvSpPr>
          <p:cNvPr id="40" name="TextBox 39"/>
          <p:cNvSpPr txBox="1"/>
          <p:nvPr/>
        </p:nvSpPr>
        <p:spPr>
          <a:xfrm>
            <a:off x="8641080"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128 KiB x 8 static RAM; retains data while powered.</a:t>
            </a:r>
          </a:p>
        </p:txBody>
      </p:sp>
      <p:sp>
        <p:nvSpPr>
          <p:cNvPr id="41" name="TextBox 40"/>
          <p:cNvSpPr txBox="1"/>
          <p:nvPr/>
        </p:nvSpPr>
        <p:spPr>
          <a:xfrm>
            <a:off x="8293608"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42" name="TextBox 41"/>
          <p:cNvSpPr txBox="1"/>
          <p:nvPr/>
        </p:nvSpPr>
        <p:spPr>
          <a:xfrm>
            <a:off x="8641080"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Two 64 KiB banks</a:t>
            </a:r>
          </a:p>
        </p:txBody>
      </p:sp>
      <p:sp>
        <p:nvSpPr>
          <p:cNvPr id="43" name="TextBox 42"/>
          <p:cNvSpPr txBox="1"/>
          <p:nvPr/>
        </p:nvSpPr>
        <p:spPr>
          <a:xfrm>
            <a:off x="8641080"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PIO1: GP8→U4→A16; R24 pulls GP8 LOW at startup.</a:t>
            </a:r>
          </a:p>
        </p:txBody>
      </p:sp>
      <p:sp>
        <p:nvSpPr>
          <p:cNvPr id="44" name="TextBox 43"/>
          <p:cNvSpPr txBox="1"/>
          <p:nvPr/>
        </p:nvSpPr>
        <p:spPr>
          <a:xfrm>
            <a:off x="8293608"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45" name="TextBox 44"/>
          <p:cNvSpPr txBox="1"/>
          <p:nvPr/>
        </p:nvSpPr>
        <p:spPr>
          <a:xfrm>
            <a:off x="8641080"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Program memory</a:t>
            </a:r>
          </a:p>
        </p:txBody>
      </p:sp>
      <p:sp>
        <p:nvSpPr>
          <p:cNvPr id="46" name="TextBox 45"/>
          <p:cNvSpPr txBox="1"/>
          <p:nvPr/>
        </p:nvSpPr>
        <p:spPr>
          <a:xfrm>
            <a:off x="8641080"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Z80 sees one 64 KiB window; OUT 07h selects the other bank.</a:t>
            </a:r>
          </a:p>
        </p:txBody>
      </p:sp>
      <p:sp>
        <p:nvSpPr>
          <p:cNvPr id="47" name="Rectangle 46"/>
          <p:cNvSpPr/>
          <p:nvPr/>
        </p:nvSpPr>
        <p:spPr>
          <a:xfrm>
            <a:off x="438912" y="5431536"/>
            <a:ext cx="11292840" cy="685800"/>
          </a:xfrm>
          <a:prstGeom prst="rect">
            <a:avLst/>
          </a:prstGeom>
          <a:solidFill>
            <a:srgbClr val="FF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5800" y="5559552"/>
            <a:ext cx="10789920" cy="393192"/>
          </a:xfrm>
          <a:prstGeom prst="rect">
            <a:avLst/>
          </a:prstGeom>
          <a:noFill/>
        </p:spPr>
        <p:txBody>
          <a:bodyPr wrap="square" lIns="0" tIns="0" rIns="0" bIns="0" anchor="ctr">
            <a:spAutoFit/>
          </a:bodyPr>
          <a:lstStyle/>
          <a:p>
            <a:pPr>
              <a:defRPr sz="1400" b="1">
                <a:solidFill>
                  <a:srgbClr val="172C46"/>
                </a:solidFill>
                <a:latin typeface="Arial"/>
              </a:defRPr>
            </a:pPr>
            <a:r>
              <a:t>At boot, the Z80 writes SRAM using Pico-injected instructions. The Pico compares every read-back byte.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17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10058400" cy="256032"/>
          </a:xfrm>
          <a:prstGeom prst="rect">
            <a:avLst/>
          </a:prstGeom>
          <a:noFill/>
        </p:spPr>
        <p:txBody>
          <a:bodyPr wrap="square" lIns="0" tIns="0" rIns="0" bIns="0" anchor="ctr">
            <a:spAutoFit/>
          </a:bodyPr>
          <a:lstStyle/>
          <a:p>
            <a:pPr>
              <a:defRPr sz="1100" b="1">
                <a:solidFill>
                  <a:srgbClr val="172C46"/>
                </a:solidFill>
                <a:latin typeface="Arial"/>
              </a:defRPr>
            </a:pPr>
            <a:r>
              <a:t>Z80 ROMLESS SBC  /  DESIGN OVERVIEW</a:t>
            </a:r>
          </a:p>
        </p:txBody>
      </p:sp>
      <p:sp>
        <p:nvSpPr>
          <p:cNvPr id="4" name="TextBox 3"/>
          <p:cNvSpPr txBox="1"/>
          <p:nvPr/>
        </p:nvSpPr>
        <p:spPr>
          <a:xfrm>
            <a:off x="411480" y="713232"/>
            <a:ext cx="11338560" cy="594360"/>
          </a:xfrm>
          <a:prstGeom prst="rect">
            <a:avLst/>
          </a:prstGeom>
          <a:noFill/>
        </p:spPr>
        <p:txBody>
          <a:bodyPr wrap="square" lIns="0" tIns="0" rIns="0" bIns="0" anchor="ctr">
            <a:spAutoFit/>
          </a:bodyPr>
          <a:lstStyle/>
          <a:p>
            <a:pPr>
              <a:defRPr sz="3100" b="1">
                <a:solidFill>
                  <a:srgbClr val="172C46"/>
                </a:solidFill>
                <a:latin typeface="Arial"/>
              </a:defRPr>
            </a:pPr>
            <a:r>
              <a:t>Fixed logic makes the bus behave</a:t>
            </a:r>
          </a:p>
        </p:txBody>
      </p:sp>
      <p:sp>
        <p:nvSpPr>
          <p:cNvPr id="5" name="TextBox 4"/>
          <p:cNvSpPr txBox="1"/>
          <p:nvPr/>
        </p:nvSpPr>
        <p:spPr>
          <a:xfrm>
            <a:off x="438912" y="1362456"/>
            <a:ext cx="11155680" cy="457200"/>
          </a:xfrm>
          <a:prstGeom prst="rect">
            <a:avLst/>
          </a:prstGeom>
          <a:noFill/>
        </p:spPr>
        <p:txBody>
          <a:bodyPr wrap="square" lIns="0" tIns="0" rIns="0" bIns="0" anchor="ctr">
            <a:spAutoFit/>
          </a:bodyPr>
          <a:lstStyle/>
          <a:p>
            <a:pPr>
              <a:defRPr sz="1700" b="0">
                <a:solidFill>
                  <a:srgbClr val="536273"/>
                </a:solidFill>
                <a:latin typeface="Arial"/>
              </a:defRPr>
            </a:pPr>
            <a:r>
              <a:t>Two simple 5 V logic ICs shape safe clock, memory and I/O control signals.</a:t>
            </a:r>
          </a:p>
        </p:txBody>
      </p:sp>
      <p:sp>
        <p:nvSpPr>
          <p:cNvPr id="6" name="TextBox 5"/>
          <p:cNvSpPr txBox="1"/>
          <p:nvPr/>
        </p:nvSpPr>
        <p:spPr>
          <a:xfrm>
            <a:off x="411480" y="6510528"/>
            <a:ext cx="10607040" cy="182880"/>
          </a:xfrm>
          <a:prstGeom prst="rect">
            <a:avLst/>
          </a:prstGeom>
          <a:noFill/>
        </p:spPr>
        <p:txBody>
          <a:bodyPr wrap="square" lIns="0" tIns="0" rIns="0" bIns="0" anchor="ctr">
            <a:spAutoFit/>
          </a:bodyPr>
          <a:lstStyle/>
          <a:p>
            <a:pPr>
              <a:defRPr sz="1000" b="0">
                <a:solidFill>
                  <a:srgbClr val="687385"/>
                </a:solidFill>
                <a:latin typeface="Arial"/>
              </a:defRPr>
            </a:pPr>
            <a:r>
              <a:t>Stage 10 implementation | Current breadboard architecture | 24 October 2026</a:t>
            </a:r>
          </a:p>
        </p:txBody>
      </p:sp>
      <p:sp>
        <p:nvSpPr>
          <p:cNvPr id="7" name="TextBox 6"/>
          <p:cNvSpPr txBox="1"/>
          <p:nvPr/>
        </p:nvSpPr>
        <p:spPr>
          <a:xfrm>
            <a:off x="11292840" y="6473952"/>
            <a:ext cx="457200" cy="274320"/>
          </a:xfrm>
          <a:prstGeom prst="rect">
            <a:avLst/>
          </a:prstGeom>
          <a:noFill/>
        </p:spPr>
        <p:txBody>
          <a:bodyPr wrap="square" lIns="0" tIns="0" rIns="0" bIns="0" anchor="ctr">
            <a:spAutoFit/>
          </a:bodyPr>
          <a:lstStyle/>
          <a:p>
            <a:pPr>
              <a:defRPr sz="1200" b="1">
                <a:solidFill>
                  <a:srgbClr val="172C46"/>
                </a:solidFill>
                <a:latin typeface="Arial"/>
              </a:defRPr>
            </a:pPr>
            <a:r>
              <a:t>08</a:t>
            </a:r>
          </a:p>
        </p:txBody>
      </p:sp>
      <p:sp>
        <p:nvSpPr>
          <p:cNvPr id="8" name="Rectangle 7"/>
          <p:cNvSpPr/>
          <p:nvPr/>
        </p:nvSpPr>
        <p:spPr>
          <a:xfrm>
            <a:off x="438912" y="2176272"/>
            <a:ext cx="5559552" cy="3054096"/>
          </a:xfrm>
          <a:prstGeom prst="rect">
            <a:avLst/>
          </a:prstGeom>
          <a:solidFill>
            <a:srgbClr val="F0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2322576"/>
            <a:ext cx="5138928" cy="201168"/>
          </a:xfrm>
          <a:prstGeom prst="rect">
            <a:avLst/>
          </a:prstGeom>
          <a:noFill/>
        </p:spPr>
        <p:txBody>
          <a:bodyPr wrap="square" lIns="0" tIns="0" rIns="0" bIns="0" anchor="ctr">
            <a:spAutoFit/>
          </a:bodyPr>
          <a:lstStyle/>
          <a:p>
            <a:pPr>
              <a:defRPr sz="1000" b="1">
                <a:solidFill>
                  <a:srgbClr val="536273"/>
                </a:solidFill>
                <a:latin typeface="Arial"/>
              </a:defRPr>
            </a:pPr>
            <a:r>
              <a:t>U3  /  FIXED LOGIC</a:t>
            </a:r>
          </a:p>
        </p:txBody>
      </p:sp>
      <p:sp>
        <p:nvSpPr>
          <p:cNvPr id="10" name="TextBox 9"/>
          <p:cNvSpPr txBox="1"/>
          <p:nvPr/>
        </p:nvSpPr>
        <p:spPr>
          <a:xfrm>
            <a:off x="649224" y="2569464"/>
            <a:ext cx="5138928" cy="365760"/>
          </a:xfrm>
          <a:prstGeom prst="rect">
            <a:avLst/>
          </a:prstGeom>
          <a:noFill/>
        </p:spPr>
        <p:txBody>
          <a:bodyPr wrap="square" lIns="0" tIns="0" rIns="0" bIns="0" anchor="ctr">
            <a:spAutoFit/>
          </a:bodyPr>
          <a:lstStyle/>
          <a:p>
            <a:pPr>
              <a:defRPr sz="2000" b="1">
                <a:solidFill>
                  <a:srgbClr val="172C46"/>
                </a:solidFill>
                <a:latin typeface="Arial"/>
              </a:defRPr>
            </a:pPr>
            <a:r>
              <a:t>Quad OR gate</a:t>
            </a:r>
          </a:p>
        </p:txBody>
      </p:sp>
      <p:sp>
        <p:nvSpPr>
          <p:cNvPr id="11" name="TextBox 10"/>
          <p:cNvSpPr txBox="1"/>
          <p:nvPr/>
        </p:nvSpPr>
        <p:spPr>
          <a:xfrm>
            <a:off x="649224" y="2944368"/>
            <a:ext cx="5138928" cy="246888"/>
          </a:xfrm>
          <a:prstGeom prst="rect">
            <a:avLst/>
          </a:prstGeom>
          <a:noFill/>
        </p:spPr>
        <p:txBody>
          <a:bodyPr wrap="square" lIns="0" tIns="0" rIns="0" bIns="0" anchor="ctr">
            <a:spAutoFit/>
          </a:bodyPr>
          <a:lstStyle/>
          <a:p>
            <a:pPr>
              <a:defRPr sz="1200" b="0">
                <a:solidFill>
                  <a:srgbClr val="536273"/>
                </a:solidFill>
                <a:latin typeface="Arial"/>
              </a:defRPr>
            </a:pPr>
            <a:r>
              <a:t>SN74HCT32N</a:t>
            </a:r>
          </a:p>
        </p:txBody>
      </p:sp>
      <p:sp>
        <p:nvSpPr>
          <p:cNvPr id="12" name="TextBox 11"/>
          <p:cNvSpPr txBox="1"/>
          <p:nvPr/>
        </p:nvSpPr>
        <p:spPr>
          <a:xfrm>
            <a:off x="649224"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13" name="TextBox 12"/>
          <p:cNvSpPr txBox="1"/>
          <p:nvPr/>
        </p:nvSpPr>
        <p:spPr>
          <a:xfrm>
            <a:off x="996695" y="3300984"/>
            <a:ext cx="4791456" cy="210312"/>
          </a:xfrm>
          <a:prstGeom prst="rect">
            <a:avLst/>
          </a:prstGeom>
          <a:noFill/>
        </p:spPr>
        <p:txBody>
          <a:bodyPr wrap="square" lIns="0" tIns="0" rIns="0" bIns="0" anchor="ctr">
            <a:spAutoFit/>
          </a:bodyPr>
          <a:lstStyle/>
          <a:p>
            <a:pPr>
              <a:defRPr sz="1300" b="1">
                <a:solidFill>
                  <a:srgbClr val="172C46"/>
                </a:solidFill>
                <a:latin typeface="Arial"/>
              </a:defRPr>
            </a:pPr>
            <a:r>
              <a:t>Three gates are used</a:t>
            </a:r>
          </a:p>
        </p:txBody>
      </p:sp>
      <p:sp>
        <p:nvSpPr>
          <p:cNvPr id="14" name="TextBox 13"/>
          <p:cNvSpPr txBox="1"/>
          <p:nvPr/>
        </p:nvSpPr>
        <p:spPr>
          <a:xfrm>
            <a:off x="996695" y="3511296"/>
            <a:ext cx="4791456" cy="411480"/>
          </a:xfrm>
          <a:prstGeom prst="rect">
            <a:avLst/>
          </a:prstGeom>
          <a:noFill/>
        </p:spPr>
        <p:txBody>
          <a:bodyPr wrap="square" lIns="0" tIns="0" rIns="0" bIns="0" anchor="ctr">
            <a:spAutoFit/>
          </a:bodyPr>
          <a:lstStyle/>
          <a:p>
            <a:pPr>
              <a:defRPr sz="1150" b="0">
                <a:solidFill>
                  <a:srgbClr val="24364B"/>
                </a:solidFill>
                <a:latin typeface="Arial"/>
              </a:defRPr>
            </a:pPr>
            <a:r>
              <a:t>Fixed combinational logic; the fourth gate is unused.</a:t>
            </a:r>
          </a:p>
        </p:txBody>
      </p:sp>
      <p:sp>
        <p:nvSpPr>
          <p:cNvPr id="15" name="TextBox 14"/>
          <p:cNvSpPr txBox="1"/>
          <p:nvPr/>
        </p:nvSpPr>
        <p:spPr>
          <a:xfrm>
            <a:off x="649224"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16" name="TextBox 15"/>
          <p:cNvSpPr txBox="1"/>
          <p:nvPr/>
        </p:nvSpPr>
        <p:spPr>
          <a:xfrm>
            <a:off x="996695" y="3959352"/>
            <a:ext cx="4791456" cy="210312"/>
          </a:xfrm>
          <a:prstGeom prst="rect">
            <a:avLst/>
          </a:prstGeom>
          <a:noFill/>
        </p:spPr>
        <p:txBody>
          <a:bodyPr wrap="square" lIns="0" tIns="0" rIns="0" bIns="0" anchor="ctr">
            <a:spAutoFit/>
          </a:bodyPr>
          <a:lstStyle/>
          <a:p>
            <a:pPr>
              <a:defRPr sz="1300" b="1">
                <a:solidFill>
                  <a:srgbClr val="172C46"/>
                </a:solidFill>
                <a:latin typeface="Arial"/>
              </a:defRPr>
            </a:pPr>
            <a:r>
              <a:t>Wait and SRAM reads</a:t>
            </a:r>
          </a:p>
        </p:txBody>
      </p:sp>
      <p:sp>
        <p:nvSpPr>
          <p:cNvPr id="17" name="TextBox 16"/>
          <p:cNvSpPr txBox="1"/>
          <p:nvPr/>
        </p:nvSpPr>
        <p:spPr>
          <a:xfrm>
            <a:off x="996695" y="4169664"/>
            <a:ext cx="4791456" cy="411480"/>
          </a:xfrm>
          <a:prstGeom prst="rect">
            <a:avLst/>
          </a:prstGeom>
          <a:noFill/>
        </p:spPr>
        <p:txBody>
          <a:bodyPr wrap="square" lIns="0" tIns="0" rIns="0" bIns="0" anchor="ctr">
            <a:spAutoFit/>
          </a:bodyPr>
          <a:lstStyle/>
          <a:p>
            <a:pPr>
              <a:defRPr sz="1150" b="0">
                <a:solidFill>
                  <a:srgbClr val="24364B"/>
                </a:solidFill>
                <a:latin typeface="Arial"/>
              </a:defRPr>
            </a:pPr>
            <a:r>
              <a:t>Combines IORQ# / IO_RELEASE for WAIT# and RD# / boot inhibit for SRAM OE#.</a:t>
            </a:r>
          </a:p>
        </p:txBody>
      </p:sp>
      <p:sp>
        <p:nvSpPr>
          <p:cNvPr id="18" name="TextBox 17"/>
          <p:cNvSpPr txBox="1"/>
          <p:nvPr/>
        </p:nvSpPr>
        <p:spPr>
          <a:xfrm>
            <a:off x="649224"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19" name="TextBox 18"/>
          <p:cNvSpPr txBox="1"/>
          <p:nvPr/>
        </p:nvSpPr>
        <p:spPr>
          <a:xfrm>
            <a:off x="996695" y="4617720"/>
            <a:ext cx="4791456" cy="210312"/>
          </a:xfrm>
          <a:prstGeom prst="rect">
            <a:avLst/>
          </a:prstGeom>
          <a:noFill/>
        </p:spPr>
        <p:txBody>
          <a:bodyPr wrap="square" lIns="0" tIns="0" rIns="0" bIns="0" anchor="ctr">
            <a:spAutoFit/>
          </a:bodyPr>
          <a:lstStyle/>
          <a:p>
            <a:pPr>
              <a:defRPr sz="1300" b="1">
                <a:solidFill>
                  <a:srgbClr val="172C46"/>
                </a:solidFill>
                <a:latin typeface="Arial"/>
              </a:defRPr>
            </a:pPr>
            <a:r>
              <a:t>Data-path enable</a:t>
            </a:r>
          </a:p>
        </p:txBody>
      </p:sp>
      <p:sp>
        <p:nvSpPr>
          <p:cNvPr id="20" name="TextBox 19"/>
          <p:cNvSpPr txBox="1"/>
          <p:nvPr/>
        </p:nvSpPr>
        <p:spPr>
          <a:xfrm>
            <a:off x="996695" y="4828032"/>
            <a:ext cx="4791456" cy="411480"/>
          </a:xfrm>
          <a:prstGeom prst="rect">
            <a:avLst/>
          </a:prstGeom>
          <a:noFill/>
        </p:spPr>
        <p:txBody>
          <a:bodyPr wrap="square" lIns="0" tIns="0" rIns="0" bIns="0" anchor="ctr">
            <a:spAutoFit/>
          </a:bodyPr>
          <a:lstStyle/>
          <a:p>
            <a:pPr>
              <a:defRPr sz="1150" b="0">
                <a:solidFill>
                  <a:srgbClr val="24364B"/>
                </a:solidFill>
                <a:latin typeface="Arial"/>
              </a:defRPr>
            </a:pPr>
            <a:r>
              <a:t>Combines RD# with the Pico request to control DATA_UP_OE#; no software or programming.</a:t>
            </a:r>
          </a:p>
        </p:txBody>
      </p:sp>
      <p:sp>
        <p:nvSpPr>
          <p:cNvPr id="21" name="Rectangle 20"/>
          <p:cNvSpPr/>
          <p:nvPr/>
        </p:nvSpPr>
        <p:spPr>
          <a:xfrm>
            <a:off x="6172200" y="2176272"/>
            <a:ext cx="5559552" cy="3054096"/>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82512" y="2322576"/>
            <a:ext cx="5138928" cy="201168"/>
          </a:xfrm>
          <a:prstGeom prst="rect">
            <a:avLst/>
          </a:prstGeom>
          <a:noFill/>
        </p:spPr>
        <p:txBody>
          <a:bodyPr wrap="square" lIns="0" tIns="0" rIns="0" bIns="0" anchor="ctr">
            <a:spAutoFit/>
          </a:bodyPr>
          <a:lstStyle/>
          <a:p>
            <a:pPr>
              <a:defRPr sz="1000" b="1">
                <a:solidFill>
                  <a:srgbClr val="536273"/>
                </a:solidFill>
                <a:latin typeface="Arial"/>
              </a:defRPr>
            </a:pPr>
            <a:r>
              <a:t>U4  /  CLOCK AND CONTROL BUFFER</a:t>
            </a:r>
          </a:p>
        </p:txBody>
      </p:sp>
      <p:sp>
        <p:nvSpPr>
          <p:cNvPr id="23" name="TextBox 22"/>
          <p:cNvSpPr txBox="1"/>
          <p:nvPr/>
        </p:nvSpPr>
        <p:spPr>
          <a:xfrm>
            <a:off x="6382512" y="2569464"/>
            <a:ext cx="5138928" cy="365760"/>
          </a:xfrm>
          <a:prstGeom prst="rect">
            <a:avLst/>
          </a:prstGeom>
          <a:noFill/>
        </p:spPr>
        <p:txBody>
          <a:bodyPr wrap="square" lIns="0" tIns="0" rIns="0" bIns="0" anchor="ctr">
            <a:spAutoFit/>
          </a:bodyPr>
          <a:lstStyle/>
          <a:p>
            <a:pPr>
              <a:defRPr sz="2000" b="1">
                <a:solidFill>
                  <a:srgbClr val="172C46"/>
                </a:solidFill>
                <a:latin typeface="Arial"/>
              </a:defRPr>
            </a:pPr>
            <a:r>
              <a:t>Octal buffer</a:t>
            </a:r>
          </a:p>
        </p:txBody>
      </p:sp>
      <p:sp>
        <p:nvSpPr>
          <p:cNvPr id="24" name="TextBox 23"/>
          <p:cNvSpPr txBox="1"/>
          <p:nvPr/>
        </p:nvSpPr>
        <p:spPr>
          <a:xfrm>
            <a:off x="6382512" y="2944368"/>
            <a:ext cx="5138928" cy="246888"/>
          </a:xfrm>
          <a:prstGeom prst="rect">
            <a:avLst/>
          </a:prstGeom>
          <a:noFill/>
        </p:spPr>
        <p:txBody>
          <a:bodyPr wrap="square" lIns="0" tIns="0" rIns="0" bIns="0" anchor="ctr">
            <a:spAutoFit/>
          </a:bodyPr>
          <a:lstStyle/>
          <a:p>
            <a:pPr>
              <a:defRPr sz="1200" b="0">
                <a:solidFill>
                  <a:srgbClr val="536273"/>
                </a:solidFill>
                <a:latin typeface="Arial"/>
              </a:defRPr>
            </a:pPr>
            <a:r>
              <a:t>SN74AHCT244N</a:t>
            </a:r>
          </a:p>
        </p:txBody>
      </p:sp>
      <p:sp>
        <p:nvSpPr>
          <p:cNvPr id="25" name="TextBox 24"/>
          <p:cNvSpPr txBox="1"/>
          <p:nvPr/>
        </p:nvSpPr>
        <p:spPr>
          <a:xfrm>
            <a:off x="6382512"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26" name="TextBox 25"/>
          <p:cNvSpPr txBox="1"/>
          <p:nvPr/>
        </p:nvSpPr>
        <p:spPr>
          <a:xfrm>
            <a:off x="6729984" y="3300984"/>
            <a:ext cx="4791456" cy="210312"/>
          </a:xfrm>
          <a:prstGeom prst="rect">
            <a:avLst/>
          </a:prstGeom>
          <a:noFill/>
        </p:spPr>
        <p:txBody>
          <a:bodyPr wrap="square" lIns="0" tIns="0" rIns="0" bIns="0" anchor="ctr">
            <a:spAutoFit/>
          </a:bodyPr>
          <a:lstStyle/>
          <a:p>
            <a:pPr>
              <a:defRPr sz="1300" b="1">
                <a:solidFill>
                  <a:srgbClr val="172C46"/>
                </a:solidFill>
                <a:latin typeface="Arial"/>
              </a:defRPr>
            </a:pPr>
            <a:r>
              <a:t>3.3 V to 5 V logic</a:t>
            </a:r>
          </a:p>
        </p:txBody>
      </p:sp>
      <p:sp>
        <p:nvSpPr>
          <p:cNvPr id="27" name="TextBox 26"/>
          <p:cNvSpPr txBox="1"/>
          <p:nvPr/>
        </p:nvSpPr>
        <p:spPr>
          <a:xfrm>
            <a:off x="6729984" y="3511296"/>
            <a:ext cx="4791456" cy="411480"/>
          </a:xfrm>
          <a:prstGeom prst="rect">
            <a:avLst/>
          </a:prstGeom>
          <a:noFill/>
        </p:spPr>
        <p:txBody>
          <a:bodyPr wrap="square" lIns="0" tIns="0" rIns="0" bIns="0" anchor="ctr">
            <a:spAutoFit/>
          </a:bodyPr>
          <a:lstStyle/>
          <a:p>
            <a:pPr>
              <a:defRPr sz="1150" b="0">
                <a:solidFill>
                  <a:srgbClr val="24364B"/>
                </a:solidFill>
                <a:latin typeface="Arial"/>
              </a:defRPr>
            </a:pPr>
            <a:r>
              <a:t>AHCT inputs recognize Pico and Z80 TTL levels; outputs drive 5 V logic.</a:t>
            </a:r>
          </a:p>
        </p:txBody>
      </p:sp>
      <p:sp>
        <p:nvSpPr>
          <p:cNvPr id="28" name="TextBox 27"/>
          <p:cNvSpPr txBox="1"/>
          <p:nvPr/>
        </p:nvSpPr>
        <p:spPr>
          <a:xfrm>
            <a:off x="6382512"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29" name="TextBox 28"/>
          <p:cNvSpPr txBox="1"/>
          <p:nvPr/>
        </p:nvSpPr>
        <p:spPr>
          <a:xfrm>
            <a:off x="6729984" y="3959352"/>
            <a:ext cx="4791456" cy="210312"/>
          </a:xfrm>
          <a:prstGeom prst="rect">
            <a:avLst/>
          </a:prstGeom>
          <a:noFill/>
        </p:spPr>
        <p:txBody>
          <a:bodyPr wrap="square" lIns="0" tIns="0" rIns="0" bIns="0" anchor="ctr">
            <a:spAutoFit/>
          </a:bodyPr>
          <a:lstStyle/>
          <a:p>
            <a:pPr>
              <a:defRPr sz="1300" b="1">
                <a:solidFill>
                  <a:srgbClr val="172C46"/>
                </a:solidFill>
                <a:latin typeface="Arial"/>
              </a:defRPr>
            </a:pPr>
            <a:r>
              <a:t>Clock and bus request</a:t>
            </a:r>
          </a:p>
        </p:txBody>
      </p:sp>
      <p:sp>
        <p:nvSpPr>
          <p:cNvPr id="30" name="TextBox 29"/>
          <p:cNvSpPr txBox="1"/>
          <p:nvPr/>
        </p:nvSpPr>
        <p:spPr>
          <a:xfrm>
            <a:off x="6729984" y="4169664"/>
            <a:ext cx="4791456" cy="411480"/>
          </a:xfrm>
          <a:prstGeom prst="rect">
            <a:avLst/>
          </a:prstGeom>
          <a:noFill/>
        </p:spPr>
        <p:txBody>
          <a:bodyPr wrap="square" lIns="0" tIns="0" rIns="0" bIns="0" anchor="ctr">
            <a:spAutoFit/>
          </a:bodyPr>
          <a:lstStyle/>
          <a:p>
            <a:pPr>
              <a:defRPr sz="1150" b="0">
                <a:solidFill>
                  <a:srgbClr val="24364B"/>
                </a:solidFill>
                <a:latin typeface="Arial"/>
              </a:defRPr>
            </a:pPr>
            <a:r>
              <a:t>Buffers Pico clock and BUSREQ# to the Z80.</a:t>
            </a:r>
          </a:p>
        </p:txBody>
      </p:sp>
      <p:sp>
        <p:nvSpPr>
          <p:cNvPr id="31" name="TextBox 30"/>
          <p:cNvSpPr txBox="1"/>
          <p:nvPr/>
        </p:nvSpPr>
        <p:spPr>
          <a:xfrm>
            <a:off x="6382512"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32" name="TextBox 31"/>
          <p:cNvSpPr txBox="1"/>
          <p:nvPr/>
        </p:nvSpPr>
        <p:spPr>
          <a:xfrm>
            <a:off x="6729984" y="4617720"/>
            <a:ext cx="4791456" cy="210312"/>
          </a:xfrm>
          <a:prstGeom prst="rect">
            <a:avLst/>
          </a:prstGeom>
          <a:noFill/>
        </p:spPr>
        <p:txBody>
          <a:bodyPr wrap="square" lIns="0" tIns="0" rIns="0" bIns="0" anchor="ctr">
            <a:spAutoFit/>
          </a:bodyPr>
          <a:lstStyle/>
          <a:p>
            <a:pPr>
              <a:defRPr sz="1300" b="1">
                <a:solidFill>
                  <a:srgbClr val="172C46"/>
                </a:solidFill>
                <a:latin typeface="Arial"/>
              </a:defRPr>
            </a:pPr>
            <a:r>
              <a:t>Memory controls</a:t>
            </a:r>
          </a:p>
        </p:txBody>
      </p:sp>
      <p:sp>
        <p:nvSpPr>
          <p:cNvPr id="33" name="TextBox 32"/>
          <p:cNvSpPr txBox="1"/>
          <p:nvPr/>
        </p:nvSpPr>
        <p:spPr>
          <a:xfrm>
            <a:off x="6729984" y="4828032"/>
            <a:ext cx="4791456" cy="411480"/>
          </a:xfrm>
          <a:prstGeom prst="rect">
            <a:avLst/>
          </a:prstGeom>
          <a:noFill/>
        </p:spPr>
        <p:txBody>
          <a:bodyPr wrap="square" lIns="0" tIns="0" rIns="0" bIns="0" anchor="ctr">
            <a:spAutoFit/>
          </a:bodyPr>
          <a:lstStyle/>
          <a:p>
            <a:pPr>
              <a:defRPr sz="1150" b="0">
                <a:solidFill>
                  <a:srgbClr val="24364B"/>
                </a:solidFill>
                <a:latin typeface="Arial"/>
              </a:defRPr>
            </a:pPr>
            <a:r>
              <a:t>Buffers memory controls and level-shifts GP8 bank select to SRAM A16.</a:t>
            </a:r>
          </a:p>
        </p:txBody>
      </p:sp>
      <p:sp>
        <p:nvSpPr>
          <p:cNvPr id="34" name="Rectangle 33"/>
          <p:cNvSpPr/>
          <p:nvPr/>
        </p:nvSpPr>
        <p:spPr>
          <a:xfrm>
            <a:off x="438912" y="5431536"/>
            <a:ext cx="11292840" cy="685800"/>
          </a:xfrm>
          <a:prstGeom prst="rect">
            <a:avLst/>
          </a:prstGeom>
          <a:solidFill>
            <a:srgbClr val="FF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5559552"/>
            <a:ext cx="10789920" cy="393192"/>
          </a:xfrm>
          <a:prstGeom prst="rect">
            <a:avLst/>
          </a:prstGeom>
          <a:noFill/>
        </p:spPr>
        <p:txBody>
          <a:bodyPr wrap="square" lIns="0" tIns="0" rIns="0" bIns="0" anchor="ctr">
            <a:spAutoFit/>
          </a:bodyPr>
          <a:lstStyle/>
          <a:p>
            <a:pPr>
              <a:defRPr sz="1400" b="1">
                <a:solidFill>
                  <a:srgbClr val="172C46"/>
                </a:solidFill>
                <a:latin typeface="Arial"/>
              </a:defRPr>
            </a:pPr>
            <a:r>
              <a:t>U4 provides drive and level translation; U3 makes the fixed active-low control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17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28600"/>
            <a:ext cx="10058400" cy="256032"/>
          </a:xfrm>
          <a:prstGeom prst="rect">
            <a:avLst/>
          </a:prstGeom>
          <a:noFill/>
        </p:spPr>
        <p:txBody>
          <a:bodyPr wrap="square" lIns="0" tIns="0" rIns="0" bIns="0" anchor="ctr">
            <a:spAutoFit/>
          </a:bodyPr>
          <a:lstStyle/>
          <a:p>
            <a:pPr>
              <a:defRPr sz="1100" b="1">
                <a:solidFill>
                  <a:srgbClr val="172C46"/>
                </a:solidFill>
                <a:latin typeface="Arial"/>
              </a:defRPr>
            </a:pPr>
            <a:r>
              <a:t>Z80 ROMLESS SBC  /  DESIGN OVERVIEW</a:t>
            </a:r>
          </a:p>
        </p:txBody>
      </p:sp>
      <p:sp>
        <p:nvSpPr>
          <p:cNvPr id="4" name="TextBox 3"/>
          <p:cNvSpPr txBox="1"/>
          <p:nvPr/>
        </p:nvSpPr>
        <p:spPr>
          <a:xfrm>
            <a:off x="411480" y="713232"/>
            <a:ext cx="11338560" cy="594360"/>
          </a:xfrm>
          <a:prstGeom prst="rect">
            <a:avLst/>
          </a:prstGeom>
          <a:noFill/>
        </p:spPr>
        <p:txBody>
          <a:bodyPr wrap="square" lIns="0" tIns="0" rIns="0" bIns="0" anchor="ctr">
            <a:spAutoFit/>
          </a:bodyPr>
          <a:lstStyle/>
          <a:p>
            <a:pPr>
              <a:defRPr sz="3100" b="1">
                <a:solidFill>
                  <a:srgbClr val="172C46"/>
                </a:solidFill>
                <a:latin typeface="Arial"/>
              </a:defRPr>
            </a:pPr>
            <a:r>
              <a:t>Bus interfaces: one direction, one purpose</a:t>
            </a:r>
          </a:p>
        </p:txBody>
      </p:sp>
      <p:sp>
        <p:nvSpPr>
          <p:cNvPr id="5" name="TextBox 4"/>
          <p:cNvSpPr txBox="1"/>
          <p:nvPr/>
        </p:nvSpPr>
        <p:spPr>
          <a:xfrm>
            <a:off x="438912" y="1362456"/>
            <a:ext cx="11155680" cy="457200"/>
          </a:xfrm>
          <a:prstGeom prst="rect">
            <a:avLst/>
          </a:prstGeom>
          <a:noFill/>
        </p:spPr>
        <p:txBody>
          <a:bodyPr wrap="square" lIns="0" tIns="0" rIns="0" bIns="0" anchor="ctr">
            <a:spAutoFit/>
          </a:bodyPr>
          <a:lstStyle/>
          <a:p>
            <a:pPr>
              <a:defRPr sz="1700" b="0">
                <a:solidFill>
                  <a:srgbClr val="536273"/>
                </a:solidFill>
                <a:latin typeface="Arial"/>
              </a:defRPr>
            </a:pPr>
            <a:r>
              <a:t>The three bus-interface chips keep 5 V signals away from Pico GPIOs and isolate data drivers.</a:t>
            </a:r>
          </a:p>
        </p:txBody>
      </p:sp>
      <p:sp>
        <p:nvSpPr>
          <p:cNvPr id="6" name="TextBox 5"/>
          <p:cNvSpPr txBox="1"/>
          <p:nvPr/>
        </p:nvSpPr>
        <p:spPr>
          <a:xfrm>
            <a:off x="411480" y="6510528"/>
            <a:ext cx="10607040" cy="182880"/>
          </a:xfrm>
          <a:prstGeom prst="rect">
            <a:avLst/>
          </a:prstGeom>
          <a:noFill/>
        </p:spPr>
        <p:txBody>
          <a:bodyPr wrap="square" lIns="0" tIns="0" rIns="0" bIns="0" anchor="ctr">
            <a:spAutoFit/>
          </a:bodyPr>
          <a:lstStyle/>
          <a:p>
            <a:pPr>
              <a:defRPr sz="1000" b="0">
                <a:solidFill>
                  <a:srgbClr val="687385"/>
                </a:solidFill>
                <a:latin typeface="Arial"/>
              </a:defRPr>
            </a:pPr>
            <a:r>
              <a:t>Stage 10 implementation | Current breadboard architecture | 24 October 2026</a:t>
            </a:r>
          </a:p>
        </p:txBody>
      </p:sp>
      <p:sp>
        <p:nvSpPr>
          <p:cNvPr id="7" name="TextBox 6"/>
          <p:cNvSpPr txBox="1"/>
          <p:nvPr/>
        </p:nvSpPr>
        <p:spPr>
          <a:xfrm>
            <a:off x="11292840" y="6473952"/>
            <a:ext cx="457200" cy="274320"/>
          </a:xfrm>
          <a:prstGeom prst="rect">
            <a:avLst/>
          </a:prstGeom>
          <a:noFill/>
        </p:spPr>
        <p:txBody>
          <a:bodyPr wrap="square" lIns="0" tIns="0" rIns="0" bIns="0" anchor="ctr">
            <a:spAutoFit/>
          </a:bodyPr>
          <a:lstStyle/>
          <a:p>
            <a:pPr>
              <a:defRPr sz="1200" b="1">
                <a:solidFill>
                  <a:srgbClr val="172C46"/>
                </a:solidFill>
                <a:latin typeface="Arial"/>
              </a:defRPr>
            </a:pPr>
            <a:r>
              <a:t>09</a:t>
            </a:r>
          </a:p>
        </p:txBody>
      </p:sp>
      <p:sp>
        <p:nvSpPr>
          <p:cNvPr id="8" name="Rectangle 7"/>
          <p:cNvSpPr/>
          <p:nvPr/>
        </p:nvSpPr>
        <p:spPr>
          <a:xfrm>
            <a:off x="438912" y="2176272"/>
            <a:ext cx="3648456" cy="3054096"/>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U7  /  5 V MONITOR TO PICO</a:t>
            </a:r>
          </a:p>
        </p:txBody>
      </p:sp>
      <p:sp>
        <p:nvSpPr>
          <p:cNvPr id="10" name="TextBox 9"/>
          <p:cNvSpPr txBox="1"/>
          <p:nvPr/>
        </p:nvSpPr>
        <p:spPr>
          <a:xfrm>
            <a:off x="649224" y="2569464"/>
            <a:ext cx="3227832" cy="365760"/>
          </a:xfrm>
          <a:prstGeom prst="rect">
            <a:avLst/>
          </a:prstGeom>
          <a:noFill/>
        </p:spPr>
        <p:txBody>
          <a:bodyPr wrap="square" lIns="0" tIns="0" rIns="0" bIns="0" anchor="ctr">
            <a:spAutoFit/>
          </a:bodyPr>
          <a:lstStyle/>
          <a:p>
            <a:pPr>
              <a:defRPr sz="2000" b="1">
                <a:solidFill>
                  <a:srgbClr val="172C46"/>
                </a:solidFill>
                <a:latin typeface="Arial"/>
              </a:defRPr>
            </a:pPr>
            <a:r>
              <a:t>Octal input buffer</a:t>
            </a:r>
          </a:p>
        </p:txBody>
      </p:sp>
      <p:sp>
        <p:nvSpPr>
          <p:cNvPr id="11" name="TextBox 10"/>
          <p:cNvSpPr txBox="1"/>
          <p:nvPr/>
        </p:nvSpPr>
        <p:spPr>
          <a:xfrm>
            <a:off x="649224"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SN74LVC244AN</a:t>
            </a:r>
          </a:p>
        </p:txBody>
      </p:sp>
      <p:sp>
        <p:nvSpPr>
          <p:cNvPr id="12" name="TextBox 11"/>
          <p:cNvSpPr txBox="1"/>
          <p:nvPr/>
        </p:nvSpPr>
        <p:spPr>
          <a:xfrm>
            <a:off x="649224"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13" name="TextBox 12"/>
          <p:cNvSpPr txBox="1"/>
          <p:nvPr/>
        </p:nvSpPr>
        <p:spPr>
          <a:xfrm>
            <a:off x="996695"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Eight monitored signals</a:t>
            </a:r>
          </a:p>
        </p:txBody>
      </p:sp>
      <p:sp>
        <p:nvSpPr>
          <p:cNvPr id="14" name="TextBox 13"/>
          <p:cNvSpPr txBox="1"/>
          <p:nvPr/>
        </p:nvSpPr>
        <p:spPr>
          <a:xfrm>
            <a:off x="996695"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BUSACK#, IORQ#, RD#, WR#, A0-A2 and A4.</a:t>
            </a:r>
          </a:p>
        </p:txBody>
      </p:sp>
      <p:sp>
        <p:nvSpPr>
          <p:cNvPr id="15" name="TextBox 14"/>
          <p:cNvSpPr txBox="1"/>
          <p:nvPr/>
        </p:nvSpPr>
        <p:spPr>
          <a:xfrm>
            <a:off x="649224"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16" name="TextBox 15"/>
          <p:cNvSpPr txBox="1"/>
          <p:nvPr/>
        </p:nvSpPr>
        <p:spPr>
          <a:xfrm>
            <a:off x="996695"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5 V tolerant input</a:t>
            </a:r>
          </a:p>
        </p:txBody>
      </p:sp>
      <p:sp>
        <p:nvSpPr>
          <p:cNvPr id="17" name="TextBox 16"/>
          <p:cNvSpPr txBox="1"/>
          <p:nvPr/>
        </p:nvSpPr>
        <p:spPr>
          <a:xfrm>
            <a:off x="996695"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Runs at 3.3 V and presents safe logic levels to the Pico.</a:t>
            </a:r>
          </a:p>
        </p:txBody>
      </p:sp>
      <p:sp>
        <p:nvSpPr>
          <p:cNvPr id="18" name="TextBox 17"/>
          <p:cNvSpPr txBox="1"/>
          <p:nvPr/>
        </p:nvSpPr>
        <p:spPr>
          <a:xfrm>
            <a:off x="649224"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19" name="TextBox 18"/>
          <p:cNvSpPr txBox="1"/>
          <p:nvPr/>
        </p:nvSpPr>
        <p:spPr>
          <a:xfrm>
            <a:off x="996695"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GPIO protection</a:t>
            </a:r>
          </a:p>
        </p:txBody>
      </p:sp>
      <p:sp>
        <p:nvSpPr>
          <p:cNvPr id="20" name="TextBox 19"/>
          <p:cNvSpPr txBox="1"/>
          <p:nvPr/>
        </p:nvSpPr>
        <p:spPr>
          <a:xfrm>
            <a:off x="996695"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All monitored CPU signals pass through U7 before reaching Pico pins.</a:t>
            </a:r>
          </a:p>
        </p:txBody>
      </p:sp>
      <p:sp>
        <p:nvSpPr>
          <p:cNvPr id="21" name="Rectangle 20"/>
          <p:cNvSpPr/>
          <p:nvPr/>
        </p:nvSpPr>
        <p:spPr>
          <a:xfrm>
            <a:off x="4261104" y="2176272"/>
            <a:ext cx="3648456" cy="3054096"/>
          </a:xfrm>
          <a:prstGeom prst="rect">
            <a:avLst/>
          </a:prstGeom>
          <a:solidFill>
            <a:srgbClr val="E4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71416"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U9  /  PICO TO Z80 DATA</a:t>
            </a:r>
          </a:p>
        </p:txBody>
      </p:sp>
      <p:sp>
        <p:nvSpPr>
          <p:cNvPr id="23" name="TextBox 22"/>
          <p:cNvSpPr txBox="1"/>
          <p:nvPr/>
        </p:nvSpPr>
        <p:spPr>
          <a:xfrm>
            <a:off x="4471416" y="2598456"/>
            <a:ext cx="3401568" cy="307777"/>
          </a:xfrm>
          <a:prstGeom prst="rect">
            <a:avLst/>
          </a:prstGeom>
          <a:noFill/>
        </p:spPr>
        <p:txBody>
          <a:bodyPr wrap="square" lIns="0" tIns="0" rIns="0" bIns="0" anchor="ctr">
            <a:spAutoFit/>
          </a:bodyPr>
          <a:lstStyle/>
          <a:p>
            <a:pPr>
              <a:defRPr sz="2000" b="1">
                <a:solidFill>
                  <a:srgbClr val="172C46"/>
                </a:solidFill>
                <a:latin typeface="Arial"/>
              </a:defRPr>
            </a:pPr>
            <a:r>
              <a:rPr dirty="0"/>
              <a:t>Fixed-direction</a:t>
            </a:r>
            <a:r>
              <a:rPr lang="en-AU" dirty="0"/>
              <a:t> </a:t>
            </a:r>
            <a:r>
              <a:rPr dirty="0"/>
              <a:t>transceiver</a:t>
            </a:r>
          </a:p>
        </p:txBody>
      </p:sp>
      <p:sp>
        <p:nvSpPr>
          <p:cNvPr id="24" name="TextBox 23"/>
          <p:cNvSpPr txBox="1"/>
          <p:nvPr/>
        </p:nvSpPr>
        <p:spPr>
          <a:xfrm>
            <a:off x="4471416"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SN74AHCT245N</a:t>
            </a:r>
          </a:p>
        </p:txBody>
      </p:sp>
      <p:sp>
        <p:nvSpPr>
          <p:cNvPr id="25" name="TextBox 24"/>
          <p:cNvSpPr txBox="1"/>
          <p:nvPr/>
        </p:nvSpPr>
        <p:spPr>
          <a:xfrm>
            <a:off x="4471416"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26" name="TextBox 25"/>
          <p:cNvSpPr txBox="1"/>
          <p:nvPr/>
        </p:nvSpPr>
        <p:spPr>
          <a:xfrm>
            <a:off x="4818888"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Drives D0-D7 toward CPU</a:t>
            </a:r>
          </a:p>
        </p:txBody>
      </p:sp>
      <p:sp>
        <p:nvSpPr>
          <p:cNvPr id="27" name="TextBox 26"/>
          <p:cNvSpPr txBox="1"/>
          <p:nvPr/>
        </p:nvSpPr>
        <p:spPr>
          <a:xfrm>
            <a:off x="4818888"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Carries injected loader bytes and Pico-supplied I/O read data onto the 5 V bus.</a:t>
            </a:r>
          </a:p>
        </p:txBody>
      </p:sp>
      <p:sp>
        <p:nvSpPr>
          <p:cNvPr id="28" name="TextBox 27"/>
          <p:cNvSpPr txBox="1"/>
          <p:nvPr/>
        </p:nvSpPr>
        <p:spPr>
          <a:xfrm>
            <a:off x="4471416"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29" name="TextBox 28"/>
          <p:cNvSpPr txBox="1"/>
          <p:nvPr/>
        </p:nvSpPr>
        <p:spPr>
          <a:xfrm>
            <a:off x="4818888"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A-to-B direction</a:t>
            </a:r>
          </a:p>
        </p:txBody>
      </p:sp>
      <p:sp>
        <p:nvSpPr>
          <p:cNvPr id="30" name="TextBox 29"/>
          <p:cNvSpPr txBox="1"/>
          <p:nvPr/>
        </p:nvSpPr>
        <p:spPr>
          <a:xfrm>
            <a:off x="4818888"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Direction pin is fixed; the Pico never takes over the address bus.</a:t>
            </a:r>
          </a:p>
        </p:txBody>
      </p:sp>
      <p:sp>
        <p:nvSpPr>
          <p:cNvPr id="31" name="TextBox 30"/>
          <p:cNvSpPr txBox="1"/>
          <p:nvPr/>
        </p:nvSpPr>
        <p:spPr>
          <a:xfrm>
            <a:off x="4471416"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32" name="TextBox 31"/>
          <p:cNvSpPr txBox="1"/>
          <p:nvPr/>
        </p:nvSpPr>
        <p:spPr>
          <a:xfrm>
            <a:off x="4818888"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Controlled enable</a:t>
            </a:r>
          </a:p>
        </p:txBody>
      </p:sp>
      <p:sp>
        <p:nvSpPr>
          <p:cNvPr id="33" name="TextBox 32"/>
          <p:cNvSpPr txBox="1"/>
          <p:nvPr/>
        </p:nvSpPr>
        <p:spPr>
          <a:xfrm>
            <a:off x="4818888"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U3 enables the path only for valid Z80 read cycles.</a:t>
            </a:r>
          </a:p>
        </p:txBody>
      </p:sp>
      <p:sp>
        <p:nvSpPr>
          <p:cNvPr id="34" name="Rectangle 33"/>
          <p:cNvSpPr/>
          <p:nvPr/>
        </p:nvSpPr>
        <p:spPr>
          <a:xfrm>
            <a:off x="8083296" y="2176272"/>
            <a:ext cx="3648456" cy="3054096"/>
          </a:xfrm>
          <a:prstGeom prst="rect">
            <a:avLst/>
          </a:prstGeom>
          <a:solidFill>
            <a:srgbClr val="F0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93608" y="2322576"/>
            <a:ext cx="3227832" cy="201168"/>
          </a:xfrm>
          <a:prstGeom prst="rect">
            <a:avLst/>
          </a:prstGeom>
          <a:noFill/>
        </p:spPr>
        <p:txBody>
          <a:bodyPr wrap="square" lIns="0" tIns="0" rIns="0" bIns="0" anchor="ctr">
            <a:spAutoFit/>
          </a:bodyPr>
          <a:lstStyle/>
          <a:p>
            <a:pPr>
              <a:defRPr sz="1000" b="1">
                <a:solidFill>
                  <a:srgbClr val="536273"/>
                </a:solidFill>
                <a:latin typeface="Arial"/>
              </a:defRPr>
            </a:pPr>
            <a:r>
              <a:t>U10  /  Z80 TO PICO DATA</a:t>
            </a:r>
          </a:p>
        </p:txBody>
      </p:sp>
      <p:sp>
        <p:nvSpPr>
          <p:cNvPr id="36" name="TextBox 35"/>
          <p:cNvSpPr txBox="1"/>
          <p:nvPr/>
        </p:nvSpPr>
        <p:spPr>
          <a:xfrm>
            <a:off x="8293608" y="2598455"/>
            <a:ext cx="3300984" cy="307777"/>
          </a:xfrm>
          <a:prstGeom prst="rect">
            <a:avLst/>
          </a:prstGeom>
          <a:noFill/>
        </p:spPr>
        <p:txBody>
          <a:bodyPr wrap="square" lIns="0" tIns="0" rIns="0" bIns="0" anchor="ctr">
            <a:spAutoFit/>
          </a:bodyPr>
          <a:lstStyle/>
          <a:p>
            <a:pPr>
              <a:defRPr sz="2000" b="1">
                <a:solidFill>
                  <a:srgbClr val="172C46"/>
                </a:solidFill>
                <a:latin typeface="Arial"/>
              </a:defRPr>
            </a:pPr>
            <a:r>
              <a:rPr dirty="0"/>
              <a:t>Fixed-direction transceiver</a:t>
            </a:r>
          </a:p>
        </p:txBody>
      </p:sp>
      <p:sp>
        <p:nvSpPr>
          <p:cNvPr id="37" name="TextBox 36"/>
          <p:cNvSpPr txBox="1"/>
          <p:nvPr/>
        </p:nvSpPr>
        <p:spPr>
          <a:xfrm>
            <a:off x="8293608" y="2944368"/>
            <a:ext cx="3227832" cy="246888"/>
          </a:xfrm>
          <a:prstGeom prst="rect">
            <a:avLst/>
          </a:prstGeom>
          <a:noFill/>
        </p:spPr>
        <p:txBody>
          <a:bodyPr wrap="square" lIns="0" tIns="0" rIns="0" bIns="0" anchor="ctr">
            <a:spAutoFit/>
          </a:bodyPr>
          <a:lstStyle/>
          <a:p>
            <a:pPr>
              <a:defRPr sz="1200" b="0">
                <a:solidFill>
                  <a:srgbClr val="536273"/>
                </a:solidFill>
                <a:latin typeface="Arial"/>
              </a:defRPr>
            </a:pPr>
            <a:r>
              <a:t>SN74LVC245AN</a:t>
            </a:r>
          </a:p>
        </p:txBody>
      </p:sp>
      <p:sp>
        <p:nvSpPr>
          <p:cNvPr id="38" name="TextBox 37"/>
          <p:cNvSpPr txBox="1"/>
          <p:nvPr/>
        </p:nvSpPr>
        <p:spPr>
          <a:xfrm>
            <a:off x="8293608" y="3310127"/>
            <a:ext cx="320040" cy="182880"/>
          </a:xfrm>
          <a:prstGeom prst="rect">
            <a:avLst/>
          </a:prstGeom>
          <a:noFill/>
        </p:spPr>
        <p:txBody>
          <a:bodyPr wrap="square" lIns="0" tIns="0" rIns="0" bIns="0" anchor="ctr">
            <a:spAutoFit/>
          </a:bodyPr>
          <a:lstStyle/>
          <a:p>
            <a:pPr>
              <a:defRPr sz="1000" b="1">
                <a:solidFill>
                  <a:srgbClr val="172C46"/>
                </a:solidFill>
                <a:latin typeface="Arial"/>
              </a:defRPr>
            </a:pPr>
            <a:r>
              <a:t>01</a:t>
            </a:r>
          </a:p>
        </p:txBody>
      </p:sp>
      <p:sp>
        <p:nvSpPr>
          <p:cNvPr id="39" name="TextBox 38"/>
          <p:cNvSpPr txBox="1"/>
          <p:nvPr/>
        </p:nvSpPr>
        <p:spPr>
          <a:xfrm>
            <a:off x="8641080" y="3300984"/>
            <a:ext cx="2880360" cy="210312"/>
          </a:xfrm>
          <a:prstGeom prst="rect">
            <a:avLst/>
          </a:prstGeom>
          <a:noFill/>
        </p:spPr>
        <p:txBody>
          <a:bodyPr wrap="square" lIns="0" tIns="0" rIns="0" bIns="0" anchor="ctr">
            <a:spAutoFit/>
          </a:bodyPr>
          <a:lstStyle/>
          <a:p>
            <a:pPr>
              <a:defRPr sz="1300" b="1">
                <a:solidFill>
                  <a:srgbClr val="172C46"/>
                </a:solidFill>
                <a:latin typeface="Arial"/>
              </a:defRPr>
            </a:pPr>
            <a:r>
              <a:t>Reads D0-D7 toward Pico</a:t>
            </a:r>
          </a:p>
        </p:txBody>
      </p:sp>
      <p:sp>
        <p:nvSpPr>
          <p:cNvPr id="40" name="TextBox 39"/>
          <p:cNvSpPr txBox="1"/>
          <p:nvPr/>
        </p:nvSpPr>
        <p:spPr>
          <a:xfrm>
            <a:off x="8641080" y="3511296"/>
            <a:ext cx="2880360" cy="411480"/>
          </a:xfrm>
          <a:prstGeom prst="rect">
            <a:avLst/>
          </a:prstGeom>
          <a:noFill/>
        </p:spPr>
        <p:txBody>
          <a:bodyPr wrap="square" lIns="0" tIns="0" rIns="0" bIns="0" anchor="ctr">
            <a:spAutoFit/>
          </a:bodyPr>
          <a:lstStyle/>
          <a:p>
            <a:pPr>
              <a:defRPr sz="1150" b="0">
                <a:solidFill>
                  <a:srgbClr val="24364B"/>
                </a:solidFill>
                <a:latin typeface="Arial"/>
              </a:defRPr>
            </a:pPr>
            <a:r>
              <a:t>Captures SRAM read-back and Z80 I/O write data.</a:t>
            </a:r>
          </a:p>
        </p:txBody>
      </p:sp>
      <p:sp>
        <p:nvSpPr>
          <p:cNvPr id="41" name="TextBox 40"/>
          <p:cNvSpPr txBox="1"/>
          <p:nvPr/>
        </p:nvSpPr>
        <p:spPr>
          <a:xfrm>
            <a:off x="8293608" y="3968496"/>
            <a:ext cx="320040" cy="182880"/>
          </a:xfrm>
          <a:prstGeom prst="rect">
            <a:avLst/>
          </a:prstGeom>
          <a:noFill/>
        </p:spPr>
        <p:txBody>
          <a:bodyPr wrap="square" lIns="0" tIns="0" rIns="0" bIns="0" anchor="ctr">
            <a:spAutoFit/>
          </a:bodyPr>
          <a:lstStyle/>
          <a:p>
            <a:pPr>
              <a:defRPr sz="1000" b="1">
                <a:solidFill>
                  <a:srgbClr val="172C46"/>
                </a:solidFill>
                <a:latin typeface="Arial"/>
              </a:defRPr>
            </a:pPr>
            <a:r>
              <a:t>02</a:t>
            </a:r>
          </a:p>
        </p:txBody>
      </p:sp>
      <p:sp>
        <p:nvSpPr>
          <p:cNvPr id="42" name="TextBox 41"/>
          <p:cNvSpPr txBox="1"/>
          <p:nvPr/>
        </p:nvSpPr>
        <p:spPr>
          <a:xfrm>
            <a:off x="8641080" y="3959352"/>
            <a:ext cx="2880360" cy="210312"/>
          </a:xfrm>
          <a:prstGeom prst="rect">
            <a:avLst/>
          </a:prstGeom>
          <a:noFill/>
        </p:spPr>
        <p:txBody>
          <a:bodyPr wrap="square" lIns="0" tIns="0" rIns="0" bIns="0" anchor="ctr">
            <a:spAutoFit/>
          </a:bodyPr>
          <a:lstStyle/>
          <a:p>
            <a:pPr>
              <a:defRPr sz="1300" b="1">
                <a:solidFill>
                  <a:srgbClr val="172C46"/>
                </a:solidFill>
                <a:latin typeface="Arial"/>
              </a:defRPr>
            </a:pPr>
            <a:r>
              <a:t>5 V to 3.3 V</a:t>
            </a:r>
          </a:p>
        </p:txBody>
      </p:sp>
      <p:sp>
        <p:nvSpPr>
          <p:cNvPr id="43" name="TextBox 42"/>
          <p:cNvSpPr txBox="1"/>
          <p:nvPr/>
        </p:nvSpPr>
        <p:spPr>
          <a:xfrm>
            <a:off x="8641080" y="4169664"/>
            <a:ext cx="2880360" cy="411480"/>
          </a:xfrm>
          <a:prstGeom prst="rect">
            <a:avLst/>
          </a:prstGeom>
          <a:noFill/>
        </p:spPr>
        <p:txBody>
          <a:bodyPr wrap="square" lIns="0" tIns="0" rIns="0" bIns="0" anchor="ctr">
            <a:spAutoFit/>
          </a:bodyPr>
          <a:lstStyle/>
          <a:p>
            <a:pPr>
              <a:defRPr sz="1150" b="0">
                <a:solidFill>
                  <a:srgbClr val="24364B"/>
                </a:solidFill>
                <a:latin typeface="Arial"/>
              </a:defRPr>
            </a:pPr>
            <a:r>
              <a:t>LVC inputs tolerate the 5 V bus and translate data for Pico GPIOs.</a:t>
            </a:r>
          </a:p>
        </p:txBody>
      </p:sp>
      <p:sp>
        <p:nvSpPr>
          <p:cNvPr id="44" name="TextBox 43"/>
          <p:cNvSpPr txBox="1"/>
          <p:nvPr/>
        </p:nvSpPr>
        <p:spPr>
          <a:xfrm>
            <a:off x="8293608" y="4626864"/>
            <a:ext cx="320040" cy="182880"/>
          </a:xfrm>
          <a:prstGeom prst="rect">
            <a:avLst/>
          </a:prstGeom>
          <a:noFill/>
        </p:spPr>
        <p:txBody>
          <a:bodyPr wrap="square" lIns="0" tIns="0" rIns="0" bIns="0" anchor="ctr">
            <a:spAutoFit/>
          </a:bodyPr>
          <a:lstStyle/>
          <a:p>
            <a:pPr>
              <a:defRPr sz="1000" b="1">
                <a:solidFill>
                  <a:srgbClr val="172C46"/>
                </a:solidFill>
                <a:latin typeface="Arial"/>
              </a:defRPr>
            </a:pPr>
            <a:r>
              <a:t>03</a:t>
            </a:r>
          </a:p>
        </p:txBody>
      </p:sp>
      <p:sp>
        <p:nvSpPr>
          <p:cNvPr id="45" name="TextBox 44"/>
          <p:cNvSpPr txBox="1"/>
          <p:nvPr/>
        </p:nvSpPr>
        <p:spPr>
          <a:xfrm>
            <a:off x="8641080" y="4617720"/>
            <a:ext cx="2880360" cy="210312"/>
          </a:xfrm>
          <a:prstGeom prst="rect">
            <a:avLst/>
          </a:prstGeom>
          <a:noFill/>
        </p:spPr>
        <p:txBody>
          <a:bodyPr wrap="square" lIns="0" tIns="0" rIns="0" bIns="0" anchor="ctr">
            <a:spAutoFit/>
          </a:bodyPr>
          <a:lstStyle/>
          <a:p>
            <a:pPr>
              <a:defRPr sz="1300" b="1">
                <a:solidFill>
                  <a:srgbClr val="172C46"/>
                </a:solidFill>
                <a:latin typeface="Arial"/>
              </a:defRPr>
            </a:pPr>
            <a:r>
              <a:t>Separate output enable</a:t>
            </a:r>
          </a:p>
        </p:txBody>
      </p:sp>
      <p:sp>
        <p:nvSpPr>
          <p:cNvPr id="46" name="TextBox 45"/>
          <p:cNvSpPr txBox="1"/>
          <p:nvPr/>
        </p:nvSpPr>
        <p:spPr>
          <a:xfrm>
            <a:off x="8641080" y="4828032"/>
            <a:ext cx="2880360" cy="411480"/>
          </a:xfrm>
          <a:prstGeom prst="rect">
            <a:avLst/>
          </a:prstGeom>
          <a:noFill/>
        </p:spPr>
        <p:txBody>
          <a:bodyPr wrap="square" lIns="0" tIns="0" rIns="0" bIns="0" anchor="ctr">
            <a:spAutoFit/>
          </a:bodyPr>
          <a:lstStyle/>
          <a:p>
            <a:pPr>
              <a:defRPr sz="1150" b="0">
                <a:solidFill>
                  <a:srgbClr val="24364B"/>
                </a:solidFill>
                <a:latin typeface="Arial"/>
              </a:defRPr>
            </a:pPr>
            <a:r>
              <a:t>GP7 controls the path; keep it off whenever U9 drives the data bus.</a:t>
            </a:r>
          </a:p>
        </p:txBody>
      </p:sp>
      <p:sp>
        <p:nvSpPr>
          <p:cNvPr id="47" name="Rectangle 46"/>
          <p:cNvSpPr/>
          <p:nvPr/>
        </p:nvSpPr>
        <p:spPr>
          <a:xfrm>
            <a:off x="438912" y="5431536"/>
            <a:ext cx="11292840" cy="685800"/>
          </a:xfrm>
          <a:prstGeom prst="rect">
            <a:avLst/>
          </a:prstGeom>
          <a:solidFill>
            <a:srgbClr val="FFF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85800" y="5559552"/>
            <a:ext cx="10789920" cy="393192"/>
          </a:xfrm>
          <a:prstGeom prst="rect">
            <a:avLst/>
          </a:prstGeom>
          <a:noFill/>
        </p:spPr>
        <p:txBody>
          <a:bodyPr wrap="square" lIns="0" tIns="0" rIns="0" bIns="0" anchor="ctr">
            <a:spAutoFit/>
          </a:bodyPr>
          <a:lstStyle/>
          <a:p>
            <a:pPr>
              <a:defRPr sz="1400" b="1">
                <a:solidFill>
                  <a:srgbClr val="172C46"/>
                </a:solidFill>
                <a:latin typeface="Arial"/>
              </a:defRPr>
            </a:pPr>
            <a:r>
              <a:t>Active inventory: Pico 2 W plus U1, U2, U3, U4, U7, U9 and U10. U5/U6/U8 are not fitted; D1 is a diode.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2891</Words>
  <Application>Microsoft Macintosh PowerPoint</Application>
  <PresentationFormat>Widescreen</PresentationFormat>
  <Paragraphs>261</Paragraphs>
  <Slides>9</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Z80ROMlessSBC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Z80 ROMless SBC | Design Overview</dc:title>
  <dc:subject>Implementation-based hardware and multicore software overview</dc:subject>
  <dc:creator>Z80ROMlessSBC</dc:creator>
  <cp:lastModifiedBy>Dave Glover</cp:lastModifiedBy>
  <cp:revision>3</cp:revision>
  <dcterms:created xsi:type="dcterms:W3CDTF">2026-10-22T06:39:34Z</dcterms:created>
  <dcterms:modified xsi:type="dcterms:W3CDTF">2026-10-22T11:21:10Z</dcterms:modified>
</cp:coreProperties>
</file>