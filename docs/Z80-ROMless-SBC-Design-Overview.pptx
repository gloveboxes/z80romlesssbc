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arrow is a direct Z80/SRAM path. The Pico/Z80 arrow represents virtual I/O and boot/control, not memory bus mastering. Core 0 generates CLK using PWM through the AHCT244 buffer.
Implementation evidence (repository-relative paths):
src/stage09_flash_storage/main.c
src/stage10_websocket_terminal/CMakeLists.txt
src/common/cpu.c
src/common/clock.c
src/common/sram.c
The deck describes the current source architecture, not a new hardware qualification. The configured nominal Z80 clock is 20 MHz. Combined networked operation requires timing and acceptance evidence. All diagrams use editable native PowerPoint shapes and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active packages are Pico 2 W, Z80, AS6C1008 SRAM, HCT32, AHCT244, AHCT245, LVC245 and LVC244. SRAM A16 is LOW. Pico never drives A0-A15 or writes SRAM directly. Drives A:-D: each occupy 320 KiB with 128-byte records. Current prototype is breadboard-first; the older PCB is not the current circuit. No SD card, PSRAM or address expander.
Implementation evidence (repository-relative paths):
src/common/include/z80sbc/pins.h
src/common/include/z80sbc/flash_layout.h
src/common/bus.c
src/common/clock.c
docs/docs/en/system/operation.md
The deck describes the current source architecture, not a new hardware qualification. The configured nominal Z80 clock is 20 MHz. Combined networked operation requires timing and acceptance evidence. All diagrams use editable native PowerPoint shapes and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10 compiles the Stage 9 automatic-loader main.c with Z80_STAGE10_NETWORK and Z80_STAGE09_AUTOBOOT enabled. RP2350 system clock is set to 120 MHz. Core 1 owns USB initialization, the default alarm pool, USB IRQ/background work, terminal input/output, ANSI mapping and supervisor framing. It starts before boot loading and registers for flash lockout; runtime workers remain gated until verified CP/M startup. A four-entry command queue requests Z80 actions on core 0. All stdout routes into a 4 KiB diagnostic ring with explicit overflow counts; only core 1 drains it to USB. Core 0 never waits on a USB stdout mutex. Core 1 services disk and extended workers before USB/network service. Wi-Fi uses pico_cyw43_arch_lwip_poll. Console rings are RX 128 B / TX 512 B. Timers and immediate port operations remain on core 0.
Implementation evidence (repository-relative paths):
src/stage09_flash_storage/main.c: core1_main(), start_cpm(), main()
src/stage09_flash_storage/usb_console.c
src/stage10_websocket_terminal/network_runtime.cpp
src/stage10_websocket_terminal/network_services.c
src/stage10_websocket_terminal/web_terminal.cpp
src/common/terminal_queue.c
src/common/io_service.c
The deck describes the current source architecture, not a new hardware qualification. The configured nominal Z80 clock is 20 MHz. Combined networked operation requires timing and acceptance evidence. All diagrams use editable native PowerPoint shapes and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1 starts first, initializes USB and participates in SDK flash lockout during journal recovery. Core 0 completes loading and independent read-back before enabling runtime workers. During injection, SRAM read output is inhibited, but the Z80 still generates all addresses and SRAM writes. z80_cpu_release_reset_and_run resets the CPU with six slow clock cycles, enables SRAM reads, releases RESET and starts PWM after the required settling interval. Load/CRC/verify failures hold RESET LOW. USB remains on core 1 throughout loading and while stopped. The normal execution path has both Pico data paths isolated except during trapped I/O.
Implementation evidence (repository-relative paths):
src/common/flash_backend.c: load_boot_image()
src/common/sram.c: load_hl(), z80_sram_write_byte(), z80_sram_read_byte()
src/common/cpu.c: z80_cpu_release_reset_and_run()
src/stage09_flash_storage/main.c: load_image(), start_cpm()
The deck describes the current source architecture, not a new hardware qualification. The configured nominal Z80 clock is 20 MHz. Combined networked operation requires timing and acceptance evidence. All diagrams use editable native PowerPoint shapes and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HCT32 produces WAIT# = IORQ# OR IO_RELEASE. Core 0 stops PWM, validates controls and selects the data path. It raises IO_RELEASE only once the byte path is configured, slow-steps until IORQ and strobe release, isolates both paths, lowers IO_RELEASE and resumes PWM. Trapped port adapters do bounded work, not network calls. Console is data/status 00/01h; disk is 10-14h; framed services are 02-04h. Console handover clears queues. Firmware also retains output-ACK and heartbeat handling in web_terminal.cpp. Disk fast reads use flash/cache synchronously; writes and flushes are immutable queue requests serviced by core 1. Programming requires a core-0 bus-grant handshake and SDK flash-safe execution.
Implementation evidence (repository-relative paths):
src/common/io_trap.c
src/common/disk_device.c
src/common/flash_backend.c
src/common/terminal_queue.c
src/common/io_ports.c
src/stage10_websocket_terminal/web_terminal.cpp
The deck describes the current source architecture, not a new hardware qualification. The configured nominal Z80 clock is 20 MHz. Combined networked operation requires timing and acceptance evidence. All diagrams use editable native PowerPoint shapes and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deliberately high-level; the detailed architecture SVG remains the engineering companion. Sources are recorded per slide in speaker notes. Stage 10 includes weather and chat clients as independent asynchronous network services, not dependencies of the terminal or Z80 trap. FS_SERVER is stored configuration only, not an implemented remote filesystem. The nominal 20 MHz clock is a firmware configuration, not a claim of combined network hardware qualification.
Implementation evidence (repository-relative paths):
docs/docs/en/images/system-architecture.svg
src/stage10_websocket_terminal/CMakeLists.txt
src/stage09_flash_storage/main.c
src/stage10_websocket_terminal/network_runtime.cpp
src/stage10_websocket_terminal/network_services.c
The deck describes the current source architecture, not a new hardware qualification. The configured nominal Z80 clock is 20 MHz. Combined networked operation requires timing and acceptance evidence. All diagrams use editable native PowerPoint shapes and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sp>
      <p:sp>
        <p:nvSpPr>
          <p:cNvPr id="3" name="Text 1"/>
          <p:cNvSpPr/>
          <p:nvPr/>
        </p:nvSpPr>
        <p:spPr>
          <a:xfrm>
            <a:off x="411480" y="228600"/>
            <a:ext cx="10058400" cy="256032"/>
          </a:xfrm>
          <a:prstGeom prst="rect">
            <a:avLst/>
          </a:prstGeom>
          <a:noFill/>
          <a:ln/>
        </p:spPr>
        <p:txBody>
          <a:bodyPr wrap="square" lIns="0" tIns="0" rIns="0" bIns="0" rtlCol="0" anchor="ctr"/>
          <a:lstStyle/>
          <a:p>
            <a:pPr indent="0" marL="0">
              <a:buNone/>
            </a:pPr>
            <a:r>
              <a:rPr lang="en-US" sz="1100" b="1" spc="150" kern="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indent="0" marL="0">
              <a:buNone/>
            </a:pPr>
            <a:r>
              <a:rPr lang="en-US" sz="3300" b="1" dirty="0">
                <a:solidFill>
                  <a:srgbClr val="172C46"/>
                </a:solidFill>
                <a:latin typeface="Arial" pitchFamily="34" charset="0"/>
                <a:ea typeface="Arial" pitchFamily="34" charset="-122"/>
                <a:cs typeface="Arial" pitchFamily="34" charset="-120"/>
              </a:rPr>
              <a:t>Classic CPU. Modern I/O controller. No ROM.</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indent="0" marL="0">
              <a:buNone/>
            </a:pPr>
            <a:r>
              <a:rPr lang="en-US" sz="1800" dirty="0">
                <a:solidFill>
                  <a:srgbClr val="5B6C83"/>
                </a:solidFill>
                <a:latin typeface="Arial" pitchFamily="34" charset="0"/>
                <a:ea typeface="Arial" pitchFamily="34" charset="-122"/>
                <a:cs typeface="Arial" pitchFamily="34" charset="-120"/>
              </a:rPr>
              <a:t>A real Z80 runs CP/M from SRAM; the Pico 2 W supplies the infrastructure around it.</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indent="0" marL="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22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algn="r" indent="0" marL="0">
              <a:buNone/>
            </a:pPr>
            <a:r>
              <a:rPr lang="en-US" sz="1200" dirty="0">
                <a:solidFill>
                  <a:srgbClr val="5B6C83"/>
                </a:solidFill>
                <a:latin typeface="Arial" pitchFamily="34" charset="0"/>
                <a:ea typeface="Arial" pitchFamily="34" charset="-122"/>
                <a:cs typeface="Arial" pitchFamily="34" charset="-120"/>
              </a:rPr>
              <a:t>01</a:t>
            </a:r>
            <a:endParaRPr lang="en-US" sz="1200" dirty="0"/>
          </a:p>
        </p:txBody>
      </p:sp>
      <p:sp>
        <p:nvSpPr>
          <p:cNvPr id="8" name="Shape 6"/>
          <p:cNvSpPr/>
          <p:nvPr/>
        </p:nvSpPr>
        <p:spPr>
          <a:xfrm>
            <a:off x="438912" y="2331720"/>
            <a:ext cx="2286000" cy="2487168"/>
          </a:xfrm>
          <a:prstGeom prst="roundRect">
            <a:avLst>
              <a:gd name="adj" fmla="val 5600"/>
            </a:avLst>
          </a:prstGeom>
          <a:solidFill>
            <a:srgbClr val="FFFFFF"/>
          </a:solidFill>
          <a:ln w="12700">
            <a:solidFill>
              <a:srgbClr val="D1DBE8"/>
            </a:solidFill>
            <a:prstDash val="solid"/>
          </a:ln>
        </p:spPr>
      </p:sp>
      <p:sp>
        <p:nvSpPr>
          <p:cNvPr id="9" name="Text 7"/>
          <p:cNvSpPr/>
          <p:nvPr/>
        </p:nvSpPr>
        <p:spPr>
          <a:xfrm>
            <a:off x="640080" y="2560320"/>
            <a:ext cx="1874520" cy="320040"/>
          </a:xfrm>
          <a:prstGeom prst="rect">
            <a:avLst/>
          </a:prstGeom>
          <a:noFill/>
          <a:ln/>
        </p:spPr>
        <p:txBody>
          <a:bodyPr wrap="square" lIns="0" tIns="0" rIns="0" bIns="0" rtlCol="0" anchor="ctr"/>
          <a:lstStyle/>
          <a:p>
            <a:pPr indent="0" marL="0">
              <a:buNone/>
            </a:pPr>
            <a:r>
              <a:rPr lang="en-US" sz="1400" b="1" dirty="0">
                <a:solidFill>
                  <a:srgbClr val="5B6C83"/>
                </a:solidFill>
                <a:latin typeface="Arial" pitchFamily="34" charset="0"/>
                <a:ea typeface="Arial" pitchFamily="34" charset="-122"/>
                <a:cs typeface="Arial" pitchFamily="34" charset="-120"/>
              </a:rPr>
              <a:t>TERMINALS</a:t>
            </a:r>
            <a:endParaRPr lang="en-US" sz="1400" dirty="0"/>
          </a:p>
        </p:txBody>
      </p:sp>
      <p:sp>
        <p:nvSpPr>
          <p:cNvPr id="10" name="Text 8"/>
          <p:cNvSpPr/>
          <p:nvPr/>
        </p:nvSpPr>
        <p:spPr>
          <a:xfrm>
            <a:off x="640080" y="3154680"/>
            <a:ext cx="1874520" cy="594360"/>
          </a:xfrm>
          <a:prstGeom prst="rect">
            <a:avLst/>
          </a:prstGeom>
          <a:noFill/>
          <a:ln/>
        </p:spPr>
        <p:txBody>
          <a:bodyPr wrap="square" lIns="0" tIns="0" rIns="0" bIns="0" rtlCol="0" anchor="ctr"/>
          <a:lstStyle/>
          <a:p>
            <a:pPr indent="0" marL="0">
              <a:buNone/>
            </a:pPr>
            <a:r>
              <a:rPr lang="en-US" sz="2300" b="1" dirty="0">
                <a:solidFill>
                  <a:srgbClr val="172C46"/>
                </a:solidFill>
                <a:latin typeface="Arial" pitchFamily="34" charset="0"/>
                <a:ea typeface="Arial" pitchFamily="34" charset="-122"/>
                <a:cs typeface="Arial" pitchFamily="34" charset="-120"/>
              </a:rPr>
              <a:t>Browser over Wi-Fi</a:t>
            </a:r>
            <a:endParaRPr lang="en-US" sz="2300" dirty="0"/>
          </a:p>
        </p:txBody>
      </p:sp>
      <p:sp>
        <p:nvSpPr>
          <p:cNvPr id="11" name="Text 9"/>
          <p:cNvSpPr/>
          <p:nvPr/>
        </p:nvSpPr>
        <p:spPr>
          <a:xfrm>
            <a:off x="640080" y="3950208"/>
            <a:ext cx="1874520" cy="576072"/>
          </a:xfrm>
          <a:prstGeom prst="rect">
            <a:avLst/>
          </a:prstGeom>
          <a:noFill/>
          <a:ln/>
        </p:spPr>
        <p:txBody>
          <a:bodyPr wrap="square" lIns="0" tIns="0" rIns="0" bIns="0" rtlCol="0" anchor="ctr"/>
          <a:lstStyle/>
          <a:p>
            <a:pPr indent="0" marL="0">
              <a:buNone/>
            </a:pPr>
            <a:r>
              <a:rPr lang="en-US" sz="1700" dirty="0">
                <a:solidFill>
                  <a:srgbClr val="5B6C83"/>
                </a:solidFill>
                <a:latin typeface="Arial" pitchFamily="34" charset="0"/>
                <a:ea typeface="Arial" pitchFamily="34" charset="-122"/>
                <a:cs typeface="Arial" pitchFamily="34" charset="-120"/>
              </a:rPr>
              <a:t>USB serial fallback</a:t>
            </a:r>
            <a:endParaRPr lang="en-US" sz="1700" dirty="0"/>
          </a:p>
          <a:p>
            <a:pPr indent="0" marL="0">
              <a:buNone/>
            </a:pPr>
            <a:r>
              <a:rPr lang="en-US" sz="1700" dirty="0">
                <a:solidFill>
                  <a:srgbClr val="5B6C83"/>
                </a:solidFill>
                <a:latin typeface="Arial" pitchFamily="34" charset="0"/>
                <a:ea typeface="Arial" pitchFamily="34" charset="-122"/>
                <a:cs typeface="Arial" pitchFamily="34" charset="-120"/>
              </a:rPr>
              <a:t>+ supervisor commands</a:t>
            </a:r>
            <a:endParaRPr lang="en-US" sz="1700" dirty="0"/>
          </a:p>
        </p:txBody>
      </p:sp>
      <p:sp>
        <p:nvSpPr>
          <p:cNvPr id="12" name="Shape 10"/>
          <p:cNvSpPr/>
          <p:nvPr/>
        </p:nvSpPr>
        <p:spPr>
          <a:xfrm>
            <a:off x="3291840" y="2148840"/>
            <a:ext cx="3703320" cy="2880360"/>
          </a:xfrm>
          <a:prstGeom prst="roundRect">
            <a:avLst>
              <a:gd name="adj" fmla="val 4444"/>
            </a:avLst>
          </a:prstGeom>
          <a:solidFill>
            <a:srgbClr val="E8F0FF"/>
          </a:solidFill>
          <a:ln w="12700">
            <a:solidFill>
              <a:srgbClr val="BCD0F0"/>
            </a:solidFill>
            <a:prstDash val="solid"/>
          </a:ln>
        </p:spPr>
      </p:sp>
      <p:sp>
        <p:nvSpPr>
          <p:cNvPr id="13" name="Text 11"/>
          <p:cNvSpPr/>
          <p:nvPr/>
        </p:nvSpPr>
        <p:spPr>
          <a:xfrm>
            <a:off x="3529584" y="2377440"/>
            <a:ext cx="3227832" cy="411480"/>
          </a:xfrm>
          <a:prstGeom prst="rect">
            <a:avLst/>
          </a:prstGeom>
          <a:noFill/>
          <a:ln/>
        </p:spPr>
        <p:txBody>
          <a:bodyPr wrap="square" lIns="0" tIns="0" rIns="0" bIns="0" rtlCol="0" anchor="ctr"/>
          <a:lstStyle/>
          <a:p>
            <a:pPr indent="0" marL="0">
              <a:buNone/>
            </a:pPr>
            <a:r>
              <a:rPr lang="en-US" sz="2800" b="1" dirty="0">
                <a:solidFill>
                  <a:srgbClr val="245FC0"/>
                </a:solidFill>
                <a:latin typeface="Arial" pitchFamily="34" charset="0"/>
                <a:ea typeface="Arial" pitchFamily="34" charset="-122"/>
                <a:cs typeface="Arial" pitchFamily="34" charset="-120"/>
              </a:rPr>
              <a:t>PICO 2 W</a:t>
            </a:r>
            <a:endParaRPr lang="en-US" sz="2800" dirty="0"/>
          </a:p>
        </p:txBody>
      </p:sp>
      <p:sp>
        <p:nvSpPr>
          <p:cNvPr id="14" name="Text 12"/>
          <p:cNvSpPr/>
          <p:nvPr/>
        </p:nvSpPr>
        <p:spPr>
          <a:xfrm>
            <a:off x="3529584" y="2889504"/>
            <a:ext cx="3227832" cy="365760"/>
          </a:xfrm>
          <a:prstGeom prst="rect">
            <a:avLst/>
          </a:prstGeom>
          <a:noFill/>
          <a:ln/>
        </p:spPr>
        <p:txBody>
          <a:bodyPr wrap="square" lIns="0" tIns="0" rIns="0" bIns="0" rtlCol="0" anchor="ctr"/>
          <a:lstStyle/>
          <a:p>
            <a:pPr indent="0" marL="0">
              <a:buNone/>
            </a:pPr>
            <a:r>
              <a:rPr lang="en-US" sz="2100" b="1" dirty="0">
                <a:solidFill>
                  <a:srgbClr val="172C46"/>
                </a:solidFill>
                <a:latin typeface="Arial" pitchFamily="34" charset="0"/>
                <a:ea typeface="Arial" pitchFamily="34" charset="-122"/>
                <a:cs typeface="Arial" pitchFamily="34" charset="-120"/>
              </a:rPr>
              <a:t>Multicore I/O controller</a:t>
            </a:r>
            <a:endParaRPr lang="en-US" sz="2100" dirty="0"/>
          </a:p>
        </p:txBody>
      </p:sp>
      <p:sp>
        <p:nvSpPr>
          <p:cNvPr id="15" name="Text 13"/>
          <p:cNvSpPr/>
          <p:nvPr/>
        </p:nvSpPr>
        <p:spPr>
          <a:xfrm>
            <a:off x="3529584" y="3474720"/>
            <a:ext cx="3227832" cy="731520"/>
          </a:xfrm>
          <a:prstGeom prst="rect">
            <a:avLst/>
          </a:prstGeom>
          <a:noFill/>
          <a:ln/>
        </p:spPr>
        <p:txBody>
          <a:bodyPr wrap="square" lIns="0" tIns="0" rIns="0" bIns="0" rtlCol="0" anchor="ctr"/>
          <a:lstStyle/>
          <a:p>
            <a:pPr indent="0" marL="0">
              <a:buNone/>
            </a:pPr>
            <a:r>
              <a:rPr lang="en-US" sz="1800" dirty="0">
                <a:solidFill>
                  <a:srgbClr val="172C46"/>
                </a:solidFill>
                <a:latin typeface="Arial" pitchFamily="34" charset="0"/>
                <a:ea typeface="Arial" pitchFamily="34" charset="-122"/>
                <a:cs typeface="Arial" pitchFamily="34" charset="-120"/>
              </a:rPr>
              <a:t>Core 0: Z80 control + I/O</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Core 1: USB, storage + Wi-Fi</a:t>
            </a:r>
            <a:endParaRPr lang="en-US" sz="1800" dirty="0"/>
          </a:p>
        </p:txBody>
      </p:sp>
      <p:sp>
        <p:nvSpPr>
          <p:cNvPr id="16" name="Shape 14"/>
          <p:cNvSpPr/>
          <p:nvPr/>
        </p:nvSpPr>
        <p:spPr>
          <a:xfrm>
            <a:off x="3529584" y="4389120"/>
            <a:ext cx="3227832" cy="365760"/>
          </a:xfrm>
          <a:prstGeom prst="roundRect">
            <a:avLst>
              <a:gd name="adj" fmla="val 35000"/>
            </a:avLst>
          </a:prstGeom>
          <a:solidFill>
            <a:srgbClr val="FFF0DB"/>
          </a:solidFill>
          <a:ln w="12700">
            <a:solidFill>
              <a:srgbClr val="FFF0DB"/>
            </a:solidFill>
            <a:prstDash val="solid"/>
          </a:ln>
        </p:spPr>
      </p:sp>
      <p:sp>
        <p:nvSpPr>
          <p:cNvPr id="17" name="Text 15"/>
          <p:cNvSpPr/>
          <p:nvPr/>
        </p:nvSpPr>
        <p:spPr>
          <a:xfrm>
            <a:off x="3621024" y="4425696"/>
            <a:ext cx="3044952" cy="274320"/>
          </a:xfrm>
          <a:prstGeom prst="rect">
            <a:avLst/>
          </a:prstGeom>
          <a:noFill/>
          <a:ln/>
        </p:spPr>
        <p:txBody>
          <a:bodyPr wrap="square" lIns="0" tIns="0" rIns="0" bIns="0" rtlCol="0" anchor="ctr"/>
          <a:lstStyle/>
          <a:p>
            <a:pPr algn="ctr" indent="0" marL="0">
              <a:buNone/>
            </a:pPr>
            <a:r>
              <a:rPr lang="en-US" sz="1200" b="1" dirty="0">
                <a:solidFill>
                  <a:srgbClr val="BC6211"/>
                </a:solidFill>
                <a:latin typeface="Arial" pitchFamily="34" charset="0"/>
                <a:ea typeface="Arial" pitchFamily="34" charset="-122"/>
                <a:cs typeface="Arial" pitchFamily="34" charset="-120"/>
              </a:rPr>
              <a:t>GENERATES THE 20 MHz Z80 CLOCK</a:t>
            </a:r>
            <a:endParaRPr lang="en-US" sz="1200" dirty="0"/>
          </a:p>
        </p:txBody>
      </p:sp>
      <p:sp>
        <p:nvSpPr>
          <p:cNvPr id="18" name="Shape 16"/>
          <p:cNvSpPr/>
          <p:nvPr/>
        </p:nvSpPr>
        <p:spPr>
          <a:xfrm>
            <a:off x="7726680" y="2148840"/>
            <a:ext cx="4005072" cy="1298448"/>
          </a:xfrm>
          <a:prstGeom prst="roundRect">
            <a:avLst>
              <a:gd name="adj" fmla="val 9859"/>
            </a:avLst>
          </a:prstGeom>
          <a:solidFill>
            <a:srgbClr val="F0E9FA"/>
          </a:solidFill>
          <a:ln w="12700">
            <a:solidFill>
              <a:srgbClr val="D2BFEA"/>
            </a:solidFill>
            <a:prstDash val="solid"/>
          </a:ln>
        </p:spPr>
      </p:sp>
      <p:sp>
        <p:nvSpPr>
          <p:cNvPr id="19" name="Text 17"/>
          <p:cNvSpPr/>
          <p:nvPr/>
        </p:nvSpPr>
        <p:spPr>
          <a:xfrm>
            <a:off x="7955280" y="2359152"/>
            <a:ext cx="3529584" cy="365760"/>
          </a:xfrm>
          <a:prstGeom prst="rect">
            <a:avLst/>
          </a:prstGeom>
          <a:noFill/>
          <a:ln/>
        </p:spPr>
        <p:txBody>
          <a:bodyPr wrap="square" lIns="0" tIns="0" rIns="0" bIns="0" rtlCol="0" anchor="ctr"/>
          <a:lstStyle/>
          <a:p>
            <a:pPr indent="0" marL="0">
              <a:buNone/>
            </a:pPr>
            <a:r>
              <a:rPr lang="en-US" sz="2500" b="1" dirty="0">
                <a:solidFill>
                  <a:srgbClr val="7545AC"/>
                </a:solidFill>
                <a:latin typeface="Arial" pitchFamily="34" charset="0"/>
                <a:ea typeface="Arial" pitchFamily="34" charset="-122"/>
                <a:cs typeface="Arial" pitchFamily="34" charset="-120"/>
              </a:rPr>
              <a:t>Z80 CPU</a:t>
            </a:r>
            <a:endParaRPr lang="en-US" sz="2500" dirty="0"/>
          </a:p>
        </p:txBody>
      </p:sp>
      <p:sp>
        <p:nvSpPr>
          <p:cNvPr id="20" name="Text 18"/>
          <p:cNvSpPr/>
          <p:nvPr/>
        </p:nvSpPr>
        <p:spPr>
          <a:xfrm>
            <a:off x="7955280" y="2834640"/>
            <a:ext cx="3529584" cy="338328"/>
          </a:xfrm>
          <a:prstGeom prst="rect">
            <a:avLst/>
          </a:prstGeom>
          <a:noFill/>
          <a:ln/>
        </p:spPr>
        <p:txBody>
          <a:bodyPr wrap="square" lIns="0" tIns="0" rIns="0" bIns="0" rtlCol="0" anchor="ctr"/>
          <a:lstStyle/>
          <a:p>
            <a:pPr indent="0" marL="0">
              <a:buNone/>
            </a:pPr>
            <a:r>
              <a:rPr lang="en-US" sz="1800" dirty="0">
                <a:solidFill>
                  <a:srgbClr val="172C46"/>
                </a:solidFill>
                <a:latin typeface="Arial" pitchFamily="34" charset="0"/>
                <a:ea typeface="Arial" pitchFamily="34" charset="-122"/>
                <a:cs typeface="Arial" pitchFamily="34" charset="-120"/>
              </a:rPr>
              <a:t>Executes CP/M and applications</a:t>
            </a:r>
            <a:endParaRPr lang="en-US" sz="1800" dirty="0"/>
          </a:p>
        </p:txBody>
      </p:sp>
      <p:sp>
        <p:nvSpPr>
          <p:cNvPr id="21" name="Shape 19"/>
          <p:cNvSpPr/>
          <p:nvPr/>
        </p:nvSpPr>
        <p:spPr>
          <a:xfrm>
            <a:off x="7726680" y="3931920"/>
            <a:ext cx="4005072" cy="1097280"/>
          </a:xfrm>
          <a:prstGeom prst="roundRect">
            <a:avLst>
              <a:gd name="adj" fmla="val 11667"/>
            </a:avLst>
          </a:prstGeom>
          <a:solidFill>
            <a:srgbClr val="F0E9FA"/>
          </a:solidFill>
          <a:ln w="12700">
            <a:solidFill>
              <a:srgbClr val="D2BFEA"/>
            </a:solidFill>
            <a:prstDash val="solid"/>
          </a:ln>
        </p:spPr>
      </p:sp>
      <p:sp>
        <p:nvSpPr>
          <p:cNvPr id="22" name="Text 20"/>
          <p:cNvSpPr/>
          <p:nvPr/>
        </p:nvSpPr>
        <p:spPr>
          <a:xfrm>
            <a:off x="7955280" y="4087368"/>
            <a:ext cx="3529584" cy="365760"/>
          </a:xfrm>
          <a:prstGeom prst="rect">
            <a:avLst/>
          </a:prstGeom>
          <a:noFill/>
          <a:ln/>
        </p:spPr>
        <p:txBody>
          <a:bodyPr wrap="square" lIns="0" tIns="0" rIns="0" bIns="0" rtlCol="0" anchor="ctr"/>
          <a:lstStyle/>
          <a:p>
            <a:pPr indent="0" marL="0">
              <a:buNone/>
            </a:pPr>
            <a:r>
              <a:rPr lang="en-US" sz="2500" b="1" dirty="0">
                <a:solidFill>
                  <a:srgbClr val="7545AC"/>
                </a:solidFill>
                <a:latin typeface="Arial" pitchFamily="34" charset="0"/>
                <a:ea typeface="Arial" pitchFamily="34" charset="-122"/>
                <a:cs typeface="Arial" pitchFamily="34" charset="-120"/>
              </a:rPr>
              <a:t>64 KiB SRAM</a:t>
            </a:r>
            <a:endParaRPr lang="en-US" sz="2500" dirty="0"/>
          </a:p>
        </p:txBody>
      </p:sp>
      <p:sp>
        <p:nvSpPr>
          <p:cNvPr id="23" name="Text 21"/>
          <p:cNvSpPr/>
          <p:nvPr/>
        </p:nvSpPr>
        <p:spPr>
          <a:xfrm>
            <a:off x="7955280" y="4544568"/>
            <a:ext cx="3529584" cy="292608"/>
          </a:xfrm>
          <a:prstGeom prst="rect">
            <a:avLst/>
          </a:prstGeom>
          <a:noFill/>
          <a:ln/>
        </p:spPr>
        <p:txBody>
          <a:bodyPr wrap="square" lIns="0" tIns="0" rIns="0" bIns="0" rtlCol="0" anchor="ctr"/>
          <a:lstStyle/>
          <a:p>
            <a:pPr indent="0" marL="0">
              <a:buNone/>
            </a:pPr>
            <a:r>
              <a:rPr lang="en-US" sz="1800" dirty="0">
                <a:solidFill>
                  <a:srgbClr val="172C46"/>
                </a:solidFill>
                <a:latin typeface="Arial" pitchFamily="34" charset="0"/>
                <a:ea typeface="Arial" pitchFamily="34" charset="-122"/>
                <a:cs typeface="Arial" pitchFamily="34" charset="-120"/>
              </a:rPr>
              <a:t>Code, operating system and data</a:t>
            </a:r>
            <a:endParaRPr lang="en-US" sz="1800" dirty="0"/>
          </a:p>
        </p:txBody>
      </p:sp>
      <p:sp>
        <p:nvSpPr>
          <p:cNvPr id="24" name="Shape 22"/>
          <p:cNvSpPr/>
          <p:nvPr/>
        </p:nvSpPr>
        <p:spPr>
          <a:xfrm>
            <a:off x="2724912" y="3538728"/>
            <a:ext cx="566928" cy="0"/>
          </a:xfrm>
          <a:prstGeom prst="line">
            <a:avLst/>
          </a:prstGeom>
          <a:noFill/>
          <a:ln w="31750">
            <a:solidFill>
              <a:srgbClr val="007F79"/>
            </a:solidFill>
            <a:prstDash val="solid"/>
            <a:headEnd type="triangle"/>
            <a:tailEnd type="triangle"/>
          </a:ln>
        </p:spPr>
      </p:sp>
      <p:sp>
        <p:nvSpPr>
          <p:cNvPr id="25" name="Shape 23"/>
          <p:cNvSpPr/>
          <p:nvPr/>
        </p:nvSpPr>
        <p:spPr>
          <a:xfrm>
            <a:off x="6995160" y="2761488"/>
            <a:ext cx="731520" cy="0"/>
          </a:xfrm>
          <a:prstGeom prst="line">
            <a:avLst/>
          </a:prstGeom>
          <a:noFill/>
          <a:ln w="31750">
            <a:solidFill>
              <a:srgbClr val="245FC0"/>
            </a:solidFill>
            <a:prstDash val="solid"/>
            <a:headEnd type="triangle"/>
            <a:tailEnd type="triangle"/>
          </a:ln>
        </p:spPr>
      </p:sp>
      <p:sp>
        <p:nvSpPr>
          <p:cNvPr id="26" name="Text 24"/>
          <p:cNvSpPr/>
          <p:nvPr/>
        </p:nvSpPr>
        <p:spPr>
          <a:xfrm>
            <a:off x="7059168" y="2368296"/>
            <a:ext cx="594360" cy="228600"/>
          </a:xfrm>
          <a:prstGeom prst="rect">
            <a:avLst/>
          </a:prstGeom>
          <a:noFill/>
          <a:ln/>
        </p:spPr>
        <p:txBody>
          <a:bodyPr wrap="square" lIns="0" tIns="0" rIns="0" bIns="0" rtlCol="0" anchor="ctr"/>
          <a:lstStyle/>
          <a:p>
            <a:pPr algn="ctr" indent="0" marL="0">
              <a:buNone/>
            </a:pPr>
            <a:r>
              <a:rPr lang="en-US" sz="1300" dirty="0">
                <a:solidFill>
                  <a:srgbClr val="245FC0"/>
                </a:solidFill>
                <a:latin typeface="Arial" pitchFamily="34" charset="0"/>
                <a:ea typeface="Arial" pitchFamily="34" charset="-122"/>
                <a:cs typeface="Arial" pitchFamily="34" charset="-120"/>
              </a:rPr>
              <a:t>I/O</a:t>
            </a:r>
            <a:endParaRPr lang="en-US" sz="1300" dirty="0"/>
          </a:p>
        </p:txBody>
      </p:sp>
      <p:sp>
        <p:nvSpPr>
          <p:cNvPr id="27" name="Shape 25"/>
          <p:cNvSpPr/>
          <p:nvPr/>
        </p:nvSpPr>
        <p:spPr>
          <a:xfrm>
            <a:off x="9738360" y="3447288"/>
            <a:ext cx="0" cy="484632"/>
          </a:xfrm>
          <a:prstGeom prst="line">
            <a:avLst/>
          </a:prstGeom>
          <a:noFill/>
          <a:ln w="31750">
            <a:solidFill>
              <a:srgbClr val="7545AC"/>
            </a:solidFill>
            <a:prstDash val="solid"/>
            <a:headEnd type="triangle"/>
            <a:tailEnd type="triangle"/>
          </a:ln>
        </p:spPr>
      </p:sp>
      <p:sp>
        <p:nvSpPr>
          <p:cNvPr id="28" name="Shape 26"/>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sp>
      <p:sp>
        <p:nvSpPr>
          <p:cNvPr id="29" name="Text 27"/>
          <p:cNvSpPr/>
          <p:nvPr/>
        </p:nvSpPr>
        <p:spPr>
          <a:xfrm>
            <a:off x="612648" y="5897880"/>
            <a:ext cx="10945368" cy="301752"/>
          </a:xfrm>
          <a:prstGeom prst="rect">
            <a:avLst/>
          </a:prstGeom>
          <a:noFill/>
          <a:ln/>
        </p:spPr>
        <p:txBody>
          <a:bodyPr wrap="square" lIns="0" tIns="0" rIns="0" bIns="0" rtlCol="0" anchor="ctr"/>
          <a:lstStyle/>
          <a:p>
            <a:pPr algn="ctr" indent="0" marL="0">
              <a:buNone/>
            </a:pPr>
            <a:r>
              <a:rPr lang="en-US" sz="1600" b="1" dirty="0">
                <a:solidFill>
                  <a:srgbClr val="245FC0"/>
                </a:solidFill>
                <a:latin typeface="Arial" pitchFamily="34" charset="0"/>
                <a:ea typeface="Arial" pitchFamily="34" charset="-122"/>
                <a:cs typeface="Arial" pitchFamily="34" charset="-120"/>
              </a:rPr>
              <a:t>The Pico is not emulating the Z80. The Z80 directly addresses SRAM and executes every Z80 instruction.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sp>
      <p:sp>
        <p:nvSpPr>
          <p:cNvPr id="3" name="Text 1"/>
          <p:cNvSpPr/>
          <p:nvPr/>
        </p:nvSpPr>
        <p:spPr>
          <a:xfrm>
            <a:off x="411480" y="228600"/>
            <a:ext cx="10058400" cy="256032"/>
          </a:xfrm>
          <a:prstGeom prst="rect">
            <a:avLst/>
          </a:prstGeom>
          <a:noFill/>
          <a:ln/>
        </p:spPr>
        <p:txBody>
          <a:bodyPr wrap="square" lIns="0" tIns="0" rIns="0" bIns="0" rtlCol="0" anchor="ctr"/>
          <a:lstStyle/>
          <a:p>
            <a:pPr indent="0" marL="0">
              <a:buNone/>
            </a:pPr>
            <a:r>
              <a:rPr lang="en-US" sz="1100" b="1" spc="150" kern="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indent="0" marL="0">
              <a:buNone/>
            </a:pPr>
            <a:r>
              <a:rPr lang="en-US" sz="3300" b="1" dirty="0">
                <a:solidFill>
                  <a:srgbClr val="172C46"/>
                </a:solidFill>
                <a:latin typeface="Arial" pitchFamily="34" charset="0"/>
                <a:ea typeface="Arial" pitchFamily="34" charset="-122"/>
                <a:cs typeface="Arial" pitchFamily="34" charset="-120"/>
              </a:rPr>
              <a:t>Three hardware building blocks</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indent="0" marL="0">
              <a:buNone/>
            </a:pPr>
            <a:r>
              <a:rPr lang="en-US" sz="1800" dirty="0">
                <a:solidFill>
                  <a:srgbClr val="5B6C83"/>
                </a:solidFill>
                <a:latin typeface="Arial" pitchFamily="34" charset="0"/>
                <a:ea typeface="Arial" pitchFamily="34" charset="-122"/>
                <a:cs typeface="Arial" pitchFamily="34" charset="-120"/>
              </a:rPr>
              <a:t>CPU and SRAM handle execution. The Pico and fixed logic provide a safe, buffered interface.</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indent="0" marL="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22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algn="r" indent="0" marL="0">
              <a:buNone/>
            </a:pPr>
            <a:r>
              <a:rPr lang="en-US" sz="1200" dirty="0">
                <a:solidFill>
                  <a:srgbClr val="5B6C83"/>
                </a:solidFill>
                <a:latin typeface="Arial" pitchFamily="34" charset="0"/>
                <a:ea typeface="Arial" pitchFamily="34" charset="-122"/>
                <a:cs typeface="Arial" pitchFamily="34" charset="-120"/>
              </a:rPr>
              <a:t>02</a:t>
            </a:r>
            <a:endParaRPr lang="en-US" sz="1200" dirty="0"/>
          </a:p>
        </p:txBody>
      </p:sp>
      <p:sp>
        <p:nvSpPr>
          <p:cNvPr id="8" name="Shape 6"/>
          <p:cNvSpPr/>
          <p:nvPr/>
        </p:nvSpPr>
        <p:spPr>
          <a:xfrm>
            <a:off x="438912" y="2176272"/>
            <a:ext cx="3648456" cy="3035808"/>
          </a:xfrm>
          <a:prstGeom prst="roundRect">
            <a:avLst>
              <a:gd name="adj" fmla="val 4217"/>
            </a:avLst>
          </a:prstGeom>
          <a:solidFill>
            <a:srgbClr val="F0E9FA"/>
          </a:solidFill>
          <a:ln w="12700">
            <a:solidFill>
              <a:srgbClr val="F0E9FA"/>
            </a:solidFill>
            <a:prstDash val="solid"/>
          </a:ln>
        </p:spPr>
      </p:sp>
      <p:sp>
        <p:nvSpPr>
          <p:cNvPr id="9" name="Text 7"/>
          <p:cNvSpPr/>
          <p:nvPr/>
        </p:nvSpPr>
        <p:spPr>
          <a:xfrm>
            <a:off x="649224" y="2423160"/>
            <a:ext cx="3227832" cy="457200"/>
          </a:xfrm>
          <a:prstGeom prst="rect">
            <a:avLst/>
          </a:prstGeom>
          <a:noFill/>
          <a:ln/>
        </p:spPr>
        <p:txBody>
          <a:bodyPr wrap="square" lIns="0" tIns="0" rIns="0" bIns="0" rtlCol="0" anchor="ctr"/>
          <a:lstStyle/>
          <a:p>
            <a:pPr indent="0" marL="0">
              <a:buNone/>
            </a:pPr>
            <a:r>
              <a:rPr lang="en-US" sz="2500" b="1" dirty="0">
                <a:solidFill>
                  <a:srgbClr val="7545AC"/>
                </a:solidFill>
                <a:latin typeface="Arial" pitchFamily="34" charset="0"/>
                <a:ea typeface="Arial" pitchFamily="34" charset="-122"/>
                <a:cs typeface="Arial" pitchFamily="34" charset="-120"/>
              </a:rPr>
              <a:t>Z80 + SRAM</a:t>
            </a:r>
            <a:endParaRPr lang="en-US" sz="2500" dirty="0"/>
          </a:p>
        </p:txBody>
      </p:sp>
      <p:sp>
        <p:nvSpPr>
          <p:cNvPr id="10" name="Text 8"/>
          <p:cNvSpPr/>
          <p:nvPr/>
        </p:nvSpPr>
        <p:spPr>
          <a:xfrm>
            <a:off x="649224" y="3054096"/>
            <a:ext cx="3227832" cy="1773936"/>
          </a:xfrm>
          <a:prstGeom prst="rect">
            <a:avLst/>
          </a:prstGeom>
          <a:noFill/>
          <a:ln/>
        </p:spPr>
        <p:txBody>
          <a:bodyPr wrap="square" lIns="0" tIns="0" rIns="0" bIns="0" rtlCol="0" anchor="ctr"/>
          <a:lstStyle/>
          <a:p>
            <a:pPr indent="0" marL="0">
              <a:buNone/>
            </a:pPr>
            <a:r>
              <a:rPr lang="en-US" sz="1800" dirty="0">
                <a:solidFill>
                  <a:srgbClr val="172C46"/>
                </a:solidFill>
                <a:latin typeface="Arial" pitchFamily="34" charset="0"/>
                <a:ea typeface="Arial" pitchFamily="34" charset="-122"/>
                <a:cs typeface="Arial" pitchFamily="34" charset="-120"/>
              </a:rPr>
              <a:t>Z84C0020PEC Z80</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64 KiB SRAM address space</a:t>
            </a:r>
            <a:endParaRPr lang="en-US" sz="1800" dirty="0"/>
          </a:p>
          <a:p>
            <a:pPr indent="0" marL="0">
              <a:buNone/>
            </a:pP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Z80 alone drives memory addresses</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and writes SRAM, even during boot.</a:t>
            </a:r>
            <a:endParaRPr lang="en-US" sz="1800" dirty="0"/>
          </a:p>
        </p:txBody>
      </p:sp>
      <p:sp>
        <p:nvSpPr>
          <p:cNvPr id="11" name="Shape 9"/>
          <p:cNvSpPr/>
          <p:nvPr/>
        </p:nvSpPr>
        <p:spPr>
          <a:xfrm>
            <a:off x="4261104" y="2176272"/>
            <a:ext cx="3648456" cy="3035808"/>
          </a:xfrm>
          <a:prstGeom prst="roundRect">
            <a:avLst>
              <a:gd name="adj" fmla="val 4217"/>
            </a:avLst>
          </a:prstGeom>
          <a:solidFill>
            <a:srgbClr val="E8F0FF"/>
          </a:solidFill>
          <a:ln w="12700">
            <a:solidFill>
              <a:srgbClr val="E8F0FF"/>
            </a:solidFill>
            <a:prstDash val="solid"/>
          </a:ln>
        </p:spPr>
      </p:sp>
      <p:sp>
        <p:nvSpPr>
          <p:cNvPr id="12" name="Text 10"/>
          <p:cNvSpPr/>
          <p:nvPr/>
        </p:nvSpPr>
        <p:spPr>
          <a:xfrm>
            <a:off x="4471416" y="2423160"/>
            <a:ext cx="3227832" cy="457200"/>
          </a:xfrm>
          <a:prstGeom prst="rect">
            <a:avLst/>
          </a:prstGeom>
          <a:noFill/>
          <a:ln/>
        </p:spPr>
        <p:txBody>
          <a:bodyPr wrap="square" lIns="0" tIns="0" rIns="0" bIns="0" rtlCol="0" anchor="ctr"/>
          <a:lstStyle/>
          <a:p>
            <a:pPr indent="0" marL="0">
              <a:buNone/>
            </a:pPr>
            <a:r>
              <a:rPr lang="en-US" sz="2500" b="1" dirty="0">
                <a:solidFill>
                  <a:srgbClr val="245FC0"/>
                </a:solidFill>
                <a:latin typeface="Arial" pitchFamily="34" charset="0"/>
                <a:ea typeface="Arial" pitchFamily="34" charset="-122"/>
                <a:cs typeface="Arial" pitchFamily="34" charset="-120"/>
              </a:rPr>
              <a:t>Logic + translation</a:t>
            </a:r>
            <a:endParaRPr lang="en-US" sz="2500" dirty="0"/>
          </a:p>
        </p:txBody>
      </p:sp>
      <p:sp>
        <p:nvSpPr>
          <p:cNvPr id="13" name="Text 11"/>
          <p:cNvSpPr/>
          <p:nvPr/>
        </p:nvSpPr>
        <p:spPr>
          <a:xfrm>
            <a:off x="4471416" y="3054096"/>
            <a:ext cx="3227832" cy="1773936"/>
          </a:xfrm>
          <a:prstGeom prst="rect">
            <a:avLst/>
          </a:prstGeom>
          <a:noFill/>
          <a:ln/>
        </p:spPr>
        <p:txBody>
          <a:bodyPr wrap="square" lIns="0" tIns="0" rIns="0" bIns="0" rtlCol="0" anchor="ctr"/>
          <a:lstStyle/>
          <a:p>
            <a:pPr indent="0" marL="0">
              <a:buNone/>
            </a:pPr>
            <a:r>
              <a:rPr lang="en-US" sz="1800" dirty="0">
                <a:solidFill>
                  <a:srgbClr val="172C46"/>
                </a:solidFill>
                <a:latin typeface="Arial" pitchFamily="34" charset="0"/>
                <a:ea typeface="Arial" pitchFamily="34" charset="-122"/>
                <a:cs typeface="Arial" pitchFamily="34" charset="-120"/>
              </a:rPr>
              <a:t>3.3 V Pico / 5 V CPU interface</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AHCT / LVC bus buffers</a:t>
            </a:r>
            <a:endParaRPr lang="en-US" sz="1800" dirty="0"/>
          </a:p>
          <a:p>
            <a:pPr indent="0" marL="0">
              <a:buNone/>
            </a:pP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HCT32 generates hardware WAIT</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and gates SRAM / data-path enables.</a:t>
            </a:r>
            <a:endParaRPr lang="en-US" sz="1800" dirty="0"/>
          </a:p>
        </p:txBody>
      </p:sp>
      <p:sp>
        <p:nvSpPr>
          <p:cNvPr id="14" name="Shape 12"/>
          <p:cNvSpPr/>
          <p:nvPr/>
        </p:nvSpPr>
        <p:spPr>
          <a:xfrm>
            <a:off x="8083296" y="2176272"/>
            <a:ext cx="3648456" cy="3035808"/>
          </a:xfrm>
          <a:prstGeom prst="roundRect">
            <a:avLst>
              <a:gd name="adj" fmla="val 4217"/>
            </a:avLst>
          </a:prstGeom>
          <a:solidFill>
            <a:srgbClr val="E4F5EF"/>
          </a:solidFill>
          <a:ln w="12700">
            <a:solidFill>
              <a:srgbClr val="E4F5EF"/>
            </a:solidFill>
            <a:prstDash val="solid"/>
          </a:ln>
        </p:spPr>
      </p:sp>
      <p:sp>
        <p:nvSpPr>
          <p:cNvPr id="15" name="Text 13"/>
          <p:cNvSpPr/>
          <p:nvPr/>
        </p:nvSpPr>
        <p:spPr>
          <a:xfrm>
            <a:off x="8293608" y="2423160"/>
            <a:ext cx="3227832" cy="457200"/>
          </a:xfrm>
          <a:prstGeom prst="rect">
            <a:avLst/>
          </a:prstGeom>
          <a:noFill/>
          <a:ln/>
        </p:spPr>
        <p:txBody>
          <a:bodyPr wrap="square" lIns="0" tIns="0" rIns="0" bIns="0" rtlCol="0" anchor="ctr"/>
          <a:lstStyle/>
          <a:p>
            <a:pPr indent="0" marL="0">
              <a:buNone/>
            </a:pPr>
            <a:r>
              <a:rPr lang="en-US" sz="2500" b="1" dirty="0">
                <a:solidFill>
                  <a:srgbClr val="007F79"/>
                </a:solidFill>
                <a:latin typeface="Arial" pitchFamily="34" charset="0"/>
                <a:ea typeface="Arial" pitchFamily="34" charset="-122"/>
                <a:cs typeface="Arial" pitchFamily="34" charset="-120"/>
              </a:rPr>
              <a:t>Pico 2 W</a:t>
            </a:r>
            <a:endParaRPr lang="en-US" sz="2500" dirty="0"/>
          </a:p>
        </p:txBody>
      </p:sp>
      <p:sp>
        <p:nvSpPr>
          <p:cNvPr id="16" name="Text 14"/>
          <p:cNvSpPr/>
          <p:nvPr/>
        </p:nvSpPr>
        <p:spPr>
          <a:xfrm>
            <a:off x="8293608" y="3054096"/>
            <a:ext cx="3227832" cy="1773936"/>
          </a:xfrm>
          <a:prstGeom prst="rect">
            <a:avLst/>
          </a:prstGeom>
          <a:noFill/>
          <a:ln/>
        </p:spPr>
        <p:txBody>
          <a:bodyPr wrap="square" lIns="0" tIns="0" rIns="0" bIns="0" rtlCol="0" anchor="ctr"/>
          <a:lstStyle/>
          <a:p>
            <a:pPr indent="0" marL="0">
              <a:buNone/>
            </a:pPr>
            <a:r>
              <a:rPr lang="en-US" sz="1800" dirty="0">
                <a:solidFill>
                  <a:srgbClr val="172C46"/>
                </a:solidFill>
                <a:latin typeface="Arial" pitchFamily="34" charset="0"/>
                <a:ea typeface="Arial" pitchFamily="34" charset="-122"/>
                <a:cs typeface="Arial" pitchFamily="34" charset="-120"/>
              </a:rPr>
              <a:t>RP2350 dual-core controller</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Onboard Wi-Fi + USB</a:t>
            </a:r>
            <a:endParaRPr lang="en-US" sz="1800" dirty="0"/>
          </a:p>
          <a:p>
            <a:pPr indent="0" marL="0">
              <a:buNone/>
            </a:pP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4 MiB flash: Pico firmware, boot</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image, journal, ENV and disks A:-D:.</a:t>
            </a:r>
            <a:endParaRPr lang="en-US" sz="1800" dirty="0"/>
          </a:p>
        </p:txBody>
      </p:sp>
      <p:sp>
        <p:nvSpPr>
          <p:cNvPr id="17" name="Shape 15"/>
          <p:cNvSpPr/>
          <p:nvPr/>
        </p:nvSpPr>
        <p:spPr>
          <a:xfrm>
            <a:off x="438912" y="5431536"/>
            <a:ext cx="11292840" cy="685800"/>
          </a:xfrm>
          <a:prstGeom prst="roundRect">
            <a:avLst>
              <a:gd name="adj" fmla="val 18667"/>
            </a:avLst>
          </a:prstGeom>
          <a:solidFill>
            <a:srgbClr val="FFF0DB"/>
          </a:solidFill>
          <a:ln w="12700">
            <a:solidFill>
              <a:srgbClr val="FFF0DB"/>
            </a:solidFill>
            <a:prstDash val="solid"/>
          </a:ln>
        </p:spPr>
      </p:sp>
      <p:sp>
        <p:nvSpPr>
          <p:cNvPr id="18" name="Text 16"/>
          <p:cNvSpPr/>
          <p:nvPr/>
        </p:nvSpPr>
        <p:spPr>
          <a:xfrm>
            <a:off x="685800" y="5559552"/>
            <a:ext cx="10789920" cy="393192"/>
          </a:xfrm>
          <a:prstGeom prst="rect">
            <a:avLst/>
          </a:prstGeom>
          <a:noFill/>
          <a:ln/>
        </p:spPr>
        <p:txBody>
          <a:bodyPr wrap="square" lIns="0" tIns="0" rIns="0" bIns="0" rtlCol="0" anchor="ctr"/>
          <a:lstStyle/>
          <a:p>
            <a:pPr algn="ctr" indent="0" marL="0">
              <a:buNone/>
            </a:pPr>
            <a:r>
              <a:rPr lang="en-US" sz="2300" b="1" dirty="0">
                <a:solidFill>
                  <a:srgbClr val="BC6211"/>
                </a:solidFill>
                <a:latin typeface="Arial" pitchFamily="34" charset="0"/>
                <a:ea typeface="Arial" pitchFamily="34" charset="-122"/>
                <a:cs typeface="Arial" pitchFamily="34" charset="-120"/>
              </a:rPr>
              <a:t>Pico PWM  →  AHCT244 level buffer  →  Z80 CLK: 20 MHz nominal</a:t>
            </a:r>
            <a:endParaRPr lang="en-US" sz="2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sp>
      <p:sp>
        <p:nvSpPr>
          <p:cNvPr id="3" name="Text 1"/>
          <p:cNvSpPr/>
          <p:nvPr/>
        </p:nvSpPr>
        <p:spPr>
          <a:xfrm>
            <a:off x="411480" y="228600"/>
            <a:ext cx="10058400" cy="256032"/>
          </a:xfrm>
          <a:prstGeom prst="rect">
            <a:avLst/>
          </a:prstGeom>
          <a:noFill/>
          <a:ln/>
        </p:spPr>
        <p:txBody>
          <a:bodyPr wrap="square" lIns="0" tIns="0" rIns="0" bIns="0" rtlCol="0" anchor="ctr"/>
          <a:lstStyle/>
          <a:p>
            <a:pPr indent="0" marL="0">
              <a:buNone/>
            </a:pPr>
            <a:r>
              <a:rPr lang="en-US" sz="1100" b="1" spc="150" kern="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indent="0" marL="0">
              <a:buNone/>
            </a:pPr>
            <a:r>
              <a:rPr lang="en-US" sz="3300" b="1" dirty="0">
                <a:solidFill>
                  <a:srgbClr val="172C46"/>
                </a:solidFill>
                <a:latin typeface="Arial" pitchFamily="34" charset="0"/>
                <a:ea typeface="Arial" pitchFamily="34" charset="-122"/>
                <a:cs typeface="Arial" pitchFamily="34" charset="-120"/>
              </a:rPr>
              <a:t>Two cores, separated responsibilities</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indent="0" marL="0">
              <a:buNone/>
            </a:pPr>
            <a:r>
              <a:rPr lang="en-US" sz="1800" dirty="0">
                <a:solidFill>
                  <a:srgbClr val="5B6C83"/>
                </a:solidFill>
                <a:latin typeface="Arial" pitchFamily="34" charset="0"/>
                <a:ea typeface="Arial" pitchFamily="34" charset="-122"/>
                <a:cs typeface="Arial" pitchFamily="34" charset="-120"/>
              </a:rPr>
              <a:t>Core 0 serves the Z80. Core 1 owns USB, Wi-Fi and external interfaces.</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indent="0" marL="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22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algn="r" indent="0" marL="0">
              <a:buNone/>
            </a:pPr>
            <a:r>
              <a:rPr lang="en-US" sz="1200" dirty="0">
                <a:solidFill>
                  <a:srgbClr val="5B6C83"/>
                </a:solidFill>
                <a:latin typeface="Arial" pitchFamily="34" charset="0"/>
                <a:ea typeface="Arial" pitchFamily="34" charset="-122"/>
                <a:cs typeface="Arial" pitchFamily="34" charset="-120"/>
              </a:rPr>
              <a:t>03</a:t>
            </a:r>
            <a:endParaRPr lang="en-US" sz="1200" dirty="0"/>
          </a:p>
        </p:txBody>
      </p:sp>
      <p:sp>
        <p:nvSpPr>
          <p:cNvPr id="8" name="Shape 6"/>
          <p:cNvSpPr/>
          <p:nvPr/>
        </p:nvSpPr>
        <p:spPr>
          <a:xfrm>
            <a:off x="438912" y="2148840"/>
            <a:ext cx="3703320" cy="3346704"/>
          </a:xfrm>
          <a:prstGeom prst="roundRect">
            <a:avLst>
              <a:gd name="adj" fmla="val 3825"/>
            </a:avLst>
          </a:prstGeom>
          <a:solidFill>
            <a:srgbClr val="E8F0FF"/>
          </a:solidFill>
          <a:ln w="12700">
            <a:solidFill>
              <a:srgbClr val="E8F0FF"/>
            </a:solidFill>
            <a:prstDash val="solid"/>
          </a:ln>
        </p:spPr>
      </p:sp>
      <p:sp>
        <p:nvSpPr>
          <p:cNvPr id="9" name="Text 7"/>
          <p:cNvSpPr/>
          <p:nvPr/>
        </p:nvSpPr>
        <p:spPr>
          <a:xfrm>
            <a:off x="685800" y="2377440"/>
            <a:ext cx="3200400" cy="365760"/>
          </a:xfrm>
          <a:prstGeom prst="rect">
            <a:avLst/>
          </a:prstGeom>
          <a:noFill/>
          <a:ln/>
        </p:spPr>
        <p:txBody>
          <a:bodyPr wrap="square" lIns="0" tIns="0" rIns="0" bIns="0" rtlCol="0" anchor="ctr"/>
          <a:lstStyle/>
          <a:p>
            <a:pPr indent="0" marL="0">
              <a:buNone/>
            </a:pPr>
            <a:r>
              <a:rPr lang="en-US" sz="2600" b="1" dirty="0">
                <a:solidFill>
                  <a:srgbClr val="245FC0"/>
                </a:solidFill>
                <a:latin typeface="Arial" pitchFamily="34" charset="0"/>
                <a:ea typeface="Arial" pitchFamily="34" charset="-122"/>
                <a:cs typeface="Arial" pitchFamily="34" charset="-120"/>
              </a:rPr>
              <a:t>CORE 0</a:t>
            </a:r>
            <a:endParaRPr lang="en-US" sz="2600" dirty="0"/>
          </a:p>
        </p:txBody>
      </p:sp>
      <p:sp>
        <p:nvSpPr>
          <p:cNvPr id="10" name="Text 8"/>
          <p:cNvSpPr/>
          <p:nvPr/>
        </p:nvSpPr>
        <p:spPr>
          <a:xfrm>
            <a:off x="685800" y="2898648"/>
            <a:ext cx="3200400" cy="365760"/>
          </a:xfrm>
          <a:prstGeom prst="rect">
            <a:avLst/>
          </a:prstGeom>
          <a:noFill/>
          <a:ln/>
        </p:spPr>
        <p:txBody>
          <a:bodyPr wrap="square" lIns="0" tIns="0" rIns="0" bIns="0" rtlCol="0" anchor="ctr"/>
          <a:lstStyle/>
          <a:p>
            <a:pPr indent="0" marL="0">
              <a:buNone/>
            </a:pPr>
            <a:r>
              <a:rPr lang="en-US" sz="2100" b="1" dirty="0">
                <a:solidFill>
                  <a:srgbClr val="172C46"/>
                </a:solidFill>
                <a:latin typeface="Arial" pitchFamily="34" charset="0"/>
                <a:ea typeface="Arial" pitchFamily="34" charset="-122"/>
                <a:cs typeface="Arial" pitchFamily="34" charset="-120"/>
              </a:rPr>
              <a:t>Z80 control + I/O</a:t>
            </a:r>
            <a:endParaRPr lang="en-US" sz="2100" dirty="0"/>
          </a:p>
        </p:txBody>
      </p:sp>
      <p:sp>
        <p:nvSpPr>
          <p:cNvPr id="11" name="Text 9"/>
          <p:cNvSpPr/>
          <p:nvPr/>
        </p:nvSpPr>
        <p:spPr>
          <a:xfrm>
            <a:off x="685800" y="3520440"/>
            <a:ext cx="3200400" cy="1508760"/>
          </a:xfrm>
          <a:prstGeom prst="rect">
            <a:avLst/>
          </a:prstGeom>
          <a:noFill/>
          <a:ln/>
        </p:spPr>
        <p:txBody>
          <a:bodyPr wrap="square" lIns="0" tIns="0" rIns="0" bIns="0" rtlCol="0" anchor="ctr"/>
          <a:lstStyle/>
          <a:p>
            <a:pPr indent="0" marL="0">
              <a:buNone/>
            </a:pPr>
            <a:r>
              <a:rPr lang="en-US" sz="1800" dirty="0">
                <a:solidFill>
                  <a:srgbClr val="172C46"/>
                </a:solidFill>
                <a:latin typeface="Arial" pitchFamily="34" charset="0"/>
                <a:ea typeface="Arial" pitchFamily="34" charset="-122"/>
                <a:cs typeface="Arial" pitchFamily="34" charset="-120"/>
              </a:rPr>
              <a:t>Clock generation and reset</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SRAM loading and verification</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I/O traps and port adapters</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Queued Z80 control requests</a:t>
            </a:r>
            <a:endParaRPr lang="en-US" sz="1800" dirty="0"/>
          </a:p>
        </p:txBody>
      </p:sp>
      <p:sp>
        <p:nvSpPr>
          <p:cNvPr id="12" name="Shape 10"/>
          <p:cNvSpPr/>
          <p:nvPr/>
        </p:nvSpPr>
        <p:spPr>
          <a:xfrm>
            <a:off x="4453128" y="2487168"/>
            <a:ext cx="2871216" cy="2670048"/>
          </a:xfrm>
          <a:prstGeom prst="roundRect">
            <a:avLst>
              <a:gd name="adj" fmla="val 4795"/>
            </a:avLst>
          </a:prstGeom>
          <a:solidFill>
            <a:srgbClr val="FFFFFF"/>
          </a:solidFill>
          <a:ln w="12700">
            <a:solidFill>
              <a:srgbClr val="D1DBE8"/>
            </a:solidFill>
            <a:prstDash val="solid"/>
          </a:ln>
        </p:spPr>
      </p:sp>
      <p:sp>
        <p:nvSpPr>
          <p:cNvPr id="13" name="Text 11"/>
          <p:cNvSpPr/>
          <p:nvPr/>
        </p:nvSpPr>
        <p:spPr>
          <a:xfrm>
            <a:off x="4636008" y="2724912"/>
            <a:ext cx="2505456" cy="292608"/>
          </a:xfrm>
          <a:prstGeom prst="rect">
            <a:avLst/>
          </a:prstGeom>
          <a:noFill/>
          <a:ln/>
        </p:spPr>
        <p:txBody>
          <a:bodyPr wrap="square" lIns="0" tIns="0" rIns="0" bIns="0" rtlCol="0" anchor="ctr"/>
          <a:lstStyle/>
          <a:p>
            <a:pPr algn="ctr" indent="0" marL="0">
              <a:buNone/>
            </a:pPr>
            <a:r>
              <a:rPr lang="en-US" sz="1600" b="1" dirty="0">
                <a:solidFill>
                  <a:srgbClr val="5B6C83"/>
                </a:solidFill>
                <a:latin typeface="Arial" pitchFamily="34" charset="0"/>
                <a:ea typeface="Arial" pitchFamily="34" charset="-122"/>
                <a:cs typeface="Arial" pitchFamily="34" charset="-120"/>
              </a:rPr>
              <a:t>SHARED BOUNDARY</a:t>
            </a:r>
            <a:endParaRPr lang="en-US" sz="1600" dirty="0"/>
          </a:p>
        </p:txBody>
      </p:sp>
      <p:sp>
        <p:nvSpPr>
          <p:cNvPr id="14" name="Text 12"/>
          <p:cNvSpPr/>
          <p:nvPr/>
        </p:nvSpPr>
        <p:spPr>
          <a:xfrm>
            <a:off x="4636008" y="3310128"/>
            <a:ext cx="2505456" cy="1225296"/>
          </a:xfrm>
          <a:prstGeom prst="rect">
            <a:avLst/>
          </a:prstGeom>
          <a:noFill/>
          <a:ln/>
        </p:spPr>
        <p:txBody>
          <a:bodyPr wrap="square" lIns="0" tIns="0" rIns="0" bIns="0" rtlCol="0" anchor="ctr"/>
          <a:lstStyle/>
          <a:p>
            <a:pPr algn="ctr" indent="0" marL="0">
              <a:buNone/>
            </a:pPr>
            <a:r>
              <a:rPr lang="en-US" sz="1700" dirty="0">
                <a:solidFill>
                  <a:srgbClr val="172C46"/>
                </a:solidFill>
                <a:latin typeface="Arial" pitchFamily="34" charset="0"/>
                <a:ea typeface="Arial" pitchFamily="34" charset="-122"/>
                <a:cs typeface="Arial" pitchFamily="34" charset="-120"/>
              </a:rPr>
              <a:t>Console + diagnostic rings</a:t>
            </a:r>
            <a:endParaRPr lang="en-US" sz="1700" dirty="0"/>
          </a:p>
          <a:p>
            <a:pPr algn="ctr" indent="0" marL="0">
              <a:buNone/>
            </a:pPr>
            <a:r>
              <a:rPr lang="en-US" sz="1700" dirty="0">
                <a:solidFill>
                  <a:srgbClr val="172C46"/>
                </a:solidFill>
                <a:latin typeface="Arial" pitchFamily="34" charset="0"/>
                <a:ea typeface="Arial" pitchFamily="34" charset="-122"/>
                <a:cs typeface="Arial" pitchFamily="34" charset="-120"/>
              </a:rPr>
              <a:t>Supervisor command queue</a:t>
            </a:r>
            <a:endParaRPr lang="en-US" sz="1700" dirty="0"/>
          </a:p>
          <a:p>
            <a:pPr algn="ctr" indent="0" marL="0">
              <a:buNone/>
            </a:pPr>
            <a:r>
              <a:rPr lang="en-US" sz="1700" dirty="0">
                <a:solidFill>
                  <a:srgbClr val="172C46"/>
                </a:solidFill>
                <a:latin typeface="Arial" pitchFamily="34" charset="0"/>
                <a:ea typeface="Arial" pitchFamily="34" charset="-122"/>
                <a:cs typeface="Arial" pitchFamily="34" charset="-120"/>
              </a:rPr>
              <a:t>Disk / service mailboxes</a:t>
            </a:r>
            <a:endParaRPr lang="en-US" sz="1700" dirty="0"/>
          </a:p>
          <a:p>
            <a:pPr algn="ctr" indent="0" marL="0">
              <a:buNone/>
            </a:pPr>
            <a:r>
              <a:rPr lang="en-US" sz="1700" dirty="0">
                <a:solidFill>
                  <a:srgbClr val="172C46"/>
                </a:solidFill>
                <a:latin typeface="Arial" pitchFamily="34" charset="0"/>
                <a:ea typeface="Arial" pitchFamily="34" charset="-122"/>
                <a:cs typeface="Arial" pitchFamily="34" charset="-120"/>
              </a:rPr>
              <a:t>Flash-safe handshakes</a:t>
            </a:r>
            <a:endParaRPr lang="en-US" sz="1700" dirty="0"/>
          </a:p>
        </p:txBody>
      </p:sp>
      <p:sp>
        <p:nvSpPr>
          <p:cNvPr id="15" name="Shape 13"/>
          <p:cNvSpPr/>
          <p:nvPr/>
        </p:nvSpPr>
        <p:spPr>
          <a:xfrm>
            <a:off x="7635240" y="2148840"/>
            <a:ext cx="4096512" cy="3346704"/>
          </a:xfrm>
          <a:prstGeom prst="roundRect">
            <a:avLst>
              <a:gd name="adj" fmla="val 3825"/>
            </a:avLst>
          </a:prstGeom>
          <a:solidFill>
            <a:srgbClr val="E4F5EF"/>
          </a:solidFill>
          <a:ln w="12700">
            <a:solidFill>
              <a:srgbClr val="E4F5EF"/>
            </a:solidFill>
            <a:prstDash val="solid"/>
          </a:ln>
        </p:spPr>
      </p:sp>
      <p:sp>
        <p:nvSpPr>
          <p:cNvPr id="16" name="Text 14"/>
          <p:cNvSpPr/>
          <p:nvPr/>
        </p:nvSpPr>
        <p:spPr>
          <a:xfrm>
            <a:off x="7882128" y="2377440"/>
            <a:ext cx="3602736" cy="365760"/>
          </a:xfrm>
          <a:prstGeom prst="rect">
            <a:avLst/>
          </a:prstGeom>
          <a:noFill/>
          <a:ln/>
        </p:spPr>
        <p:txBody>
          <a:bodyPr wrap="square" lIns="0" tIns="0" rIns="0" bIns="0" rtlCol="0" anchor="ctr"/>
          <a:lstStyle/>
          <a:p>
            <a:pPr indent="0" marL="0">
              <a:buNone/>
            </a:pPr>
            <a:r>
              <a:rPr lang="en-US" sz="2600" b="1" dirty="0">
                <a:solidFill>
                  <a:srgbClr val="007F79"/>
                </a:solidFill>
                <a:latin typeface="Arial" pitchFamily="34" charset="0"/>
                <a:ea typeface="Arial" pitchFamily="34" charset="-122"/>
                <a:cs typeface="Arial" pitchFamily="34" charset="-120"/>
              </a:rPr>
              <a:t>CORE 1</a:t>
            </a:r>
            <a:endParaRPr lang="en-US" sz="2600" dirty="0"/>
          </a:p>
        </p:txBody>
      </p:sp>
      <p:sp>
        <p:nvSpPr>
          <p:cNvPr id="17" name="Text 15"/>
          <p:cNvSpPr/>
          <p:nvPr/>
        </p:nvSpPr>
        <p:spPr>
          <a:xfrm>
            <a:off x="7882128" y="2898648"/>
            <a:ext cx="3602736" cy="365760"/>
          </a:xfrm>
          <a:prstGeom prst="rect">
            <a:avLst/>
          </a:prstGeom>
          <a:noFill/>
          <a:ln/>
        </p:spPr>
        <p:txBody>
          <a:bodyPr wrap="square" lIns="0" tIns="0" rIns="0" bIns="0" rtlCol="0" anchor="ctr"/>
          <a:lstStyle/>
          <a:p>
            <a:pPr indent="0" marL="0">
              <a:buNone/>
            </a:pPr>
            <a:r>
              <a:rPr lang="en-US" sz="2100" b="1" dirty="0">
                <a:solidFill>
                  <a:srgbClr val="172C46"/>
                </a:solidFill>
                <a:latin typeface="Arial" pitchFamily="34" charset="0"/>
                <a:ea typeface="Arial" pitchFamily="34" charset="-122"/>
                <a:cs typeface="Arial" pitchFamily="34" charset="-120"/>
              </a:rPr>
              <a:t>USB + storage + networking</a:t>
            </a:r>
            <a:endParaRPr lang="en-US" sz="2100" dirty="0"/>
          </a:p>
        </p:txBody>
      </p:sp>
      <p:sp>
        <p:nvSpPr>
          <p:cNvPr id="18" name="Text 16"/>
          <p:cNvSpPr/>
          <p:nvPr/>
        </p:nvSpPr>
        <p:spPr>
          <a:xfrm>
            <a:off x="7882128" y="3520440"/>
            <a:ext cx="3602736" cy="1508760"/>
          </a:xfrm>
          <a:prstGeom prst="rect">
            <a:avLst/>
          </a:prstGeom>
          <a:noFill/>
          <a:ln/>
        </p:spPr>
        <p:txBody>
          <a:bodyPr wrap="square" lIns="0" tIns="0" rIns="0" bIns="0" rtlCol="0" anchor="ctr"/>
          <a:lstStyle/>
          <a:p>
            <a:pPr indent="0" marL="0">
              <a:buNone/>
            </a:pPr>
            <a:r>
              <a:rPr lang="en-US" sz="1800" dirty="0">
                <a:solidFill>
                  <a:srgbClr val="172C46"/>
                </a:solidFill>
                <a:latin typeface="Arial" pitchFamily="34" charset="0"/>
                <a:ea typeface="Arial" pitchFamily="34" charset="-122"/>
                <a:cs typeface="Arial" pitchFamily="34" charset="-120"/>
              </a:rPr>
              <a:t>USB initialization, IRQs and console</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Disk-first storage / service workers</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Wi-Fi + HTTP / WebSocket terminal</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SNTP, weather and chat clients</a:t>
            </a:r>
            <a:endParaRPr lang="en-US" sz="1800" dirty="0"/>
          </a:p>
        </p:txBody>
      </p:sp>
      <p:sp>
        <p:nvSpPr>
          <p:cNvPr id="19" name="Shape 17"/>
          <p:cNvSpPr/>
          <p:nvPr/>
        </p:nvSpPr>
        <p:spPr>
          <a:xfrm>
            <a:off x="4142232" y="3785616"/>
            <a:ext cx="310896" cy="0"/>
          </a:xfrm>
          <a:prstGeom prst="line">
            <a:avLst/>
          </a:prstGeom>
          <a:noFill/>
          <a:ln w="25400">
            <a:solidFill>
              <a:srgbClr val="245FC0"/>
            </a:solidFill>
            <a:prstDash val="solid"/>
            <a:headEnd type="triangle"/>
            <a:tailEnd type="triangle"/>
          </a:ln>
        </p:spPr>
      </p:sp>
      <p:sp>
        <p:nvSpPr>
          <p:cNvPr id="20" name="Shape 18"/>
          <p:cNvSpPr/>
          <p:nvPr/>
        </p:nvSpPr>
        <p:spPr>
          <a:xfrm>
            <a:off x="7324344" y="3785616"/>
            <a:ext cx="310896" cy="0"/>
          </a:xfrm>
          <a:prstGeom prst="line">
            <a:avLst/>
          </a:prstGeom>
          <a:noFill/>
          <a:ln w="25400">
            <a:solidFill>
              <a:srgbClr val="007F79"/>
            </a:solidFill>
            <a:prstDash val="solid"/>
            <a:headEnd type="triangle"/>
            <a:tailEnd type="triangle"/>
          </a:ln>
        </p:spPr>
      </p:sp>
      <p:sp>
        <p:nvSpPr>
          <p:cNvPr id="21" name="Shape 19"/>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sp>
      <p:sp>
        <p:nvSpPr>
          <p:cNvPr id="22" name="Text 20"/>
          <p:cNvSpPr/>
          <p:nvPr/>
        </p:nvSpPr>
        <p:spPr>
          <a:xfrm>
            <a:off x="612648" y="5897880"/>
            <a:ext cx="10945368" cy="301752"/>
          </a:xfrm>
          <a:prstGeom prst="rect">
            <a:avLst/>
          </a:prstGeom>
          <a:noFill/>
          <a:ln/>
        </p:spPr>
        <p:txBody>
          <a:bodyPr wrap="square" lIns="0" tIns="0" rIns="0" bIns="0" rtlCol="0" anchor="ctr"/>
          <a:lstStyle/>
          <a:p>
            <a:pPr algn="ctr" indent="0" marL="0">
              <a:buNone/>
            </a:pPr>
            <a:r>
              <a:rPr lang="en-US" sz="1600" b="1" dirty="0">
                <a:solidFill>
                  <a:srgbClr val="245FC0"/>
                </a:solidFill>
                <a:latin typeface="Arial" pitchFamily="34" charset="0"/>
                <a:ea typeface="Arial" pitchFamily="34" charset="-122"/>
                <a:cs typeface="Arial" pitchFamily="34" charset="-120"/>
              </a:rPr>
              <a:t>Core 0 never accesses USB endpoints. Core 1 requests Z80 actions through queues, not bus GPIO.</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sp>
      <p:sp>
        <p:nvSpPr>
          <p:cNvPr id="3" name="Text 1"/>
          <p:cNvSpPr/>
          <p:nvPr/>
        </p:nvSpPr>
        <p:spPr>
          <a:xfrm>
            <a:off x="411480" y="228600"/>
            <a:ext cx="10058400" cy="256032"/>
          </a:xfrm>
          <a:prstGeom prst="rect">
            <a:avLst/>
          </a:prstGeom>
          <a:noFill/>
          <a:ln/>
        </p:spPr>
        <p:txBody>
          <a:bodyPr wrap="square" lIns="0" tIns="0" rIns="0" bIns="0" rtlCol="0" anchor="ctr"/>
          <a:lstStyle/>
          <a:p>
            <a:pPr indent="0" marL="0">
              <a:buNone/>
            </a:pPr>
            <a:r>
              <a:rPr lang="en-US" sz="1100" b="1" spc="150" kern="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indent="0" marL="0">
              <a:buNone/>
            </a:pPr>
            <a:r>
              <a:rPr lang="en-US" sz="3300" b="1" dirty="0">
                <a:solidFill>
                  <a:srgbClr val="172C46"/>
                </a:solidFill>
                <a:latin typeface="Arial" pitchFamily="34" charset="0"/>
                <a:ea typeface="Arial" pitchFamily="34" charset="-122"/>
                <a:cs typeface="Arial" pitchFamily="34" charset="-120"/>
              </a:rPr>
              <a:t>Booting without a ROM chip</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indent="0" marL="0">
              <a:buNone/>
            </a:pPr>
            <a:r>
              <a:rPr lang="en-US" sz="1800" dirty="0">
                <a:solidFill>
                  <a:srgbClr val="5B6C83"/>
                </a:solidFill>
                <a:latin typeface="Arial" pitchFamily="34" charset="0"/>
                <a:ea typeface="Arial" pitchFamily="34" charset="-122"/>
                <a:cs typeface="Arial" pitchFamily="34" charset="-120"/>
              </a:rPr>
              <a:t>The Pico supplies instructions; the Z80 uses those instructions to populate its own SRAM.</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indent="0" marL="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22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algn="r" indent="0" marL="0">
              <a:buNone/>
            </a:pPr>
            <a:r>
              <a:rPr lang="en-US" sz="1200" dirty="0">
                <a:solidFill>
                  <a:srgbClr val="5B6C83"/>
                </a:solidFill>
                <a:latin typeface="Arial" pitchFamily="34" charset="0"/>
                <a:ea typeface="Arial" pitchFamily="34" charset="-122"/>
                <a:cs typeface="Arial" pitchFamily="34" charset="-120"/>
              </a:rPr>
              <a:t>04</a:t>
            </a:r>
            <a:endParaRPr lang="en-US" sz="1200" dirty="0"/>
          </a:p>
        </p:txBody>
      </p:sp>
      <p:sp>
        <p:nvSpPr>
          <p:cNvPr id="8" name="Shape 6"/>
          <p:cNvSpPr/>
          <p:nvPr/>
        </p:nvSpPr>
        <p:spPr>
          <a:xfrm>
            <a:off x="438912" y="2514600"/>
            <a:ext cx="2148840" cy="2505456"/>
          </a:xfrm>
          <a:prstGeom prst="roundRect">
            <a:avLst>
              <a:gd name="adj" fmla="val 5957"/>
            </a:avLst>
          </a:prstGeom>
          <a:solidFill>
            <a:srgbClr val="E8F0FF"/>
          </a:solidFill>
          <a:ln w="12700">
            <a:solidFill>
              <a:srgbClr val="E8F0FF"/>
            </a:solidFill>
            <a:prstDash val="solid"/>
          </a:ln>
        </p:spPr>
      </p:sp>
      <p:sp>
        <p:nvSpPr>
          <p:cNvPr id="9" name="Shape 7"/>
          <p:cNvSpPr/>
          <p:nvPr/>
        </p:nvSpPr>
        <p:spPr>
          <a:xfrm>
            <a:off x="603504" y="2706624"/>
            <a:ext cx="384048" cy="365760"/>
          </a:xfrm>
          <a:prstGeom prst="roundRect">
            <a:avLst>
              <a:gd name="adj" fmla="val 35000"/>
            </a:avLst>
          </a:prstGeom>
          <a:solidFill>
            <a:srgbClr val="FFFFFF"/>
          </a:solidFill>
          <a:ln w="12700">
            <a:solidFill>
              <a:srgbClr val="FFFFFF"/>
            </a:solidFill>
            <a:prstDash val="solid"/>
          </a:ln>
        </p:spPr>
      </p:sp>
      <p:sp>
        <p:nvSpPr>
          <p:cNvPr id="10" name="Text 8"/>
          <p:cNvSpPr/>
          <p:nvPr/>
        </p:nvSpPr>
        <p:spPr>
          <a:xfrm>
            <a:off x="694944" y="2743200"/>
            <a:ext cx="201168" cy="274320"/>
          </a:xfrm>
          <a:prstGeom prst="rect">
            <a:avLst/>
          </a:prstGeom>
          <a:noFill/>
          <a:ln/>
        </p:spPr>
        <p:txBody>
          <a:bodyPr wrap="square" lIns="0" tIns="0" rIns="0" bIns="0" rtlCol="0" anchor="ctr"/>
          <a:lstStyle/>
          <a:p>
            <a:pPr algn="ctr" indent="0" marL="0">
              <a:buNone/>
            </a:pPr>
            <a:r>
              <a:rPr lang="en-US" sz="1200" b="1" dirty="0">
                <a:solidFill>
                  <a:srgbClr val="245FC0"/>
                </a:solidFill>
                <a:latin typeface="Arial" pitchFamily="34" charset="0"/>
                <a:ea typeface="Arial" pitchFamily="34" charset="-122"/>
                <a:cs typeface="Arial" pitchFamily="34" charset="-120"/>
              </a:rPr>
              <a:t>1</a:t>
            </a:r>
            <a:endParaRPr lang="en-US" sz="1200" dirty="0"/>
          </a:p>
        </p:txBody>
      </p:sp>
      <p:sp>
        <p:nvSpPr>
          <p:cNvPr id="11" name="Text 9"/>
          <p:cNvSpPr/>
          <p:nvPr/>
        </p:nvSpPr>
        <p:spPr>
          <a:xfrm>
            <a:off x="603504" y="3236976"/>
            <a:ext cx="1819656" cy="365760"/>
          </a:xfrm>
          <a:prstGeom prst="rect">
            <a:avLst/>
          </a:prstGeom>
          <a:noFill/>
          <a:ln/>
        </p:spPr>
        <p:txBody>
          <a:bodyPr wrap="square" lIns="0" tIns="0" rIns="0" bIns="0" rtlCol="0" anchor="ctr"/>
          <a:lstStyle/>
          <a:p>
            <a:pPr indent="0" marL="0">
              <a:buNone/>
            </a:pPr>
            <a:r>
              <a:rPr lang="en-US" sz="2400" b="1" dirty="0">
                <a:solidFill>
                  <a:srgbClr val="245FC0"/>
                </a:solidFill>
                <a:latin typeface="Arial" pitchFamily="34" charset="0"/>
                <a:ea typeface="Arial" pitchFamily="34" charset="-122"/>
                <a:cs typeface="Arial" pitchFamily="34" charset="-120"/>
              </a:rPr>
              <a:t>Validate</a:t>
            </a:r>
            <a:endParaRPr lang="en-US" sz="2400" dirty="0"/>
          </a:p>
        </p:txBody>
      </p:sp>
      <p:sp>
        <p:nvSpPr>
          <p:cNvPr id="12" name="Text 10"/>
          <p:cNvSpPr/>
          <p:nvPr/>
        </p:nvSpPr>
        <p:spPr>
          <a:xfrm>
            <a:off x="603504" y="3749040"/>
            <a:ext cx="1819656" cy="1005840"/>
          </a:xfrm>
          <a:prstGeom prst="rect">
            <a:avLst/>
          </a:prstGeom>
          <a:noFill/>
          <a:ln/>
        </p:spPr>
        <p:txBody>
          <a:bodyPr wrap="square" lIns="0" tIns="0" rIns="0" bIns="0" rtlCol="0" anchor="ctr"/>
          <a:lstStyle/>
          <a:p>
            <a:pPr indent="0" marL="0">
              <a:buNone/>
            </a:pPr>
            <a:r>
              <a:rPr lang="en-US" sz="1550" dirty="0">
                <a:solidFill>
                  <a:srgbClr val="172C46"/>
                </a:solidFill>
                <a:latin typeface="Arial" pitchFamily="34" charset="0"/>
                <a:ea typeface="Arial" pitchFamily="34" charset="-122"/>
                <a:cs typeface="Arial" pitchFamily="34" charset="-120"/>
              </a:rPr>
              <a:t>Start USB core 1.</a:t>
            </a:r>
            <a:endParaRPr lang="en-US" sz="1550" dirty="0"/>
          </a:p>
          <a:p>
            <a:pPr indent="0" marL="0">
              <a:buNone/>
            </a:pPr>
            <a:r>
              <a:rPr lang="en-US" sz="1550" dirty="0">
                <a:solidFill>
                  <a:srgbClr val="172C46"/>
                </a:solidFill>
                <a:latin typeface="Arial" pitchFamily="34" charset="0"/>
                <a:ea typeface="Arial" pitchFamily="34" charset="-122"/>
                <a:cs typeface="Arial" pitchFamily="34" charset="-120"/>
              </a:rPr>
              <a:t>Recover journal.</a:t>
            </a:r>
            <a:endParaRPr lang="en-US" sz="1550" dirty="0"/>
          </a:p>
          <a:p>
            <a:pPr indent="0" marL="0">
              <a:buNone/>
            </a:pPr>
            <a:r>
              <a:rPr lang="en-US" sz="1550" dirty="0">
                <a:solidFill>
                  <a:srgbClr val="172C46"/>
                </a:solidFill>
                <a:latin typeface="Arial" pitchFamily="34" charset="0"/>
                <a:ea typeface="Arial" pitchFamily="34" charset="-122"/>
                <a:cs typeface="Arial" pitchFamily="34" charset="-120"/>
              </a:rPr>
              <a:t>Check image CRCs.</a:t>
            </a:r>
            <a:endParaRPr lang="en-US" sz="1550" dirty="0"/>
          </a:p>
        </p:txBody>
      </p:sp>
      <p:sp>
        <p:nvSpPr>
          <p:cNvPr id="13" name="Shape 11"/>
          <p:cNvSpPr/>
          <p:nvPr/>
        </p:nvSpPr>
        <p:spPr>
          <a:xfrm>
            <a:off x="2587752" y="3675888"/>
            <a:ext cx="137160" cy="0"/>
          </a:xfrm>
          <a:prstGeom prst="line">
            <a:avLst/>
          </a:prstGeom>
          <a:noFill/>
          <a:ln w="19050">
            <a:solidFill>
              <a:srgbClr val="5B6C83"/>
            </a:solidFill>
            <a:prstDash val="solid"/>
            <a:tailEnd type="triangle"/>
          </a:ln>
        </p:spPr>
      </p:sp>
      <p:sp>
        <p:nvSpPr>
          <p:cNvPr id="14" name="Shape 12"/>
          <p:cNvSpPr/>
          <p:nvPr/>
        </p:nvSpPr>
        <p:spPr>
          <a:xfrm>
            <a:off x="2724912" y="2514600"/>
            <a:ext cx="2148840" cy="2505456"/>
          </a:xfrm>
          <a:prstGeom prst="roundRect">
            <a:avLst>
              <a:gd name="adj" fmla="val 5957"/>
            </a:avLst>
          </a:prstGeom>
          <a:solidFill>
            <a:srgbClr val="E8F0FF"/>
          </a:solidFill>
          <a:ln w="12700">
            <a:solidFill>
              <a:srgbClr val="E8F0FF"/>
            </a:solidFill>
            <a:prstDash val="solid"/>
          </a:ln>
        </p:spPr>
      </p:sp>
      <p:sp>
        <p:nvSpPr>
          <p:cNvPr id="15" name="Shape 13"/>
          <p:cNvSpPr/>
          <p:nvPr/>
        </p:nvSpPr>
        <p:spPr>
          <a:xfrm>
            <a:off x="2889504" y="2706624"/>
            <a:ext cx="384048" cy="365760"/>
          </a:xfrm>
          <a:prstGeom prst="roundRect">
            <a:avLst>
              <a:gd name="adj" fmla="val 35000"/>
            </a:avLst>
          </a:prstGeom>
          <a:solidFill>
            <a:srgbClr val="FFFFFF"/>
          </a:solidFill>
          <a:ln w="12700">
            <a:solidFill>
              <a:srgbClr val="FFFFFF"/>
            </a:solidFill>
            <a:prstDash val="solid"/>
          </a:ln>
        </p:spPr>
      </p:sp>
      <p:sp>
        <p:nvSpPr>
          <p:cNvPr id="16" name="Text 14"/>
          <p:cNvSpPr/>
          <p:nvPr/>
        </p:nvSpPr>
        <p:spPr>
          <a:xfrm>
            <a:off x="2980944" y="2743200"/>
            <a:ext cx="201168" cy="274320"/>
          </a:xfrm>
          <a:prstGeom prst="rect">
            <a:avLst/>
          </a:prstGeom>
          <a:noFill/>
          <a:ln/>
        </p:spPr>
        <p:txBody>
          <a:bodyPr wrap="square" lIns="0" tIns="0" rIns="0" bIns="0" rtlCol="0" anchor="ctr"/>
          <a:lstStyle/>
          <a:p>
            <a:pPr algn="ctr" indent="0" marL="0">
              <a:buNone/>
            </a:pPr>
            <a:r>
              <a:rPr lang="en-US" sz="1200" b="1" dirty="0">
                <a:solidFill>
                  <a:srgbClr val="245FC0"/>
                </a:solidFill>
                <a:latin typeface="Arial" pitchFamily="34" charset="0"/>
                <a:ea typeface="Arial" pitchFamily="34" charset="-122"/>
                <a:cs typeface="Arial" pitchFamily="34" charset="-120"/>
              </a:rPr>
              <a:t>2</a:t>
            </a:r>
            <a:endParaRPr lang="en-US" sz="1200" dirty="0"/>
          </a:p>
        </p:txBody>
      </p:sp>
      <p:sp>
        <p:nvSpPr>
          <p:cNvPr id="17" name="Text 15"/>
          <p:cNvSpPr/>
          <p:nvPr/>
        </p:nvSpPr>
        <p:spPr>
          <a:xfrm>
            <a:off x="2889504" y="3236976"/>
            <a:ext cx="1819656" cy="365760"/>
          </a:xfrm>
          <a:prstGeom prst="rect">
            <a:avLst/>
          </a:prstGeom>
          <a:noFill/>
          <a:ln/>
        </p:spPr>
        <p:txBody>
          <a:bodyPr wrap="square" lIns="0" tIns="0" rIns="0" bIns="0" rtlCol="0" anchor="ctr"/>
          <a:lstStyle/>
          <a:p>
            <a:pPr indent="0" marL="0">
              <a:buNone/>
            </a:pPr>
            <a:r>
              <a:rPr lang="en-US" sz="2400" b="1" dirty="0">
                <a:solidFill>
                  <a:srgbClr val="245FC0"/>
                </a:solidFill>
                <a:latin typeface="Arial" pitchFamily="34" charset="0"/>
                <a:ea typeface="Arial" pitchFamily="34" charset="-122"/>
                <a:cs typeface="Arial" pitchFamily="34" charset="-120"/>
              </a:rPr>
              <a:t>Load SRAM</a:t>
            </a:r>
            <a:endParaRPr lang="en-US" sz="2400" dirty="0"/>
          </a:p>
        </p:txBody>
      </p:sp>
      <p:sp>
        <p:nvSpPr>
          <p:cNvPr id="18" name="Text 16"/>
          <p:cNvSpPr/>
          <p:nvPr/>
        </p:nvSpPr>
        <p:spPr>
          <a:xfrm>
            <a:off x="2889504" y="3749040"/>
            <a:ext cx="1819656" cy="1005840"/>
          </a:xfrm>
          <a:prstGeom prst="rect">
            <a:avLst/>
          </a:prstGeom>
          <a:noFill/>
          <a:ln/>
        </p:spPr>
        <p:txBody>
          <a:bodyPr wrap="square" lIns="0" tIns="0" rIns="0" bIns="0" rtlCol="0" anchor="ctr"/>
          <a:lstStyle/>
          <a:p>
            <a:pPr indent="0" marL="0">
              <a:buNone/>
            </a:pPr>
            <a:r>
              <a:rPr lang="en-US" sz="1550" dirty="0">
                <a:solidFill>
                  <a:srgbClr val="172C46"/>
                </a:solidFill>
                <a:latin typeface="Arial" pitchFamily="34" charset="0"/>
                <a:ea typeface="Arial" pitchFamily="34" charset="-122"/>
                <a:cs typeface="Arial" pitchFamily="34" charset="-120"/>
              </a:rPr>
              <a:t>Slow-clock Z80.</a:t>
            </a:r>
            <a:endParaRPr lang="en-US" sz="1550" dirty="0"/>
          </a:p>
          <a:p>
            <a:pPr indent="0" marL="0">
              <a:buNone/>
            </a:pPr>
            <a:r>
              <a:rPr lang="en-US" sz="1550" dirty="0">
                <a:solidFill>
                  <a:srgbClr val="172C46"/>
                </a:solidFill>
                <a:latin typeface="Arial" pitchFamily="34" charset="0"/>
                <a:ea typeface="Arial" pitchFamily="34" charset="-122"/>
                <a:cs typeface="Arial" pitchFamily="34" charset="-120"/>
              </a:rPr>
              <a:t>Inject instructions.</a:t>
            </a:r>
            <a:endParaRPr lang="en-US" sz="1550" dirty="0"/>
          </a:p>
          <a:p>
            <a:pPr indent="0" marL="0">
              <a:buNone/>
            </a:pPr>
            <a:r>
              <a:rPr lang="en-US" sz="1550" dirty="0">
                <a:solidFill>
                  <a:srgbClr val="172C46"/>
                </a:solidFill>
                <a:latin typeface="Arial" pitchFamily="34" charset="0"/>
                <a:ea typeface="Arial" pitchFamily="34" charset="-122"/>
                <a:cs typeface="Arial" pitchFamily="34" charset="-120"/>
              </a:rPr>
              <a:t>CPU writes 64 KiB.</a:t>
            </a:r>
            <a:endParaRPr lang="en-US" sz="1550" dirty="0"/>
          </a:p>
        </p:txBody>
      </p:sp>
      <p:sp>
        <p:nvSpPr>
          <p:cNvPr id="19" name="Shape 17"/>
          <p:cNvSpPr/>
          <p:nvPr/>
        </p:nvSpPr>
        <p:spPr>
          <a:xfrm>
            <a:off x="4873752" y="3675888"/>
            <a:ext cx="137160" cy="0"/>
          </a:xfrm>
          <a:prstGeom prst="line">
            <a:avLst/>
          </a:prstGeom>
          <a:noFill/>
          <a:ln w="19050">
            <a:solidFill>
              <a:srgbClr val="5B6C83"/>
            </a:solidFill>
            <a:prstDash val="solid"/>
            <a:tailEnd type="triangle"/>
          </a:ln>
        </p:spPr>
      </p:sp>
      <p:sp>
        <p:nvSpPr>
          <p:cNvPr id="20" name="Shape 18"/>
          <p:cNvSpPr/>
          <p:nvPr/>
        </p:nvSpPr>
        <p:spPr>
          <a:xfrm>
            <a:off x="5010912" y="2514600"/>
            <a:ext cx="2148840" cy="2505456"/>
          </a:xfrm>
          <a:prstGeom prst="roundRect">
            <a:avLst>
              <a:gd name="adj" fmla="val 5957"/>
            </a:avLst>
          </a:prstGeom>
          <a:solidFill>
            <a:srgbClr val="E8F0FF"/>
          </a:solidFill>
          <a:ln w="12700">
            <a:solidFill>
              <a:srgbClr val="E8F0FF"/>
            </a:solidFill>
            <a:prstDash val="solid"/>
          </a:ln>
        </p:spPr>
      </p:sp>
      <p:sp>
        <p:nvSpPr>
          <p:cNvPr id="21" name="Shape 19"/>
          <p:cNvSpPr/>
          <p:nvPr/>
        </p:nvSpPr>
        <p:spPr>
          <a:xfrm>
            <a:off x="5175504" y="2706624"/>
            <a:ext cx="384048" cy="365760"/>
          </a:xfrm>
          <a:prstGeom prst="roundRect">
            <a:avLst>
              <a:gd name="adj" fmla="val 35000"/>
            </a:avLst>
          </a:prstGeom>
          <a:solidFill>
            <a:srgbClr val="FFFFFF"/>
          </a:solidFill>
          <a:ln w="12700">
            <a:solidFill>
              <a:srgbClr val="FFFFFF"/>
            </a:solidFill>
            <a:prstDash val="solid"/>
          </a:ln>
        </p:spPr>
      </p:sp>
      <p:sp>
        <p:nvSpPr>
          <p:cNvPr id="22" name="Text 20"/>
          <p:cNvSpPr/>
          <p:nvPr/>
        </p:nvSpPr>
        <p:spPr>
          <a:xfrm>
            <a:off x="5266944" y="2743200"/>
            <a:ext cx="201168" cy="274320"/>
          </a:xfrm>
          <a:prstGeom prst="rect">
            <a:avLst/>
          </a:prstGeom>
          <a:noFill/>
          <a:ln/>
        </p:spPr>
        <p:txBody>
          <a:bodyPr wrap="square" lIns="0" tIns="0" rIns="0" bIns="0" rtlCol="0" anchor="ctr"/>
          <a:lstStyle/>
          <a:p>
            <a:pPr algn="ctr" indent="0" marL="0">
              <a:buNone/>
            </a:pPr>
            <a:r>
              <a:rPr lang="en-US" sz="1200" b="1" dirty="0">
                <a:solidFill>
                  <a:srgbClr val="245FC0"/>
                </a:solidFill>
                <a:latin typeface="Arial" pitchFamily="34" charset="0"/>
                <a:ea typeface="Arial" pitchFamily="34" charset="-122"/>
                <a:cs typeface="Arial" pitchFamily="34" charset="-120"/>
              </a:rPr>
              <a:t>3</a:t>
            </a:r>
            <a:endParaRPr lang="en-US" sz="1200" dirty="0"/>
          </a:p>
        </p:txBody>
      </p:sp>
      <p:sp>
        <p:nvSpPr>
          <p:cNvPr id="23" name="Text 21"/>
          <p:cNvSpPr/>
          <p:nvPr/>
        </p:nvSpPr>
        <p:spPr>
          <a:xfrm>
            <a:off x="5175504" y="3236976"/>
            <a:ext cx="1819656" cy="365760"/>
          </a:xfrm>
          <a:prstGeom prst="rect">
            <a:avLst/>
          </a:prstGeom>
          <a:noFill/>
          <a:ln/>
        </p:spPr>
        <p:txBody>
          <a:bodyPr wrap="square" lIns="0" tIns="0" rIns="0" bIns="0" rtlCol="0" anchor="ctr"/>
          <a:lstStyle/>
          <a:p>
            <a:pPr indent="0" marL="0">
              <a:buNone/>
            </a:pPr>
            <a:r>
              <a:rPr lang="en-US" sz="2400" b="1" dirty="0">
                <a:solidFill>
                  <a:srgbClr val="245FC0"/>
                </a:solidFill>
                <a:latin typeface="Arial" pitchFamily="34" charset="0"/>
                <a:ea typeface="Arial" pitchFamily="34" charset="-122"/>
                <a:cs typeface="Arial" pitchFamily="34" charset="-120"/>
              </a:rPr>
              <a:t>Verify</a:t>
            </a:r>
            <a:endParaRPr lang="en-US" sz="2400" dirty="0"/>
          </a:p>
        </p:txBody>
      </p:sp>
      <p:sp>
        <p:nvSpPr>
          <p:cNvPr id="24" name="Text 22"/>
          <p:cNvSpPr/>
          <p:nvPr/>
        </p:nvSpPr>
        <p:spPr>
          <a:xfrm>
            <a:off x="5175504" y="3749040"/>
            <a:ext cx="1819656" cy="1005840"/>
          </a:xfrm>
          <a:prstGeom prst="rect">
            <a:avLst/>
          </a:prstGeom>
          <a:noFill/>
          <a:ln/>
        </p:spPr>
        <p:txBody>
          <a:bodyPr wrap="square" lIns="0" tIns="0" rIns="0" bIns="0" rtlCol="0" anchor="ctr"/>
          <a:lstStyle/>
          <a:p>
            <a:pPr indent="0" marL="0">
              <a:buNone/>
            </a:pPr>
            <a:r>
              <a:rPr lang="en-US" sz="1550" dirty="0">
                <a:solidFill>
                  <a:srgbClr val="172C46"/>
                </a:solidFill>
                <a:latin typeface="Arial" pitchFamily="34" charset="0"/>
                <a:ea typeface="Arial" pitchFamily="34" charset="-122"/>
                <a:cs typeface="Arial" pitchFamily="34" charset="-120"/>
              </a:rPr>
              <a:t>Read all bytes back.</a:t>
            </a:r>
            <a:endParaRPr lang="en-US" sz="1550" dirty="0"/>
          </a:p>
          <a:p>
            <a:pPr indent="0" marL="0">
              <a:buNone/>
            </a:pPr>
            <a:r>
              <a:rPr lang="en-US" sz="1550" dirty="0">
                <a:solidFill>
                  <a:srgbClr val="172C46"/>
                </a:solidFill>
                <a:latin typeface="Arial" pitchFamily="34" charset="0"/>
                <a:ea typeface="Arial" pitchFamily="34" charset="-122"/>
                <a:cs typeface="Arial" pitchFamily="34" charset="-120"/>
              </a:rPr>
              <a:t>Compare with flash.</a:t>
            </a:r>
            <a:endParaRPr lang="en-US" sz="1550" dirty="0"/>
          </a:p>
          <a:p>
            <a:pPr indent="0" marL="0">
              <a:buNone/>
            </a:pPr>
            <a:r>
              <a:rPr lang="en-US" sz="1550" dirty="0">
                <a:solidFill>
                  <a:srgbClr val="172C46"/>
                </a:solidFill>
                <a:latin typeface="Arial" pitchFamily="34" charset="0"/>
                <a:ea typeface="Arial" pitchFamily="34" charset="-122"/>
                <a:cs typeface="Arial" pitchFamily="34" charset="-120"/>
              </a:rPr>
              <a:t>Hold CPU in reset.</a:t>
            </a:r>
            <a:endParaRPr lang="en-US" sz="1550" dirty="0"/>
          </a:p>
        </p:txBody>
      </p:sp>
      <p:sp>
        <p:nvSpPr>
          <p:cNvPr id="25" name="Shape 23"/>
          <p:cNvSpPr/>
          <p:nvPr/>
        </p:nvSpPr>
        <p:spPr>
          <a:xfrm>
            <a:off x="7159752" y="3675888"/>
            <a:ext cx="137160" cy="0"/>
          </a:xfrm>
          <a:prstGeom prst="line">
            <a:avLst/>
          </a:prstGeom>
          <a:noFill/>
          <a:ln w="19050">
            <a:solidFill>
              <a:srgbClr val="5B6C83"/>
            </a:solidFill>
            <a:prstDash val="solid"/>
            <a:tailEnd type="triangle"/>
          </a:ln>
        </p:spPr>
      </p:sp>
      <p:sp>
        <p:nvSpPr>
          <p:cNvPr id="26" name="Shape 24"/>
          <p:cNvSpPr/>
          <p:nvPr/>
        </p:nvSpPr>
        <p:spPr>
          <a:xfrm>
            <a:off x="7296912" y="2514600"/>
            <a:ext cx="2148840" cy="2505456"/>
          </a:xfrm>
          <a:prstGeom prst="roundRect">
            <a:avLst>
              <a:gd name="adj" fmla="val 5957"/>
            </a:avLst>
          </a:prstGeom>
          <a:solidFill>
            <a:srgbClr val="FFF0DB"/>
          </a:solidFill>
          <a:ln w="12700">
            <a:solidFill>
              <a:srgbClr val="FFF0DB"/>
            </a:solidFill>
            <a:prstDash val="solid"/>
          </a:ln>
        </p:spPr>
      </p:sp>
      <p:sp>
        <p:nvSpPr>
          <p:cNvPr id="27" name="Shape 25"/>
          <p:cNvSpPr/>
          <p:nvPr/>
        </p:nvSpPr>
        <p:spPr>
          <a:xfrm>
            <a:off x="7461504" y="2706624"/>
            <a:ext cx="384048" cy="365760"/>
          </a:xfrm>
          <a:prstGeom prst="roundRect">
            <a:avLst>
              <a:gd name="adj" fmla="val 35000"/>
            </a:avLst>
          </a:prstGeom>
          <a:solidFill>
            <a:srgbClr val="FFFFFF"/>
          </a:solidFill>
          <a:ln w="12700">
            <a:solidFill>
              <a:srgbClr val="FFFFFF"/>
            </a:solidFill>
            <a:prstDash val="solid"/>
          </a:ln>
        </p:spPr>
      </p:sp>
      <p:sp>
        <p:nvSpPr>
          <p:cNvPr id="28" name="Text 26"/>
          <p:cNvSpPr/>
          <p:nvPr/>
        </p:nvSpPr>
        <p:spPr>
          <a:xfrm>
            <a:off x="7552944" y="2743200"/>
            <a:ext cx="201168" cy="274320"/>
          </a:xfrm>
          <a:prstGeom prst="rect">
            <a:avLst/>
          </a:prstGeom>
          <a:noFill/>
          <a:ln/>
        </p:spPr>
        <p:txBody>
          <a:bodyPr wrap="square" lIns="0" tIns="0" rIns="0" bIns="0" rtlCol="0" anchor="ctr"/>
          <a:lstStyle/>
          <a:p>
            <a:pPr algn="ctr" indent="0" marL="0">
              <a:buNone/>
            </a:pPr>
            <a:r>
              <a:rPr lang="en-US" sz="1200" b="1" dirty="0">
                <a:solidFill>
                  <a:srgbClr val="BC6211"/>
                </a:solidFill>
                <a:latin typeface="Arial" pitchFamily="34" charset="0"/>
                <a:ea typeface="Arial" pitchFamily="34" charset="-122"/>
                <a:cs typeface="Arial" pitchFamily="34" charset="-120"/>
              </a:rPr>
              <a:t>4</a:t>
            </a:r>
            <a:endParaRPr lang="en-US" sz="1200" dirty="0"/>
          </a:p>
        </p:txBody>
      </p:sp>
      <p:sp>
        <p:nvSpPr>
          <p:cNvPr id="29" name="Text 27"/>
          <p:cNvSpPr/>
          <p:nvPr/>
        </p:nvSpPr>
        <p:spPr>
          <a:xfrm>
            <a:off x="7461504" y="3236976"/>
            <a:ext cx="1819656" cy="365760"/>
          </a:xfrm>
          <a:prstGeom prst="rect">
            <a:avLst/>
          </a:prstGeom>
          <a:noFill/>
          <a:ln/>
        </p:spPr>
        <p:txBody>
          <a:bodyPr wrap="square" lIns="0" tIns="0" rIns="0" bIns="0" rtlCol="0" anchor="ctr"/>
          <a:lstStyle/>
          <a:p>
            <a:pPr indent="0" marL="0">
              <a:buNone/>
            </a:pPr>
            <a:r>
              <a:rPr lang="en-US" sz="2400" b="1" dirty="0">
                <a:solidFill>
                  <a:srgbClr val="BC6211"/>
                </a:solidFill>
                <a:latin typeface="Arial" pitchFamily="34" charset="0"/>
                <a:ea typeface="Arial" pitchFamily="34" charset="-122"/>
                <a:cs typeface="Arial" pitchFamily="34" charset="-120"/>
              </a:rPr>
              <a:t>Start</a:t>
            </a:r>
            <a:endParaRPr lang="en-US" sz="2400" dirty="0"/>
          </a:p>
        </p:txBody>
      </p:sp>
      <p:sp>
        <p:nvSpPr>
          <p:cNvPr id="30" name="Text 28"/>
          <p:cNvSpPr/>
          <p:nvPr/>
        </p:nvSpPr>
        <p:spPr>
          <a:xfrm>
            <a:off x="7461504" y="3749040"/>
            <a:ext cx="1819656" cy="1005840"/>
          </a:xfrm>
          <a:prstGeom prst="rect">
            <a:avLst/>
          </a:prstGeom>
          <a:noFill/>
          <a:ln/>
        </p:spPr>
        <p:txBody>
          <a:bodyPr wrap="square" lIns="0" tIns="0" rIns="0" bIns="0" rtlCol="0" anchor="ctr"/>
          <a:lstStyle/>
          <a:p>
            <a:pPr indent="0" marL="0">
              <a:buNone/>
            </a:pPr>
            <a:r>
              <a:rPr lang="en-US" sz="1550" dirty="0">
                <a:solidFill>
                  <a:srgbClr val="172C46"/>
                </a:solidFill>
                <a:latin typeface="Arial" pitchFamily="34" charset="0"/>
                <a:ea typeface="Arial" pitchFamily="34" charset="-122"/>
                <a:cs typeface="Arial" pitchFamily="34" charset="-120"/>
              </a:rPr>
              <a:t>Arm I/O; reset Z80.</a:t>
            </a:r>
            <a:endParaRPr lang="en-US" sz="1550" dirty="0"/>
          </a:p>
          <a:p>
            <a:pPr indent="0" marL="0">
              <a:buNone/>
            </a:pPr>
            <a:r>
              <a:rPr lang="en-US" sz="1550" dirty="0">
                <a:solidFill>
                  <a:srgbClr val="172C46"/>
                </a:solidFill>
                <a:latin typeface="Arial" pitchFamily="34" charset="0"/>
                <a:ea typeface="Arial" pitchFamily="34" charset="-122"/>
                <a:cs typeface="Arial" pitchFamily="34" charset="-120"/>
              </a:rPr>
              <a:t>Start 20 MHz clock.</a:t>
            </a:r>
            <a:endParaRPr lang="en-US" sz="1550" dirty="0"/>
          </a:p>
          <a:p>
            <a:pPr indent="0" marL="0">
              <a:buNone/>
            </a:pPr>
            <a:r>
              <a:rPr lang="en-US" sz="1550" dirty="0">
                <a:solidFill>
                  <a:srgbClr val="172C46"/>
                </a:solidFill>
                <a:latin typeface="Arial" pitchFamily="34" charset="0"/>
                <a:ea typeface="Arial" pitchFamily="34" charset="-122"/>
                <a:cs typeface="Arial" pitchFamily="34" charset="-120"/>
              </a:rPr>
              <a:t>Enable workers.</a:t>
            </a:r>
            <a:endParaRPr lang="en-US" sz="1550" dirty="0"/>
          </a:p>
        </p:txBody>
      </p:sp>
      <p:sp>
        <p:nvSpPr>
          <p:cNvPr id="31" name="Shape 29"/>
          <p:cNvSpPr/>
          <p:nvPr/>
        </p:nvSpPr>
        <p:spPr>
          <a:xfrm>
            <a:off x="9445752" y="3675888"/>
            <a:ext cx="137160" cy="0"/>
          </a:xfrm>
          <a:prstGeom prst="line">
            <a:avLst/>
          </a:prstGeom>
          <a:noFill/>
          <a:ln w="19050">
            <a:solidFill>
              <a:srgbClr val="5B6C83"/>
            </a:solidFill>
            <a:prstDash val="solid"/>
            <a:tailEnd type="triangle"/>
          </a:ln>
        </p:spPr>
      </p:sp>
      <p:sp>
        <p:nvSpPr>
          <p:cNvPr id="32" name="Shape 30"/>
          <p:cNvSpPr/>
          <p:nvPr/>
        </p:nvSpPr>
        <p:spPr>
          <a:xfrm>
            <a:off x="9582912" y="2514600"/>
            <a:ext cx="2148840" cy="2505456"/>
          </a:xfrm>
          <a:prstGeom prst="roundRect">
            <a:avLst>
              <a:gd name="adj" fmla="val 5957"/>
            </a:avLst>
          </a:prstGeom>
          <a:solidFill>
            <a:srgbClr val="F0E9FA"/>
          </a:solidFill>
          <a:ln w="12700">
            <a:solidFill>
              <a:srgbClr val="F0E9FA"/>
            </a:solidFill>
            <a:prstDash val="solid"/>
          </a:ln>
        </p:spPr>
      </p:sp>
      <p:sp>
        <p:nvSpPr>
          <p:cNvPr id="33" name="Shape 31"/>
          <p:cNvSpPr/>
          <p:nvPr/>
        </p:nvSpPr>
        <p:spPr>
          <a:xfrm>
            <a:off x="9747504" y="2706624"/>
            <a:ext cx="384048" cy="365760"/>
          </a:xfrm>
          <a:prstGeom prst="roundRect">
            <a:avLst>
              <a:gd name="adj" fmla="val 35000"/>
            </a:avLst>
          </a:prstGeom>
          <a:solidFill>
            <a:srgbClr val="FFFFFF"/>
          </a:solidFill>
          <a:ln w="12700">
            <a:solidFill>
              <a:srgbClr val="FFFFFF"/>
            </a:solidFill>
            <a:prstDash val="solid"/>
          </a:ln>
        </p:spPr>
      </p:sp>
      <p:sp>
        <p:nvSpPr>
          <p:cNvPr id="34" name="Text 32"/>
          <p:cNvSpPr/>
          <p:nvPr/>
        </p:nvSpPr>
        <p:spPr>
          <a:xfrm>
            <a:off x="9838944" y="2743200"/>
            <a:ext cx="201168" cy="274320"/>
          </a:xfrm>
          <a:prstGeom prst="rect">
            <a:avLst/>
          </a:prstGeom>
          <a:noFill/>
          <a:ln/>
        </p:spPr>
        <p:txBody>
          <a:bodyPr wrap="square" lIns="0" tIns="0" rIns="0" bIns="0" rtlCol="0" anchor="ctr"/>
          <a:lstStyle/>
          <a:p>
            <a:pPr algn="ctr" indent="0" marL="0">
              <a:buNone/>
            </a:pPr>
            <a:r>
              <a:rPr lang="en-US" sz="1200" b="1" dirty="0">
                <a:solidFill>
                  <a:srgbClr val="7545AC"/>
                </a:solidFill>
                <a:latin typeface="Arial" pitchFamily="34" charset="0"/>
                <a:ea typeface="Arial" pitchFamily="34" charset="-122"/>
                <a:cs typeface="Arial" pitchFamily="34" charset="-120"/>
              </a:rPr>
              <a:t>5</a:t>
            </a:r>
            <a:endParaRPr lang="en-US" sz="1200" dirty="0"/>
          </a:p>
        </p:txBody>
      </p:sp>
      <p:sp>
        <p:nvSpPr>
          <p:cNvPr id="35" name="Text 33"/>
          <p:cNvSpPr/>
          <p:nvPr/>
        </p:nvSpPr>
        <p:spPr>
          <a:xfrm>
            <a:off x="9747504" y="3236976"/>
            <a:ext cx="1819656" cy="365760"/>
          </a:xfrm>
          <a:prstGeom prst="rect">
            <a:avLst/>
          </a:prstGeom>
          <a:noFill/>
          <a:ln/>
        </p:spPr>
        <p:txBody>
          <a:bodyPr wrap="square" lIns="0" tIns="0" rIns="0" bIns="0" rtlCol="0" anchor="ctr"/>
          <a:lstStyle/>
          <a:p>
            <a:pPr indent="0" marL="0">
              <a:buNone/>
            </a:pPr>
            <a:r>
              <a:rPr lang="en-US" sz="2400" b="1" dirty="0">
                <a:solidFill>
                  <a:srgbClr val="7545AC"/>
                </a:solidFill>
                <a:latin typeface="Arial" pitchFamily="34" charset="0"/>
                <a:ea typeface="Arial" pitchFamily="34" charset="-122"/>
                <a:cs typeface="Arial" pitchFamily="34" charset="-120"/>
              </a:rPr>
              <a:t>Execute</a:t>
            </a:r>
            <a:endParaRPr lang="en-US" sz="2400" dirty="0"/>
          </a:p>
        </p:txBody>
      </p:sp>
      <p:sp>
        <p:nvSpPr>
          <p:cNvPr id="36" name="Text 34"/>
          <p:cNvSpPr/>
          <p:nvPr/>
        </p:nvSpPr>
        <p:spPr>
          <a:xfrm>
            <a:off x="9747504" y="3749040"/>
            <a:ext cx="1819656" cy="1005840"/>
          </a:xfrm>
          <a:prstGeom prst="rect">
            <a:avLst/>
          </a:prstGeom>
          <a:noFill/>
          <a:ln/>
        </p:spPr>
        <p:txBody>
          <a:bodyPr wrap="square" lIns="0" tIns="0" rIns="0" bIns="0" rtlCol="0" anchor="ctr"/>
          <a:lstStyle/>
          <a:p>
            <a:pPr indent="0" marL="0">
              <a:buNone/>
            </a:pPr>
            <a:r>
              <a:rPr lang="en-US" sz="1550" dirty="0">
                <a:solidFill>
                  <a:srgbClr val="172C46"/>
                </a:solidFill>
                <a:latin typeface="Arial" pitchFamily="34" charset="0"/>
                <a:ea typeface="Arial" pitchFamily="34" charset="-122"/>
                <a:cs typeface="Arial" pitchFamily="34" charset="-120"/>
              </a:rPr>
              <a:t>Fetch from SRAM.</a:t>
            </a:r>
            <a:endParaRPr lang="en-US" sz="1550" dirty="0"/>
          </a:p>
          <a:p>
            <a:pPr indent="0" marL="0">
              <a:buNone/>
            </a:pPr>
            <a:r>
              <a:rPr lang="en-US" sz="1550" dirty="0">
                <a:solidFill>
                  <a:srgbClr val="172C46"/>
                </a:solidFill>
                <a:latin typeface="Arial" pitchFamily="34" charset="0"/>
                <a:ea typeface="Arial" pitchFamily="34" charset="-122"/>
                <a:cs typeface="Arial" pitchFamily="34" charset="-120"/>
              </a:rPr>
              <a:t>BIOS starts CP/M.</a:t>
            </a:r>
            <a:endParaRPr lang="en-US" sz="1550" dirty="0"/>
          </a:p>
          <a:p>
            <a:pPr indent="0" marL="0">
              <a:buNone/>
            </a:pPr>
            <a:r>
              <a:rPr lang="en-US" sz="1550" dirty="0">
                <a:solidFill>
                  <a:srgbClr val="172C46"/>
                </a:solidFill>
                <a:latin typeface="Arial" pitchFamily="34" charset="0"/>
                <a:ea typeface="Arial" pitchFamily="34" charset="-122"/>
                <a:cs typeface="Arial" pitchFamily="34" charset="-120"/>
              </a:rPr>
              <a:t>CCP starts programs.</a:t>
            </a:r>
            <a:endParaRPr lang="en-US" sz="1550" dirty="0"/>
          </a:p>
        </p:txBody>
      </p:sp>
      <p:sp>
        <p:nvSpPr>
          <p:cNvPr id="37" name="Text 35"/>
          <p:cNvSpPr/>
          <p:nvPr/>
        </p:nvSpPr>
        <p:spPr>
          <a:xfrm>
            <a:off x="548640" y="5276088"/>
            <a:ext cx="11064240" cy="320040"/>
          </a:xfrm>
          <a:prstGeom prst="rect">
            <a:avLst/>
          </a:prstGeom>
          <a:noFill/>
          <a:ln/>
        </p:spPr>
        <p:txBody>
          <a:bodyPr wrap="square" lIns="0" tIns="0" rIns="0" bIns="0" rtlCol="0" anchor="ctr"/>
          <a:lstStyle/>
          <a:p>
            <a:pPr algn="ctr" indent="0" marL="0">
              <a:buNone/>
            </a:pPr>
            <a:r>
              <a:rPr lang="en-US" sz="1700" dirty="0">
                <a:solidFill>
                  <a:srgbClr val="5B6C83"/>
                </a:solidFill>
                <a:latin typeface="Arial" pitchFamily="34" charset="0"/>
                <a:ea typeface="Arial" pitchFamily="34" charset="-122"/>
                <a:cs typeface="Arial" pitchFamily="34" charset="-120"/>
              </a:rPr>
              <a:t>Pico injects LD HL,nn / LD (HL),n for loading and LD A,(HL) for read-back.</a:t>
            </a:r>
            <a:endParaRPr lang="en-US" sz="1700" dirty="0"/>
          </a:p>
        </p:txBody>
      </p:sp>
      <p:sp>
        <p:nvSpPr>
          <p:cNvPr id="38" name="Shape 36"/>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sp>
      <p:sp>
        <p:nvSpPr>
          <p:cNvPr id="39" name="Text 37"/>
          <p:cNvSpPr/>
          <p:nvPr/>
        </p:nvSpPr>
        <p:spPr>
          <a:xfrm>
            <a:off x="612648" y="5897880"/>
            <a:ext cx="10945368" cy="301752"/>
          </a:xfrm>
          <a:prstGeom prst="rect">
            <a:avLst/>
          </a:prstGeom>
          <a:noFill/>
          <a:ln/>
        </p:spPr>
        <p:txBody>
          <a:bodyPr wrap="square" lIns="0" tIns="0" rIns="0" bIns="0" rtlCol="0" anchor="ctr"/>
          <a:lstStyle/>
          <a:p>
            <a:pPr algn="ctr" indent="0" marL="0">
              <a:buNone/>
            </a:pPr>
            <a:r>
              <a:rPr lang="en-US" sz="1600" b="1" dirty="0">
                <a:solidFill>
                  <a:srgbClr val="245FC0"/>
                </a:solidFill>
                <a:latin typeface="Arial" pitchFamily="34" charset="0"/>
                <a:ea typeface="Arial" pitchFamily="34" charset="-122"/>
                <a:cs typeface="Arial" pitchFamily="34" charset="-120"/>
              </a:rPr>
              <a:t>After reset: SRAM[0000h] = JP FD00h → BIOS cold entry → CCP. No USB, Wi-Fi or browser required.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sp>
      <p:sp>
        <p:nvSpPr>
          <p:cNvPr id="3" name="Text 1"/>
          <p:cNvSpPr/>
          <p:nvPr/>
        </p:nvSpPr>
        <p:spPr>
          <a:xfrm>
            <a:off x="411480" y="228600"/>
            <a:ext cx="10058400" cy="256032"/>
          </a:xfrm>
          <a:prstGeom prst="rect">
            <a:avLst/>
          </a:prstGeom>
          <a:noFill/>
          <a:ln/>
        </p:spPr>
        <p:txBody>
          <a:bodyPr wrap="square" lIns="0" tIns="0" rIns="0" bIns="0" rtlCol="0" anchor="ctr"/>
          <a:lstStyle/>
          <a:p>
            <a:pPr indent="0" marL="0">
              <a:buNone/>
            </a:pPr>
            <a:r>
              <a:rPr lang="en-US" sz="1100" b="1" spc="150" kern="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indent="0" marL="0">
              <a:buNone/>
            </a:pPr>
            <a:r>
              <a:rPr lang="en-US" sz="3300" b="1" dirty="0">
                <a:solidFill>
                  <a:srgbClr val="172C46"/>
                </a:solidFill>
                <a:latin typeface="Arial" pitchFamily="34" charset="0"/>
                <a:ea typeface="Arial" pitchFamily="34" charset="-122"/>
                <a:cs typeface="Arial" pitchFamily="34" charset="-120"/>
              </a:rPr>
              <a:t>Normal execution is direct. I/O is virtual.</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indent="0" marL="0">
              <a:buNone/>
            </a:pPr>
            <a:r>
              <a:rPr lang="en-US" sz="1800" dirty="0">
                <a:solidFill>
                  <a:srgbClr val="5B6C83"/>
                </a:solidFill>
                <a:latin typeface="Arial" pitchFamily="34" charset="0"/>
                <a:ea typeface="Arial" pitchFamily="34" charset="-122"/>
                <a:cs typeface="Arial" pitchFamily="34" charset="-120"/>
              </a:rPr>
              <a:t>The Z80 runs from SRAM until an IN or OUT instruction needs a Pico-managed peripheral.</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indent="0" marL="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22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algn="r" indent="0" marL="0">
              <a:buNone/>
            </a:pPr>
            <a:r>
              <a:rPr lang="en-US" sz="1200" dirty="0">
                <a:solidFill>
                  <a:srgbClr val="5B6C83"/>
                </a:solidFill>
                <a:latin typeface="Arial" pitchFamily="34" charset="0"/>
                <a:ea typeface="Arial" pitchFamily="34" charset="-122"/>
                <a:cs typeface="Arial" pitchFamily="34" charset="-120"/>
              </a:rPr>
              <a:t>05</a:t>
            </a:r>
            <a:endParaRPr lang="en-US" sz="1200" dirty="0"/>
          </a:p>
        </p:txBody>
      </p:sp>
      <p:sp>
        <p:nvSpPr>
          <p:cNvPr id="8" name="Shape 6"/>
          <p:cNvSpPr/>
          <p:nvPr/>
        </p:nvSpPr>
        <p:spPr>
          <a:xfrm>
            <a:off x="438912" y="2240280"/>
            <a:ext cx="3337560" cy="1783080"/>
          </a:xfrm>
          <a:prstGeom prst="roundRect">
            <a:avLst>
              <a:gd name="adj" fmla="val 7179"/>
            </a:avLst>
          </a:prstGeom>
          <a:solidFill>
            <a:srgbClr val="F0E9FA"/>
          </a:solidFill>
          <a:ln w="12700">
            <a:solidFill>
              <a:srgbClr val="F0E9FA"/>
            </a:solidFill>
            <a:prstDash val="solid"/>
          </a:ln>
        </p:spPr>
      </p:sp>
      <p:sp>
        <p:nvSpPr>
          <p:cNvPr id="9" name="Text 7"/>
          <p:cNvSpPr/>
          <p:nvPr/>
        </p:nvSpPr>
        <p:spPr>
          <a:xfrm>
            <a:off x="658368" y="2468880"/>
            <a:ext cx="2889504" cy="365760"/>
          </a:xfrm>
          <a:prstGeom prst="rect">
            <a:avLst/>
          </a:prstGeom>
          <a:noFill/>
          <a:ln/>
        </p:spPr>
        <p:txBody>
          <a:bodyPr wrap="square" lIns="0" tIns="0" rIns="0" bIns="0" rtlCol="0" anchor="ctr"/>
          <a:lstStyle/>
          <a:p>
            <a:pPr indent="0" marL="0">
              <a:buNone/>
            </a:pPr>
            <a:r>
              <a:rPr lang="en-US" sz="2500" b="1" dirty="0">
                <a:solidFill>
                  <a:srgbClr val="7545AC"/>
                </a:solidFill>
                <a:latin typeface="Arial" pitchFamily="34" charset="0"/>
                <a:ea typeface="Arial" pitchFamily="34" charset="-122"/>
                <a:cs typeface="Arial" pitchFamily="34" charset="-120"/>
              </a:rPr>
              <a:t>Z80 + SRAM</a:t>
            </a:r>
            <a:endParaRPr lang="en-US" sz="2500" dirty="0"/>
          </a:p>
        </p:txBody>
      </p:sp>
      <p:sp>
        <p:nvSpPr>
          <p:cNvPr id="10" name="Text 8"/>
          <p:cNvSpPr/>
          <p:nvPr/>
        </p:nvSpPr>
        <p:spPr>
          <a:xfrm>
            <a:off x="658368" y="2999232"/>
            <a:ext cx="2889504" cy="777240"/>
          </a:xfrm>
          <a:prstGeom prst="rect">
            <a:avLst/>
          </a:prstGeom>
          <a:noFill/>
          <a:ln/>
        </p:spPr>
        <p:txBody>
          <a:bodyPr wrap="square" lIns="0" tIns="0" rIns="0" bIns="0" rtlCol="0" anchor="ctr"/>
          <a:lstStyle/>
          <a:p>
            <a:pPr indent="0" marL="0">
              <a:buNone/>
            </a:pPr>
            <a:r>
              <a:rPr lang="en-US" sz="1800" dirty="0">
                <a:solidFill>
                  <a:srgbClr val="172C46"/>
                </a:solidFill>
                <a:latin typeface="Arial" pitchFamily="34" charset="0"/>
                <a:ea typeface="Arial" pitchFamily="34" charset="-122"/>
                <a:cs typeface="Arial" pitchFamily="34" charset="-120"/>
              </a:rPr>
              <a:t>Ordinary instruction fetches</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and memory reads / writes</a:t>
            </a:r>
            <a:endParaRPr lang="en-US" sz="1800" dirty="0"/>
          </a:p>
          <a:p>
            <a:pPr indent="0" marL="0">
              <a:buNone/>
            </a:pPr>
            <a:r>
              <a:rPr lang="en-US" sz="1800" dirty="0">
                <a:solidFill>
                  <a:srgbClr val="172C46"/>
                </a:solidFill>
                <a:latin typeface="Arial" pitchFamily="34" charset="0"/>
                <a:ea typeface="Arial" pitchFamily="34" charset="-122"/>
                <a:cs typeface="Arial" pitchFamily="34" charset="-120"/>
              </a:rPr>
              <a:t>need no Pico software.</a:t>
            </a:r>
            <a:endParaRPr lang="en-US" sz="1800" dirty="0"/>
          </a:p>
        </p:txBody>
      </p:sp>
      <p:sp>
        <p:nvSpPr>
          <p:cNvPr id="11" name="Shape 9"/>
          <p:cNvSpPr/>
          <p:nvPr/>
        </p:nvSpPr>
        <p:spPr>
          <a:xfrm>
            <a:off x="4325112" y="2240280"/>
            <a:ext cx="3337560" cy="1783080"/>
          </a:xfrm>
          <a:prstGeom prst="roundRect">
            <a:avLst>
              <a:gd name="adj" fmla="val 7179"/>
            </a:avLst>
          </a:prstGeom>
          <a:solidFill>
            <a:srgbClr val="E8F0FF"/>
          </a:solidFill>
          <a:ln w="12700">
            <a:solidFill>
              <a:srgbClr val="E8F0FF"/>
            </a:solidFill>
            <a:prstDash val="solid"/>
          </a:ln>
        </p:spPr>
      </p:sp>
      <p:sp>
        <p:nvSpPr>
          <p:cNvPr id="12" name="Text 10"/>
          <p:cNvSpPr/>
          <p:nvPr/>
        </p:nvSpPr>
        <p:spPr>
          <a:xfrm>
            <a:off x="4544568" y="2468880"/>
            <a:ext cx="2889504" cy="365760"/>
          </a:xfrm>
          <a:prstGeom prst="rect">
            <a:avLst/>
          </a:prstGeom>
          <a:noFill/>
          <a:ln/>
        </p:spPr>
        <p:txBody>
          <a:bodyPr wrap="square" lIns="0" tIns="0" rIns="0" bIns="0" rtlCol="0" anchor="ctr"/>
          <a:lstStyle/>
          <a:p>
            <a:pPr indent="0" marL="0">
              <a:buNone/>
            </a:pPr>
            <a:r>
              <a:rPr lang="en-US" sz="2500" b="1" dirty="0">
                <a:solidFill>
                  <a:srgbClr val="245FC0"/>
                </a:solidFill>
                <a:latin typeface="Arial" pitchFamily="34" charset="0"/>
                <a:ea typeface="Arial" pitchFamily="34" charset="-122"/>
                <a:cs typeface="Arial" pitchFamily="34" charset="-120"/>
              </a:rPr>
              <a:t>Core-0 I/O trap</a:t>
            </a:r>
            <a:endParaRPr lang="en-US" sz="2500" dirty="0"/>
          </a:p>
        </p:txBody>
      </p:sp>
      <p:sp>
        <p:nvSpPr>
          <p:cNvPr id="13" name="Text 11"/>
          <p:cNvSpPr/>
          <p:nvPr/>
        </p:nvSpPr>
        <p:spPr>
          <a:xfrm>
            <a:off x="4544568" y="2999232"/>
            <a:ext cx="2889504" cy="777240"/>
          </a:xfrm>
          <a:prstGeom prst="rect">
            <a:avLst/>
          </a:prstGeom>
          <a:noFill/>
          <a:ln/>
        </p:spPr>
        <p:txBody>
          <a:bodyPr wrap="square" lIns="0" tIns="0" rIns="0" bIns="0" rtlCol="0" anchor="ctr"/>
          <a:lstStyle/>
          <a:p>
            <a:pPr indent="0" marL="0">
              <a:buNone/>
            </a:pPr>
            <a:r>
              <a:rPr lang="en-US" sz="1700" dirty="0">
                <a:solidFill>
                  <a:srgbClr val="172C46"/>
                </a:solidFill>
                <a:latin typeface="Arial" pitchFamily="34" charset="0"/>
                <a:ea typeface="Arial" pitchFamily="34" charset="-122"/>
                <a:cs typeface="Arial" pitchFamily="34" charset="-120"/>
              </a:rPr>
              <a:t>Hardware WAIT holds I/O.</a:t>
            </a:r>
            <a:endParaRPr lang="en-US" sz="1700" dirty="0"/>
          </a:p>
          <a:p>
            <a:pPr indent="0" marL="0">
              <a:buNone/>
            </a:pPr>
            <a:r>
              <a:rPr lang="en-US" sz="1700" dirty="0">
                <a:solidFill>
                  <a:srgbClr val="172C46"/>
                </a:solidFill>
                <a:latin typeface="Arial" pitchFamily="34" charset="0"/>
                <a:ea typeface="Arial" pitchFamily="34" charset="-122"/>
                <a:cs typeface="Arial" pitchFamily="34" charset="-120"/>
              </a:rPr>
              <a:t>Stop clock; transfer byte.</a:t>
            </a:r>
            <a:endParaRPr lang="en-US" sz="1700" dirty="0"/>
          </a:p>
          <a:p>
            <a:pPr indent="0" marL="0">
              <a:buNone/>
            </a:pPr>
            <a:r>
              <a:rPr lang="en-US" sz="1700" dirty="0">
                <a:solidFill>
                  <a:srgbClr val="172C46"/>
                </a:solidFill>
                <a:latin typeface="Arial" pitchFamily="34" charset="0"/>
                <a:ea typeface="Arial" pitchFamily="34" charset="-122"/>
                <a:cs typeface="Arial" pitchFamily="34" charset="-120"/>
              </a:rPr>
              <a:t>Step cycle; resume PWM.</a:t>
            </a:r>
            <a:endParaRPr lang="en-US" sz="1700" dirty="0"/>
          </a:p>
        </p:txBody>
      </p:sp>
      <p:sp>
        <p:nvSpPr>
          <p:cNvPr id="14" name="Shape 12"/>
          <p:cNvSpPr/>
          <p:nvPr/>
        </p:nvSpPr>
        <p:spPr>
          <a:xfrm>
            <a:off x="8211312" y="2240280"/>
            <a:ext cx="3520440" cy="1783080"/>
          </a:xfrm>
          <a:prstGeom prst="roundRect">
            <a:avLst>
              <a:gd name="adj" fmla="val 7179"/>
            </a:avLst>
          </a:prstGeom>
          <a:solidFill>
            <a:srgbClr val="E4F5EF"/>
          </a:solidFill>
          <a:ln w="12700">
            <a:solidFill>
              <a:srgbClr val="E4F5EF"/>
            </a:solidFill>
            <a:prstDash val="solid"/>
          </a:ln>
        </p:spPr>
      </p:sp>
      <p:sp>
        <p:nvSpPr>
          <p:cNvPr id="15" name="Text 13"/>
          <p:cNvSpPr/>
          <p:nvPr/>
        </p:nvSpPr>
        <p:spPr>
          <a:xfrm>
            <a:off x="8430768" y="2468880"/>
            <a:ext cx="3072384" cy="365760"/>
          </a:xfrm>
          <a:prstGeom prst="rect">
            <a:avLst/>
          </a:prstGeom>
          <a:noFill/>
          <a:ln/>
        </p:spPr>
        <p:txBody>
          <a:bodyPr wrap="square" lIns="0" tIns="0" rIns="0" bIns="0" rtlCol="0" anchor="ctr"/>
          <a:lstStyle/>
          <a:p>
            <a:pPr indent="0" marL="0">
              <a:buNone/>
            </a:pPr>
            <a:r>
              <a:rPr lang="en-US" sz="2500" b="1" dirty="0">
                <a:solidFill>
                  <a:srgbClr val="007F79"/>
                </a:solidFill>
                <a:latin typeface="Arial" pitchFamily="34" charset="0"/>
                <a:ea typeface="Arial" pitchFamily="34" charset="-122"/>
                <a:cs typeface="Arial" pitchFamily="34" charset="-120"/>
              </a:rPr>
              <a:t>Virtual peripherals</a:t>
            </a:r>
            <a:endParaRPr lang="en-US" sz="2500" dirty="0"/>
          </a:p>
        </p:txBody>
      </p:sp>
      <p:sp>
        <p:nvSpPr>
          <p:cNvPr id="16" name="Text 14"/>
          <p:cNvSpPr/>
          <p:nvPr/>
        </p:nvSpPr>
        <p:spPr>
          <a:xfrm>
            <a:off x="8430768" y="2999232"/>
            <a:ext cx="3072384" cy="777240"/>
          </a:xfrm>
          <a:prstGeom prst="rect">
            <a:avLst/>
          </a:prstGeom>
          <a:noFill/>
          <a:ln/>
        </p:spPr>
        <p:txBody>
          <a:bodyPr wrap="square" lIns="0" tIns="0" rIns="0" bIns="0" rtlCol="0" anchor="ctr"/>
          <a:lstStyle/>
          <a:p>
            <a:pPr indent="0" marL="0">
              <a:buNone/>
            </a:pPr>
            <a:r>
              <a:rPr lang="en-US" sz="1700" dirty="0">
                <a:solidFill>
                  <a:srgbClr val="172C46"/>
                </a:solidFill>
                <a:latin typeface="Arial" pitchFamily="34" charset="0"/>
                <a:ea typeface="Arial" pitchFamily="34" charset="-122"/>
                <a:cs typeface="Arial" pitchFamily="34" charset="-120"/>
              </a:rPr>
              <a:t>Console → USB or browser</a:t>
            </a:r>
            <a:endParaRPr lang="en-US" sz="1700" dirty="0"/>
          </a:p>
          <a:p>
            <a:pPr indent="0" marL="0">
              <a:buNone/>
            </a:pPr>
            <a:r>
              <a:rPr lang="en-US" sz="1700" dirty="0">
                <a:solidFill>
                  <a:srgbClr val="172C46"/>
                </a:solidFill>
                <a:latin typeface="Arial" pitchFamily="34" charset="0"/>
                <a:ea typeface="Arial" pitchFamily="34" charset="-122"/>
                <a:cs typeface="Arial" pitchFamily="34" charset="-120"/>
              </a:rPr>
              <a:t>Disks → onboard flash</a:t>
            </a:r>
            <a:endParaRPr lang="en-US" sz="1700" dirty="0"/>
          </a:p>
          <a:p>
            <a:pPr indent="0" marL="0">
              <a:buNone/>
            </a:pPr>
            <a:r>
              <a:rPr lang="en-US" sz="1700" dirty="0">
                <a:solidFill>
                  <a:srgbClr val="172C46"/>
                </a:solidFill>
                <a:latin typeface="Arial" pitchFamily="34" charset="0"/>
                <a:ea typeface="Arial" pitchFamily="34" charset="-122"/>
                <a:cs typeface="Arial" pitchFamily="34" charset="-120"/>
              </a:rPr>
              <a:t>Services → async workers</a:t>
            </a:r>
            <a:endParaRPr lang="en-US" sz="1700" dirty="0"/>
          </a:p>
        </p:txBody>
      </p:sp>
      <p:sp>
        <p:nvSpPr>
          <p:cNvPr id="17" name="Shape 15"/>
          <p:cNvSpPr/>
          <p:nvPr/>
        </p:nvSpPr>
        <p:spPr>
          <a:xfrm>
            <a:off x="3776472" y="3127248"/>
            <a:ext cx="548640" cy="0"/>
          </a:xfrm>
          <a:prstGeom prst="line">
            <a:avLst/>
          </a:prstGeom>
          <a:noFill/>
          <a:ln w="31750">
            <a:solidFill>
              <a:srgbClr val="245FC0"/>
            </a:solidFill>
            <a:prstDash val="solid"/>
            <a:tailEnd type="triangle"/>
          </a:ln>
        </p:spPr>
      </p:sp>
      <p:sp>
        <p:nvSpPr>
          <p:cNvPr id="18" name="Text 16"/>
          <p:cNvSpPr/>
          <p:nvPr/>
        </p:nvSpPr>
        <p:spPr>
          <a:xfrm>
            <a:off x="3785616" y="2734056"/>
            <a:ext cx="530352" cy="237744"/>
          </a:xfrm>
          <a:prstGeom prst="rect">
            <a:avLst/>
          </a:prstGeom>
          <a:noFill/>
          <a:ln/>
        </p:spPr>
        <p:txBody>
          <a:bodyPr wrap="square" lIns="0" tIns="0" rIns="0" bIns="0" rtlCol="0" anchor="ctr"/>
          <a:lstStyle/>
          <a:p>
            <a:pPr algn="ctr" indent="0" marL="0">
              <a:buNone/>
            </a:pPr>
            <a:r>
              <a:rPr lang="en-US" sz="1000" b="1" dirty="0">
                <a:solidFill>
                  <a:srgbClr val="245FC0"/>
                </a:solidFill>
                <a:latin typeface="Arial" pitchFamily="34" charset="0"/>
                <a:ea typeface="Arial" pitchFamily="34" charset="-122"/>
                <a:cs typeface="Arial" pitchFamily="34" charset="-120"/>
              </a:rPr>
              <a:t>IN / OUT</a:t>
            </a:r>
            <a:endParaRPr lang="en-US" sz="1000" dirty="0"/>
          </a:p>
        </p:txBody>
      </p:sp>
      <p:sp>
        <p:nvSpPr>
          <p:cNvPr id="19" name="Shape 17"/>
          <p:cNvSpPr/>
          <p:nvPr/>
        </p:nvSpPr>
        <p:spPr>
          <a:xfrm>
            <a:off x="7662672" y="3127248"/>
            <a:ext cx="548640" cy="0"/>
          </a:xfrm>
          <a:prstGeom prst="line">
            <a:avLst/>
          </a:prstGeom>
          <a:noFill/>
          <a:ln w="31750">
            <a:solidFill>
              <a:srgbClr val="007F79"/>
            </a:solidFill>
            <a:prstDash val="solid"/>
            <a:headEnd type="triangle"/>
            <a:tailEnd type="triangle"/>
          </a:ln>
        </p:spPr>
      </p:sp>
      <p:sp>
        <p:nvSpPr>
          <p:cNvPr id="20" name="Shape 18"/>
          <p:cNvSpPr/>
          <p:nvPr/>
        </p:nvSpPr>
        <p:spPr>
          <a:xfrm>
            <a:off x="438912" y="4416552"/>
            <a:ext cx="5522976" cy="1005840"/>
          </a:xfrm>
          <a:prstGeom prst="roundRect">
            <a:avLst>
              <a:gd name="adj" fmla="val 12727"/>
            </a:avLst>
          </a:prstGeom>
          <a:solidFill>
            <a:srgbClr val="FFFFFF"/>
          </a:solidFill>
          <a:ln w="12700">
            <a:solidFill>
              <a:srgbClr val="D1DBE8"/>
            </a:solidFill>
            <a:prstDash val="solid"/>
          </a:ln>
        </p:spPr>
      </p:sp>
      <p:sp>
        <p:nvSpPr>
          <p:cNvPr id="21" name="Text 19"/>
          <p:cNvSpPr/>
          <p:nvPr/>
        </p:nvSpPr>
        <p:spPr>
          <a:xfrm>
            <a:off x="640080" y="4553712"/>
            <a:ext cx="5120640" cy="274320"/>
          </a:xfrm>
          <a:prstGeom prst="rect">
            <a:avLst/>
          </a:prstGeom>
          <a:noFill/>
          <a:ln/>
        </p:spPr>
        <p:txBody>
          <a:bodyPr wrap="square" lIns="0" tIns="0" rIns="0" bIns="0" rtlCol="0" anchor="ctr"/>
          <a:lstStyle/>
          <a:p>
            <a:pPr indent="0" marL="0">
              <a:buNone/>
            </a:pPr>
            <a:r>
              <a:rPr lang="en-US" sz="1900" b="1" dirty="0">
                <a:solidFill>
                  <a:srgbClr val="172C46"/>
                </a:solidFill>
                <a:latin typeface="Arial" pitchFamily="34" charset="0"/>
                <a:ea typeface="Arial" pitchFamily="34" charset="-122"/>
                <a:cs typeface="Arial" pitchFamily="34" charset="-120"/>
              </a:rPr>
              <a:t>Console ownership</a:t>
            </a:r>
            <a:endParaRPr lang="en-US" sz="1900" dirty="0"/>
          </a:p>
        </p:txBody>
      </p:sp>
      <p:sp>
        <p:nvSpPr>
          <p:cNvPr id="22" name="Text 20"/>
          <p:cNvSpPr/>
          <p:nvPr/>
        </p:nvSpPr>
        <p:spPr>
          <a:xfrm>
            <a:off x="640080" y="4937760"/>
            <a:ext cx="5120640" cy="292608"/>
          </a:xfrm>
          <a:prstGeom prst="rect">
            <a:avLst/>
          </a:prstGeom>
          <a:noFill/>
          <a:ln/>
        </p:spPr>
        <p:txBody>
          <a:bodyPr wrap="square" lIns="0" tIns="0" rIns="0" bIns="0" rtlCol="0" anchor="ctr"/>
          <a:lstStyle/>
          <a:p>
            <a:pPr indent="0" marL="0">
              <a:buNone/>
            </a:pPr>
            <a:r>
              <a:rPr lang="en-US" sz="1600" dirty="0">
                <a:solidFill>
                  <a:srgbClr val="5B6C83"/>
                </a:solidFill>
                <a:latin typeface="Arial" pitchFamily="34" charset="0"/>
                <a:ea typeface="Arial" pitchFamily="34" charset="-122"/>
                <a:cs typeface="Arial" pitchFamily="34" charset="-120"/>
              </a:rPr>
              <a:t>One browser owns CP/M while connected; USB is the fallback.</a:t>
            </a:r>
            <a:endParaRPr lang="en-US" sz="1600" dirty="0"/>
          </a:p>
        </p:txBody>
      </p:sp>
      <p:sp>
        <p:nvSpPr>
          <p:cNvPr id="23" name="Shape 21"/>
          <p:cNvSpPr/>
          <p:nvPr/>
        </p:nvSpPr>
        <p:spPr>
          <a:xfrm>
            <a:off x="6181344" y="4416552"/>
            <a:ext cx="5550408" cy="1005840"/>
          </a:xfrm>
          <a:prstGeom prst="roundRect">
            <a:avLst>
              <a:gd name="adj" fmla="val 12727"/>
            </a:avLst>
          </a:prstGeom>
          <a:solidFill>
            <a:srgbClr val="FFFFFF"/>
          </a:solidFill>
          <a:ln w="12700">
            <a:solidFill>
              <a:srgbClr val="D1DBE8"/>
            </a:solidFill>
            <a:prstDash val="solid"/>
          </a:ln>
        </p:spPr>
      </p:sp>
      <p:sp>
        <p:nvSpPr>
          <p:cNvPr id="24" name="Text 22"/>
          <p:cNvSpPr/>
          <p:nvPr/>
        </p:nvSpPr>
        <p:spPr>
          <a:xfrm>
            <a:off x="6382512" y="4553712"/>
            <a:ext cx="5148072" cy="274320"/>
          </a:xfrm>
          <a:prstGeom prst="rect">
            <a:avLst/>
          </a:prstGeom>
          <a:noFill/>
          <a:ln/>
        </p:spPr>
        <p:txBody>
          <a:bodyPr wrap="square" lIns="0" tIns="0" rIns="0" bIns="0" rtlCol="0" anchor="ctr"/>
          <a:lstStyle/>
          <a:p>
            <a:pPr indent="0" marL="0">
              <a:buNone/>
            </a:pPr>
            <a:r>
              <a:rPr lang="en-US" sz="1900" b="1" dirty="0">
                <a:solidFill>
                  <a:srgbClr val="172C46"/>
                </a:solidFill>
                <a:latin typeface="Arial" pitchFamily="34" charset="0"/>
                <a:ea typeface="Arial" pitchFamily="34" charset="-122"/>
                <a:cs typeface="Arial" pitchFamily="34" charset="-120"/>
              </a:rPr>
              <a:t>Persistent storage</a:t>
            </a:r>
            <a:endParaRPr lang="en-US" sz="1900" dirty="0"/>
          </a:p>
        </p:txBody>
      </p:sp>
      <p:sp>
        <p:nvSpPr>
          <p:cNvPr id="25" name="Text 23"/>
          <p:cNvSpPr/>
          <p:nvPr/>
        </p:nvSpPr>
        <p:spPr>
          <a:xfrm>
            <a:off x="6382512" y="4937760"/>
            <a:ext cx="5148072" cy="292608"/>
          </a:xfrm>
          <a:prstGeom prst="rect">
            <a:avLst/>
          </a:prstGeom>
          <a:noFill/>
          <a:ln/>
        </p:spPr>
        <p:txBody>
          <a:bodyPr wrap="square" lIns="0" tIns="0" rIns="0" bIns="0" rtlCol="0" anchor="ctr"/>
          <a:lstStyle/>
          <a:p>
            <a:pPr indent="0" marL="0">
              <a:buNone/>
            </a:pPr>
            <a:r>
              <a:rPr lang="en-US" sz="1600" dirty="0">
                <a:solidFill>
                  <a:srgbClr val="5B6C83"/>
                </a:solidFill>
                <a:latin typeface="Arial" pitchFamily="34" charset="0"/>
                <a:ea typeface="Arial" pitchFamily="34" charset="-122"/>
                <a:cs typeface="Arial" pitchFamily="34" charset="-120"/>
              </a:rPr>
              <a:t>Fast reads on core 0; queued writes / flash commits on core 1.</a:t>
            </a:r>
            <a:endParaRPr lang="en-US" sz="1600" dirty="0"/>
          </a:p>
        </p:txBody>
      </p:sp>
      <p:sp>
        <p:nvSpPr>
          <p:cNvPr id="26" name="Shape 24"/>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sp>
      <p:sp>
        <p:nvSpPr>
          <p:cNvPr id="27" name="Text 25"/>
          <p:cNvSpPr/>
          <p:nvPr/>
        </p:nvSpPr>
        <p:spPr>
          <a:xfrm>
            <a:off x="612648" y="5897880"/>
            <a:ext cx="10945368" cy="301752"/>
          </a:xfrm>
          <a:prstGeom prst="rect">
            <a:avLst/>
          </a:prstGeom>
          <a:noFill/>
          <a:ln/>
        </p:spPr>
        <p:txBody>
          <a:bodyPr wrap="square" lIns="0" tIns="0" rIns="0" bIns="0" rtlCol="0" anchor="ctr"/>
          <a:lstStyle/>
          <a:p>
            <a:pPr algn="ctr" indent="0" marL="0">
              <a:buNone/>
            </a:pPr>
            <a:r>
              <a:rPr lang="en-US" sz="1600" b="1" dirty="0">
                <a:solidFill>
                  <a:srgbClr val="245FC0"/>
                </a:solidFill>
                <a:latin typeface="Arial" pitchFamily="34" charset="0"/>
                <a:ea typeface="Arial" pitchFamily="34" charset="-122"/>
                <a:cs typeface="Arial" pitchFamily="34" charset="-120"/>
              </a:rPr>
              <a:t>Runtime flash programming pauses the Z80 through a bus-grant handshake; the Pico still never masters SRAM.</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sp>
      <p:sp>
        <p:nvSpPr>
          <p:cNvPr id="3" name="Text 1"/>
          <p:cNvSpPr/>
          <p:nvPr/>
        </p:nvSpPr>
        <p:spPr>
          <a:xfrm>
            <a:off x="411480" y="228600"/>
            <a:ext cx="10058400" cy="256032"/>
          </a:xfrm>
          <a:prstGeom prst="rect">
            <a:avLst/>
          </a:prstGeom>
          <a:noFill/>
          <a:ln/>
        </p:spPr>
        <p:txBody>
          <a:bodyPr wrap="square" lIns="0" tIns="0" rIns="0" bIns="0" rtlCol="0" anchor="ctr"/>
          <a:lstStyle/>
          <a:p>
            <a:pPr indent="0" marL="0">
              <a:buNone/>
            </a:pPr>
            <a:r>
              <a:rPr lang="en-US" sz="1100" b="1" spc="150" kern="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indent="0" marL="0">
              <a:buNone/>
            </a:pPr>
            <a:r>
              <a:rPr lang="en-US" sz="3300" b="1" dirty="0">
                <a:solidFill>
                  <a:srgbClr val="172C46"/>
                </a:solidFill>
                <a:latin typeface="Arial" pitchFamily="34" charset="0"/>
                <a:ea typeface="Arial" pitchFamily="34" charset="-122"/>
                <a:cs typeface="Arial" pitchFamily="34" charset="-120"/>
              </a:rPr>
              <a:t>The design in three ideas</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indent="0" marL="0">
              <a:buNone/>
            </a:pPr>
            <a:r>
              <a:rPr lang="en-US" sz="1800" dirty="0">
                <a:solidFill>
                  <a:srgbClr val="5B6C83"/>
                </a:solidFill>
                <a:latin typeface="Arial" pitchFamily="34" charset="0"/>
                <a:ea typeface="Arial" pitchFamily="34" charset="-122"/>
                <a:cs typeface="Arial" pitchFamily="34" charset="-120"/>
              </a:rPr>
              <a:t>A small hardware system with clear boundaries between execution, I/O and connectivity.</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indent="0" marL="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22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algn="r" indent="0" marL="0">
              <a:buNone/>
            </a:pPr>
            <a:r>
              <a:rPr lang="en-US" sz="1200" dirty="0">
                <a:solidFill>
                  <a:srgbClr val="5B6C83"/>
                </a:solidFill>
                <a:latin typeface="Arial" pitchFamily="34" charset="0"/>
                <a:ea typeface="Arial" pitchFamily="34" charset="-122"/>
                <a:cs typeface="Arial" pitchFamily="34" charset="-120"/>
              </a:rPr>
              <a:t>06</a:t>
            </a:r>
            <a:endParaRPr lang="en-US" sz="1200" dirty="0"/>
          </a:p>
        </p:txBody>
      </p:sp>
      <p:sp>
        <p:nvSpPr>
          <p:cNvPr id="8" name="Shape 6"/>
          <p:cNvSpPr/>
          <p:nvPr/>
        </p:nvSpPr>
        <p:spPr>
          <a:xfrm>
            <a:off x="438912" y="2194560"/>
            <a:ext cx="11292840" cy="932688"/>
          </a:xfrm>
          <a:prstGeom prst="roundRect">
            <a:avLst>
              <a:gd name="adj" fmla="val 13725"/>
            </a:avLst>
          </a:prstGeom>
          <a:solidFill>
            <a:srgbClr val="F0E9FA"/>
          </a:solidFill>
          <a:ln w="12700">
            <a:solidFill>
              <a:srgbClr val="F0E9FA"/>
            </a:solidFill>
            <a:prstDash val="solid"/>
          </a:ln>
        </p:spPr>
      </p:sp>
      <p:sp>
        <p:nvSpPr>
          <p:cNvPr id="9" name="Text 7"/>
          <p:cNvSpPr/>
          <p:nvPr/>
        </p:nvSpPr>
        <p:spPr>
          <a:xfrm>
            <a:off x="685800" y="2395728"/>
            <a:ext cx="640080" cy="438912"/>
          </a:xfrm>
          <a:prstGeom prst="rect">
            <a:avLst/>
          </a:prstGeom>
          <a:noFill/>
          <a:ln/>
        </p:spPr>
        <p:txBody>
          <a:bodyPr wrap="square" lIns="0" tIns="0" rIns="0" bIns="0" rtlCol="0" anchor="ctr"/>
          <a:lstStyle/>
          <a:p>
            <a:pPr indent="0" marL="0">
              <a:buNone/>
            </a:pPr>
            <a:r>
              <a:rPr lang="en-US" sz="2700" b="1" dirty="0">
                <a:solidFill>
                  <a:srgbClr val="7545AC"/>
                </a:solidFill>
                <a:latin typeface="Arial" pitchFamily="34" charset="0"/>
                <a:ea typeface="Arial" pitchFamily="34" charset="-122"/>
                <a:cs typeface="Arial" pitchFamily="34" charset="-120"/>
              </a:rPr>
              <a:t>01</a:t>
            </a:r>
            <a:endParaRPr lang="en-US" sz="2700" dirty="0"/>
          </a:p>
        </p:txBody>
      </p:sp>
      <p:sp>
        <p:nvSpPr>
          <p:cNvPr id="10" name="Text 8"/>
          <p:cNvSpPr/>
          <p:nvPr/>
        </p:nvSpPr>
        <p:spPr>
          <a:xfrm>
            <a:off x="1499616" y="2304288"/>
            <a:ext cx="9875520" cy="329184"/>
          </a:xfrm>
          <a:prstGeom prst="rect">
            <a:avLst/>
          </a:prstGeom>
          <a:noFill/>
          <a:ln/>
        </p:spPr>
        <p:txBody>
          <a:bodyPr wrap="square" lIns="0" tIns="0" rIns="0" bIns="0" rtlCol="0" anchor="ctr"/>
          <a:lstStyle/>
          <a:p>
            <a:pPr indent="0" marL="0">
              <a:buNone/>
            </a:pPr>
            <a:r>
              <a:rPr lang="en-US" sz="2200" b="1" dirty="0">
                <a:solidFill>
                  <a:srgbClr val="7545AC"/>
                </a:solidFill>
                <a:latin typeface="Arial" pitchFamily="34" charset="0"/>
                <a:ea typeface="Arial" pitchFamily="34" charset="-122"/>
                <a:cs typeface="Arial" pitchFamily="34" charset="-120"/>
              </a:rPr>
              <a:t>Real Z80 execution</a:t>
            </a:r>
            <a:endParaRPr lang="en-US" sz="2200" dirty="0"/>
          </a:p>
        </p:txBody>
      </p:sp>
      <p:sp>
        <p:nvSpPr>
          <p:cNvPr id="11" name="Text 9"/>
          <p:cNvSpPr/>
          <p:nvPr/>
        </p:nvSpPr>
        <p:spPr>
          <a:xfrm>
            <a:off x="1499616" y="2715768"/>
            <a:ext cx="9875520" cy="274320"/>
          </a:xfrm>
          <a:prstGeom prst="rect">
            <a:avLst/>
          </a:prstGeom>
          <a:noFill/>
          <a:ln/>
        </p:spPr>
        <p:txBody>
          <a:bodyPr wrap="square" lIns="0" tIns="0" rIns="0" bIns="0" rtlCol="0" anchor="ctr"/>
          <a:lstStyle/>
          <a:p>
            <a:pPr indent="0" marL="0">
              <a:buNone/>
            </a:pPr>
            <a:r>
              <a:rPr lang="en-US" sz="1800" dirty="0">
                <a:solidFill>
                  <a:srgbClr val="172C46"/>
                </a:solidFill>
                <a:latin typeface="Arial" pitchFamily="34" charset="0"/>
                <a:ea typeface="Arial" pitchFamily="34" charset="-122"/>
                <a:cs typeface="Arial" pitchFamily="34" charset="-120"/>
              </a:rPr>
              <a:t>CP/M and applications run on the Z80, directly from SRAM.</a:t>
            </a:r>
            <a:endParaRPr lang="en-US" sz="1800" dirty="0"/>
          </a:p>
        </p:txBody>
      </p:sp>
      <p:sp>
        <p:nvSpPr>
          <p:cNvPr id="12" name="Shape 10"/>
          <p:cNvSpPr/>
          <p:nvPr/>
        </p:nvSpPr>
        <p:spPr>
          <a:xfrm>
            <a:off x="438912" y="3319272"/>
            <a:ext cx="11292840" cy="932688"/>
          </a:xfrm>
          <a:prstGeom prst="roundRect">
            <a:avLst>
              <a:gd name="adj" fmla="val 13725"/>
            </a:avLst>
          </a:prstGeom>
          <a:solidFill>
            <a:srgbClr val="E8F0FF"/>
          </a:solidFill>
          <a:ln w="12700">
            <a:solidFill>
              <a:srgbClr val="E8F0FF"/>
            </a:solidFill>
            <a:prstDash val="solid"/>
          </a:ln>
        </p:spPr>
      </p:sp>
      <p:sp>
        <p:nvSpPr>
          <p:cNvPr id="13" name="Text 11"/>
          <p:cNvSpPr/>
          <p:nvPr/>
        </p:nvSpPr>
        <p:spPr>
          <a:xfrm>
            <a:off x="685800" y="3520440"/>
            <a:ext cx="640080" cy="438912"/>
          </a:xfrm>
          <a:prstGeom prst="rect">
            <a:avLst/>
          </a:prstGeom>
          <a:noFill/>
          <a:ln/>
        </p:spPr>
        <p:txBody>
          <a:bodyPr wrap="square" lIns="0" tIns="0" rIns="0" bIns="0" rtlCol="0" anchor="ctr"/>
          <a:lstStyle/>
          <a:p>
            <a:pPr indent="0" marL="0">
              <a:buNone/>
            </a:pPr>
            <a:r>
              <a:rPr lang="en-US" sz="2700" b="1" dirty="0">
                <a:solidFill>
                  <a:srgbClr val="245FC0"/>
                </a:solidFill>
                <a:latin typeface="Arial" pitchFamily="34" charset="0"/>
                <a:ea typeface="Arial" pitchFamily="34" charset="-122"/>
                <a:cs typeface="Arial" pitchFamily="34" charset="-120"/>
              </a:rPr>
              <a:t>02</a:t>
            </a:r>
            <a:endParaRPr lang="en-US" sz="2700" dirty="0"/>
          </a:p>
        </p:txBody>
      </p:sp>
      <p:sp>
        <p:nvSpPr>
          <p:cNvPr id="14" name="Text 12"/>
          <p:cNvSpPr/>
          <p:nvPr/>
        </p:nvSpPr>
        <p:spPr>
          <a:xfrm>
            <a:off x="1499616" y="3429000"/>
            <a:ext cx="9875520" cy="329184"/>
          </a:xfrm>
          <a:prstGeom prst="rect">
            <a:avLst/>
          </a:prstGeom>
          <a:noFill/>
          <a:ln/>
        </p:spPr>
        <p:txBody>
          <a:bodyPr wrap="square" lIns="0" tIns="0" rIns="0" bIns="0" rtlCol="0" anchor="ctr"/>
          <a:lstStyle/>
          <a:p>
            <a:pPr indent="0" marL="0">
              <a:buNone/>
            </a:pPr>
            <a:r>
              <a:rPr lang="en-US" sz="2200" b="1" dirty="0">
                <a:solidFill>
                  <a:srgbClr val="245FC0"/>
                </a:solidFill>
                <a:latin typeface="Arial" pitchFamily="34" charset="0"/>
                <a:ea typeface="Arial" pitchFamily="34" charset="-122"/>
                <a:cs typeface="Arial" pitchFamily="34" charset="-120"/>
              </a:rPr>
              <a:t>Pico as the multicore I/O controller</a:t>
            </a:r>
            <a:endParaRPr lang="en-US" sz="2200" dirty="0"/>
          </a:p>
        </p:txBody>
      </p:sp>
      <p:sp>
        <p:nvSpPr>
          <p:cNvPr id="15" name="Text 13"/>
          <p:cNvSpPr/>
          <p:nvPr/>
        </p:nvSpPr>
        <p:spPr>
          <a:xfrm>
            <a:off x="1499616" y="3840480"/>
            <a:ext cx="9875520" cy="274320"/>
          </a:xfrm>
          <a:prstGeom prst="rect">
            <a:avLst/>
          </a:prstGeom>
          <a:noFill/>
          <a:ln/>
        </p:spPr>
        <p:txBody>
          <a:bodyPr wrap="square" lIns="0" tIns="0" rIns="0" bIns="0" rtlCol="0" anchor="ctr"/>
          <a:lstStyle/>
          <a:p>
            <a:pPr indent="0" marL="0">
              <a:buNone/>
            </a:pPr>
            <a:r>
              <a:rPr lang="en-US" sz="1800" dirty="0">
                <a:solidFill>
                  <a:srgbClr val="172C46"/>
                </a:solidFill>
                <a:latin typeface="Arial" pitchFamily="34" charset="0"/>
                <a:ea typeface="Arial" pitchFamily="34" charset="-122"/>
                <a:cs typeface="Arial" pitchFamily="34" charset="-120"/>
              </a:rPr>
              <a:t>Core 0 handles the Z80; core 1 owns USB, storage and networking.</a:t>
            </a:r>
            <a:endParaRPr lang="en-US" sz="1800" dirty="0"/>
          </a:p>
        </p:txBody>
      </p:sp>
      <p:sp>
        <p:nvSpPr>
          <p:cNvPr id="16" name="Shape 14"/>
          <p:cNvSpPr/>
          <p:nvPr/>
        </p:nvSpPr>
        <p:spPr>
          <a:xfrm>
            <a:off x="438912" y="4443984"/>
            <a:ext cx="11292840" cy="932688"/>
          </a:xfrm>
          <a:prstGeom prst="roundRect">
            <a:avLst>
              <a:gd name="adj" fmla="val 13725"/>
            </a:avLst>
          </a:prstGeom>
          <a:solidFill>
            <a:srgbClr val="FFF0DB"/>
          </a:solidFill>
          <a:ln w="12700">
            <a:solidFill>
              <a:srgbClr val="FFF0DB"/>
            </a:solidFill>
            <a:prstDash val="solid"/>
          </a:ln>
        </p:spPr>
      </p:sp>
      <p:sp>
        <p:nvSpPr>
          <p:cNvPr id="17" name="Text 15"/>
          <p:cNvSpPr/>
          <p:nvPr/>
        </p:nvSpPr>
        <p:spPr>
          <a:xfrm>
            <a:off x="685800" y="4645152"/>
            <a:ext cx="640080" cy="438912"/>
          </a:xfrm>
          <a:prstGeom prst="rect">
            <a:avLst/>
          </a:prstGeom>
          <a:noFill/>
          <a:ln/>
        </p:spPr>
        <p:txBody>
          <a:bodyPr wrap="square" lIns="0" tIns="0" rIns="0" bIns="0" rtlCol="0" anchor="ctr"/>
          <a:lstStyle/>
          <a:p>
            <a:pPr indent="0" marL="0">
              <a:buNone/>
            </a:pPr>
            <a:r>
              <a:rPr lang="en-US" sz="2700" b="1" dirty="0">
                <a:solidFill>
                  <a:srgbClr val="BC6211"/>
                </a:solidFill>
                <a:latin typeface="Arial" pitchFamily="34" charset="0"/>
                <a:ea typeface="Arial" pitchFamily="34" charset="-122"/>
                <a:cs typeface="Arial" pitchFamily="34" charset="-120"/>
              </a:rPr>
              <a:t>03</a:t>
            </a:r>
            <a:endParaRPr lang="en-US" sz="2700" dirty="0"/>
          </a:p>
        </p:txBody>
      </p:sp>
      <p:sp>
        <p:nvSpPr>
          <p:cNvPr id="18" name="Text 16"/>
          <p:cNvSpPr/>
          <p:nvPr/>
        </p:nvSpPr>
        <p:spPr>
          <a:xfrm>
            <a:off x="1499616" y="4553712"/>
            <a:ext cx="9875520" cy="329184"/>
          </a:xfrm>
          <a:prstGeom prst="rect">
            <a:avLst/>
          </a:prstGeom>
          <a:noFill/>
          <a:ln/>
        </p:spPr>
        <p:txBody>
          <a:bodyPr wrap="square" lIns="0" tIns="0" rIns="0" bIns="0" rtlCol="0" anchor="ctr"/>
          <a:lstStyle/>
          <a:p>
            <a:pPr indent="0" marL="0">
              <a:buNone/>
            </a:pPr>
            <a:r>
              <a:rPr lang="en-US" sz="2200" b="1" dirty="0">
                <a:solidFill>
                  <a:srgbClr val="BC6211"/>
                </a:solidFill>
                <a:latin typeface="Arial" pitchFamily="34" charset="0"/>
                <a:ea typeface="Arial" pitchFamily="34" charset="-122"/>
                <a:cs typeface="Arial" pitchFamily="34" charset="-120"/>
              </a:rPr>
              <a:t>ROMless, self-loading memory</a:t>
            </a:r>
            <a:endParaRPr lang="en-US" sz="2200" dirty="0"/>
          </a:p>
        </p:txBody>
      </p:sp>
      <p:sp>
        <p:nvSpPr>
          <p:cNvPr id="19" name="Text 17"/>
          <p:cNvSpPr/>
          <p:nvPr/>
        </p:nvSpPr>
        <p:spPr>
          <a:xfrm>
            <a:off x="1499616" y="4965192"/>
            <a:ext cx="9875520" cy="274320"/>
          </a:xfrm>
          <a:prstGeom prst="rect">
            <a:avLst/>
          </a:prstGeom>
          <a:noFill/>
          <a:ln/>
        </p:spPr>
        <p:txBody>
          <a:bodyPr wrap="square" lIns="0" tIns="0" rIns="0" bIns="0" rtlCol="0" anchor="ctr"/>
          <a:lstStyle/>
          <a:p>
            <a:pPr indent="0" marL="0">
              <a:buNone/>
            </a:pPr>
            <a:r>
              <a:rPr lang="en-US" sz="1800" dirty="0">
                <a:solidFill>
                  <a:srgbClr val="172C46"/>
                </a:solidFill>
                <a:latin typeface="Arial" pitchFamily="34" charset="0"/>
                <a:ea typeface="Arial" pitchFamily="34" charset="-122"/>
                <a:cs typeface="Arial" pitchFamily="34" charset="-120"/>
              </a:rPr>
              <a:t>The Pico injects instructions, verifies SRAM, then supplies the 20 MHz clock.</a:t>
            </a:r>
            <a:endParaRPr lang="en-US" sz="1800" dirty="0"/>
          </a:p>
        </p:txBody>
      </p:sp>
      <p:sp>
        <p:nvSpPr>
          <p:cNvPr id="20" name="Text 18"/>
          <p:cNvSpPr/>
          <p:nvPr/>
        </p:nvSpPr>
        <p:spPr>
          <a:xfrm>
            <a:off x="548640" y="5815584"/>
            <a:ext cx="11064240" cy="384048"/>
          </a:xfrm>
          <a:prstGeom prst="rect">
            <a:avLst/>
          </a:prstGeom>
          <a:noFill/>
          <a:ln/>
        </p:spPr>
        <p:txBody>
          <a:bodyPr wrap="square" lIns="0" tIns="0" rIns="0" bIns="0" rtlCol="0" anchor="ctr"/>
          <a:lstStyle/>
          <a:p>
            <a:pPr algn="ctr" indent="0" marL="0">
              <a:buNone/>
            </a:pPr>
            <a:r>
              <a:rPr lang="en-US" sz="2200" b="1" dirty="0">
                <a:solidFill>
                  <a:srgbClr val="172C46"/>
                </a:solidFill>
                <a:latin typeface="Arial" pitchFamily="34" charset="0"/>
                <a:ea typeface="Arial" pitchFamily="34" charset="-122"/>
                <a:cs typeface="Arial" pitchFamily="34" charset="-120"/>
              </a:rPr>
              <a:t>No ROM chip. No Z80 emulation. No Pico memory-bus mastering.</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Z80ROMlessSBC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Z80 ROMless SBC | Design Overview</dc:title>
  <dc:subject>Implementation-based hardware and multicore software overview</dc:subject>
  <dc:creator>Z80ROMlessSBC</dc:creator>
  <cp:lastModifiedBy>Z80ROMlessSBC</cp:lastModifiedBy>
  <cp:revision>1</cp:revision>
  <dcterms:created xsi:type="dcterms:W3CDTF">2026-10-22T06:39:34Z</dcterms:created>
  <dcterms:modified xsi:type="dcterms:W3CDTF">2026-10-22T06:39:34Z</dcterms:modified>
</cp:coreProperties>
</file>